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2011680"/>
            <a:ext cx="11274552" cy="137160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148840"/>
            <a:ext cx="1069848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400" b="1" a:ea="Microsoft YaHei" a:cs="Microsoft YaHei">
                <a:solidFill>
                  <a:srgbClr val="1565C0"/>
                </a:solidFill>
                <a:latin typeface="Microsoft YaHei"/>
              </a:rPr>
              <a:t>非对称加密算法（RSA）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657600"/>
            <a:ext cx="1069848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🎯 本节课目标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69080"/>
            <a:ext cx="1033272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理解非对称加密的原理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了解公钥和私钥的关系</a:t>
            </a:r>
          </a:p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• 认识RSA算法的基本思想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126480"/>
            <a:ext cx="11274552" cy="54864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153912"/>
            <a:ext cx="1097280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800" b="1" a:ea="Microsoft YaHei" a:cs="Microsoft YaHei">
                <a:solidFill>
                  <a:srgbClr val="FFFFFF"/>
                </a:solidFill>
                <a:latin typeface="Microsoft YaHei"/>
              </a:rPr>
              <a:t>教师投影 · 学生只看屏（课堂无手机、无电脑）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🎯 这节课你要会这些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理解非对称加密的原理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246120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337560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了解公钥和私钥的关系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79"/>
            <a:ext cx="10698480" cy="91440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389119"/>
            <a:ext cx="1024128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212121"/>
                </a:solidFill>
                <a:latin typeface="Microsoft YaHei"/>
              </a:rPr>
              <a:t>✓  认识RSA算法的基本思想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44067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（能用自己的话说出来，就算学会了）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💡 先聊个生活里的例子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194560"/>
            <a:ext cx="10698480" cy="21945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8288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000"/>
              </a:spcAft>
            </a:pPr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上网存东西、传照片，真的安全吗？今天聊云世界里的"保镖"。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663440"/>
            <a:ext cx="10698480" cy="10972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E65100"/>
                </a:solidFill>
                <a:latin typeface="Microsoft YaHei"/>
              </a:rPr>
              <a:t>🎯公钥=信箱地址（谁都能投信）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94360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👇 带着这个例子，看下面的知识点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非对称加密原理：公钥加密、私钥解密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非对称加密原理：公钥加密、私钥解密（或私钥签名、公钥验证）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🎯公钥=信箱地址（谁都能投信）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公钥和私钥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公钥和私钥：公钥可以公开给所有人，私钥自己保管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🎯用"信箱"类比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800" b="1" a:ea="Microsoft YaHei" a:cs="Microsoft YaHei">
                <a:solidFill>
                  <a:srgbClr val="1565C0"/>
                </a:solidFill>
                <a:latin typeface="Microsoft YaHei"/>
              </a:rPr>
              <a:t>RSA算法：基于大数分解难题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73736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RSA算法：基于大数分解难题（两个大素数相乘容易，分解回两个素数极难）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206240"/>
            <a:ext cx="10698480" cy="137160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343400"/>
            <a:ext cx="10149840" cy="10972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E65100"/>
                </a:solidFill>
                <a:latin typeface="Microsoft YaHei"/>
              </a:rPr>
              <a:t>🎯公钥=信箱地址（谁都能投信）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76072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🧠 记住这一句就够了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🤔 想一想（举手或同桌讨论）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用自己的话，说说什么是「非对称加密原理」？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566160"/>
            <a:ext cx="10698480" cy="1188720"/>
          </a:xfrm>
          <a:prstGeom prst="roundRect">
            <a:avLst/>
          </a:prstGeom>
          <a:solidFill>
            <a:srgbClr val="E3F2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10149840" cy="1005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❓ 「非对称加密原理」和「公钥和私钥」有什么联系？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93776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（不用写，想清楚、能说出来就行）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E7D32"/>
                </a:solidFill>
                <a:latin typeface="Microsoft YaHei"/>
              </a:rPr>
              <a:t>🎬 看视频：小学生都懂的RSA加密算法 / 李永乐老师讲RSA加密算法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0584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1" a:ea="Microsoft YaHei" a:cs="Microsoft YaHei">
                <a:solidFill>
                  <a:srgbClr val="2E7D32"/>
                </a:solidFill>
                <a:latin typeface="Microsoft YaHei"/>
              </a:rPr>
              <a:t>📺 视频号：BV1gf4y1r75B / av26639065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200" b="1" a:ea="Microsoft YaHei" a:cs="Microsoft YaHei">
                <a:solidFill>
                  <a:srgbClr val="212121"/>
                </a:solidFill>
                <a:latin typeface="Microsoft YaHei"/>
              </a:rPr>
              <a:t>👀 看的时候注意：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840480"/>
            <a:ext cx="10698480" cy="10058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9319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200" b="0" a:ea="Microsoft YaHei" a:cs="Microsoft YaHei">
                <a:solidFill>
                  <a:srgbClr val="212121"/>
                </a:solidFill>
                <a:latin typeface="Microsoft YaHei"/>
              </a:rPr>
              <a:t>• 看视频时注意：非对称加密原理 是怎么被老师讲清楚的，记1个关键例子。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5029200"/>
            <a:ext cx="10698480" cy="100584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51206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000" b="1" a:ea="Microsoft YaHei" a:cs="Microsoft YaHei">
                <a:solidFill>
                  <a:srgbClr val="E65100"/>
                </a:solidFill>
                <a:latin typeface="Microsoft YaHei"/>
              </a:rPr>
              <a:t>💾 本地文件（U盘直播）：（在线播放，无本地文件，需联网）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17920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⚠️ 断网也能播本地文件；在线打不开就跳过，改纸上活动。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1565C0"/>
                </a:solidFill>
                <a:latin typeface="Microsoft YaHei"/>
              </a:rPr>
              <a:t>✏️ 课堂小活动（纸上完成）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154680"/>
            <a:ext cx="10698480" cy="2377440"/>
          </a:xfrm>
          <a:prstGeom prst="round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3337560"/>
            <a:ext cx="10149840" cy="2103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0" a:ea="Microsoft YaHei" a:cs="Microsoft YaHei">
                <a:solidFill>
                  <a:srgbClr val="212121"/>
                </a:solidFill>
                <a:latin typeface="Microsoft YaHei"/>
              </a:rPr>
              <a:t>纸面练习： ①画出非对称加密流程图（公钥加密→私钥解密）②对比表格：对称vs非对称（密钥数量、速度、安全性、适用场景）③简答题：为什么HTTPS要同时用两种加密？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669280"/>
            <a:ext cx="106984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📝 活动结果同桌互查，老师抽查3组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✅ 这节课记住这3句话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33172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1. 非对称加密原理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42900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520440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2. 公钥和私钥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617720"/>
            <a:ext cx="10698480" cy="1051560"/>
          </a:xfrm>
          <a:prstGeom prst="roundRect">
            <a:avLst/>
          </a:prstGeom>
          <a:solidFill>
            <a:srgbClr val="E8F5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709159"/>
            <a:ext cx="1014984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300" b="1" a:ea="Microsoft YaHei" a:cs="Microsoft YaHei">
                <a:solidFill>
                  <a:srgbClr val="2E7D32"/>
                </a:solidFill>
                <a:latin typeface="Microsoft YaHei"/>
              </a:rPr>
              <a:t>3. RSA算法：基于大数分解难题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852159"/>
            <a:ext cx="106984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606060"/>
                </a:solidFill>
                <a:latin typeface="Microsoft YaHei"/>
              </a:rPr>
              <a:t>🗣️ 合上书，能背出这3句 = 达标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565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09728"/>
            <a:ext cx="2926080" cy="86868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r>
              <a:rPr sz="3400" b="1" a:ea="Microsoft YaHei" a:cs="Microsoft YaHei">
                <a:solidFill>
                  <a:srgbClr val="FFFFFF"/>
                </a:solidFill>
                <a:latin typeface="Microsoft YaHei"/>
              </a:rPr>
              <a:t>课时 16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91840" y="109728"/>
            <a:ext cx="850392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r"/>
            <a:r>
              <a:rPr sz="2000" b="1" a:ea="Microsoft YaHei" a:cs="Microsoft YaHei">
                <a:solidFill>
                  <a:srgbClr val="FFFFFF"/>
                </a:solidFill>
                <a:latin typeface="Microsoft YaHei"/>
              </a:rPr>
              <a:t>第5章 · 云计算安全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34440"/>
            <a:ext cx="11247120" cy="8229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 a:ea="Microsoft YaHei" a:cs="Microsoft YaHei">
                <a:solidFill>
                  <a:srgbClr val="212121"/>
                </a:solidFill>
                <a:latin typeface="Microsoft YaHei"/>
              </a:rPr>
              <a:t>📒 课后小任务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240280"/>
            <a:ext cx="10698480" cy="2011680"/>
          </a:xfrm>
          <a:prstGeom prst="roundRect">
            <a:avLst/>
          </a:prstGeom>
          <a:solidFill>
            <a:srgbClr val="FFF8E1"/>
          </a:solidFill>
          <a:ln w="15875">
            <a:solidFill>
              <a:srgbClr val="E651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423160"/>
            <a:ext cx="10149840" cy="1645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2400" b="1" a:ea="Microsoft YaHei" a:cs="Microsoft YaHei">
                <a:solidFill>
                  <a:srgbClr val="E65100"/>
                </a:solidFill>
                <a:latin typeface="Microsoft YaHei"/>
              </a:rPr>
              <a:t>✍️ 画图说明"混合加密"的工作流程；用自己的话解释公钥和私钥的关系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48056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r>
              <a:rPr sz="2000" b="0" a:ea="Microsoft YaHei" a:cs="Microsoft YaHei">
                <a:solidFill>
                  <a:srgbClr val="212121"/>
                </a:solidFill>
                <a:latin typeface="Microsoft YaHei"/>
              </a:rPr>
              <a:t>📌 本课时对应教材：第5章 云计算安全</a:t>
            </a:r>
          </a:p>
          <a:p>
            <a:r>
              <a:rPr sz="1800" b="0" a:ea="Microsoft YaHei" a:cs="Microsoft YaHei">
                <a:solidFill>
                  <a:srgbClr val="606060"/>
                </a:solidFill>
                <a:latin typeface="Microsoft YaHei"/>
              </a:rPr>
              <a:t>🎬 本课时视频：小学生都懂的RSA加密算法 / 李永乐老师讲RSA加密算法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