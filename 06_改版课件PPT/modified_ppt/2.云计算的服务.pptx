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embeddings/Microsoft_Visio_Drawing.vsdx" ContentType="application/vnd.ms-visio.drawing"/>
  <Override PartName="/ppt/embeddings/Microsoft_Visio_Drawing1.vsdx" ContentType="application/vnd.ms-visio.drawing"/>
  <Override PartName="/ppt/embeddings/Microsoft_Visio_Drawing2.vsdx" ContentType="application/vnd.ms-visio.drawing"/>
  <Override PartName="/ppt/embeddings/Microsoft_Visio_Drawing3.vsdx" ContentType="application/vnd.ms-visio.drawin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99" r:id="rId2"/>
    <p:sldId id="256" r:id="rId3"/>
    <p:sldId id="257" r:id="rId4"/>
    <p:sldId id="258" r:id="rId5"/>
    <p:sldId id="259" r:id="rId6"/>
    <p:sldId id="300" r:id="rId7"/>
    <p:sldId id="301" r:id="rId8"/>
    <p:sldId id="302" r:id="rId9"/>
    <p:sldId id="303" r:id="rId10"/>
    <p:sldId id="304" r:id="rId11"/>
    <p:sldId id="305" r:id="rId12"/>
    <p:sldId id="306" r:id="rId13"/>
    <p:sldId id="307" r:id="rId14"/>
    <p:sldId id="263" r:id="rId15"/>
    <p:sldId id="308" r:id="rId16"/>
    <p:sldId id="309" r:id="rId17"/>
    <p:sldId id="310" r:id="rId18"/>
    <p:sldId id="311" r:id="rId19"/>
    <p:sldId id="312" r:id="rId20"/>
    <p:sldId id="262" r:id="rId21"/>
    <p:sldId id="313" r:id="rId22"/>
    <p:sldId id="314" r:id="rId23"/>
    <p:sldId id="315" r:id="rId24"/>
    <p:sldId id="316" r:id="rId25"/>
    <p:sldId id="317" r:id="rId26"/>
    <p:sldId id="318" r:id="rId27"/>
    <p:sldId id="319" r:id="rId28"/>
    <p:sldId id="320" r:id="rId29"/>
    <p:sldId id="321" r:id="rId30"/>
    <p:sldId id="322" r:id="rId31"/>
    <p:sldId id="323" r:id="rId32"/>
    <p:sldId id="324" r:id="rId33"/>
    <p:sldId id="325" r:id="rId34"/>
    <p:sldId id="326" r:id="rId35"/>
    <p:sldId id="327" r:id="rId36"/>
    <p:sldId id="328" r:id="rId37"/>
    <p:sldId id="329" r:id="rId38"/>
    <p:sldId id="330" r:id="rId39"/>
    <p:sldId id="268" r:id="rId40"/>
    <p:sldId id="267" r:id="rId41"/>
    <p:sldId id="331" r:id="rId42"/>
    <p:sldId id="332" r:id="rId43"/>
    <p:sldId id="333" r:id="rId44"/>
    <p:sldId id="334" r:id="rId45"/>
    <p:sldId id="295" r:id="rId46"/>
    <p:sldId id="296" r:id="rId47"/>
    <p:sldId id="297" r:id="rId48"/>
    <p:sldId id="298"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10/5/2020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package" Target="../embeddings/Microsoft_Visio_Drawing.vsdx"/><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2.xml"/><Relationship Id="rId3" Type="http://schemas.openxmlformats.org/officeDocument/2006/relationships/package" Target="../embeddings/Microsoft_Visio_Drawing1.vsdx"/><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package" Target="../embeddings/Microsoft_Visio_Drawing2.vsdx"/><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2.xml"/><Relationship Id="rId3" Type="http://schemas.openxmlformats.org/officeDocument/2006/relationships/package" Target="../embeddings/Microsoft_Visio_Drawing3.vsdx"/><Relationship Id="rId4" Type="http://schemas.openxmlformats.org/officeDocument/2006/relationships/image" Target="../media/image5.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03C91C-01B4-4274-9411-287B2C3F3BD8}"/>
              </a:ext>
            </a:extLst>
          </p:cNvPr>
          <p:cNvSpPr>
            <a:spLocks noGrp="1"/>
          </p:cNvSpPr>
          <p:nvPr>
            <p:ph type="title"/>
          </p:nvPr>
        </p:nvSpPr>
        <p:spPr/>
        <p:txBody>
          <a:bodyPr/>
          <a:lstStyle/>
          <a:p>
            <a:r>
              <a:rPr lang="zh-CN" altLang="en-US" dirty="0"/>
              <a:t>回顾</a:t>
            </a:r>
          </a:p>
        </p:txBody>
      </p:sp>
      <p:sp>
        <p:nvSpPr>
          <p:cNvPr id="3" name="内容占位符 2">
            <a:extLst>
              <a:ext uri="{FF2B5EF4-FFF2-40B4-BE49-F238E27FC236}">
                <a16:creationId xmlns:a16="http://schemas.microsoft.com/office/drawing/2014/main" id="{8CC976CF-5624-40FF-9EF6-23206D5AAAA4}"/>
              </a:ext>
            </a:extLst>
          </p:cNvPr>
          <p:cNvSpPr>
            <a:spLocks noGrp="1"/>
          </p:cNvSpPr>
          <p:nvPr>
            <p:ph idx="1"/>
          </p:nvPr>
        </p:nvSpPr>
        <p:spPr/>
        <p:txBody>
          <a:bodyPr>
            <a:normAutofit/>
          </a:bodyPr>
          <a:lstStyle/>
          <a:p>
            <a:r>
              <a:rPr lang="en-US" altLang="zh-CN" sz="3200" dirty="0">
                <a:solidFill>
                  <a:srgbClr val="00B050"/>
                </a:solidFill>
                <a:latin typeface="Bahnschrift SemiBold" panose="020B0502040204020203" pitchFamily="34" charset="0"/>
                <a:cs typeface="Aharoni" panose="020B0604020202020204" pitchFamily="2" charset="-79"/>
              </a:rPr>
              <a:t>01 </a:t>
            </a:r>
            <a:r>
              <a:rPr lang="zh-CN" altLang="en-US" sz="3200" dirty="0">
                <a:solidFill>
                  <a:srgbClr val="00B050"/>
                </a:solidFill>
                <a:latin typeface="Bahnschrift SemiBold" panose="020B0502040204020203" pitchFamily="34" charset="0"/>
                <a:cs typeface="Aharoni" panose="020B0604020202020204" pitchFamily="2" charset="-79"/>
              </a:rPr>
              <a:t>云计算的概念</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02 </a:t>
            </a:r>
            <a:r>
              <a:rPr lang="zh-CN" altLang="en-US" sz="3200" dirty="0">
                <a:solidFill>
                  <a:srgbClr val="00B050"/>
                </a:solidFill>
                <a:latin typeface="Bahnschrift SemiBold" panose="020B0502040204020203" pitchFamily="34" charset="0"/>
                <a:cs typeface="Aharoni" panose="020B0604020202020204" pitchFamily="2" charset="-79"/>
              </a:rPr>
              <a:t>云计算的内涵</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03 </a:t>
            </a:r>
            <a:r>
              <a:rPr lang="zh-CN" altLang="en-US" sz="3200" dirty="0">
                <a:solidFill>
                  <a:srgbClr val="00B050"/>
                </a:solidFill>
                <a:latin typeface="Bahnschrift SemiBold" panose="020B0502040204020203" pitchFamily="34" charset="0"/>
                <a:cs typeface="Aharoni" panose="020B0604020202020204" pitchFamily="2" charset="-79"/>
              </a:rPr>
              <a:t>其他计算</a:t>
            </a:r>
            <a:endParaRPr lang="en-US" altLang="zh-CN" sz="3200" dirty="0">
              <a:solidFill>
                <a:srgbClr val="00B050"/>
              </a:solidFill>
              <a:latin typeface="Bahnschrift SemiBold" panose="020B0502040204020203" pitchFamily="34" charset="0"/>
              <a:cs typeface="Aharoni" panose="020B0604020202020204" pitchFamily="2" charset="-79"/>
            </a:endParaRP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上节课学的NIST 3-5-4框架中的“3”指的是什么？你能说出几个？</a:t>
            </a:r>
          </a:p>
        </p:txBody>
      </p:sp>
    </p:spTree>
    <p:extLst>
      <p:ext uri="{BB962C8B-B14F-4D97-AF65-F5344CB8AC3E}">
        <p14:creationId xmlns:p14="http://schemas.microsoft.com/office/powerpoint/2010/main" val="30999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C702D-7084-45F9-9146-56E4AC7B66EC}"/>
              </a:ext>
            </a:extLst>
          </p:cNvPr>
          <p:cNvSpPr>
            <a:spLocks noGrp="1"/>
          </p:cNvSpPr>
          <p:nvPr>
            <p:ph type="ctrTitle"/>
          </p:nvPr>
        </p:nvSpPr>
        <p:spPr/>
        <p:txBody>
          <a:bodyPr/>
          <a:lstStyle/>
          <a:p>
            <a:r>
              <a:rPr lang="zh-CN" altLang="en-US" dirty="0"/>
              <a:t>云计算的服务</a:t>
            </a:r>
          </a:p>
        </p:txBody>
      </p:sp>
      <p:sp>
        <p:nvSpPr>
          <p:cNvPr id="3" name="副标题 2">
            <a:extLst>
              <a:ext uri="{FF2B5EF4-FFF2-40B4-BE49-F238E27FC236}">
                <a16:creationId xmlns:a16="http://schemas.microsoft.com/office/drawing/2014/main" id="{CF151BEC-9B77-4994-9B79-C5EEE165587B}"/>
              </a:ext>
            </a:extLst>
          </p:cNvPr>
          <p:cNvSpPr>
            <a:spLocks noGrp="1"/>
          </p:cNvSpPr>
          <p:nvPr>
            <p:ph type="subTitle" idx="1"/>
          </p:nvPr>
        </p:nvSpPr>
        <p:spPr/>
        <p:txBody>
          <a:bodyPr/>
          <a:lstStyle/>
          <a:p>
            <a:r>
              <a:rPr lang="zh-CN" altLang="en-US" dirty="0"/>
              <a:t>第二章</a:t>
            </a: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你用过的软件，哪些是“装在电脑上”的，哪些是“在网页上直接用”的？</a:t>
            </a:r>
          </a:p>
        </p:txBody>
      </p:sp>
    </p:spTree>
    <p:extLst>
      <p:ext uri="{BB962C8B-B14F-4D97-AF65-F5344CB8AC3E}">
        <p14:creationId xmlns:p14="http://schemas.microsoft.com/office/powerpoint/2010/main" val="3043588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03C91C-01B4-4274-9411-287B2C3F3BD8}"/>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8CC976CF-5624-40FF-9EF6-23206D5AAAA4}"/>
              </a:ext>
            </a:extLst>
          </p:cNvPr>
          <p:cNvSpPr>
            <a:spLocks noGrp="1"/>
          </p:cNvSpPr>
          <p:nvPr>
            <p:ph idx="1"/>
          </p:nvPr>
        </p:nvSpPr>
        <p:spPr/>
        <p:txBody>
          <a:bodyPr>
            <a:normAutofit/>
          </a:bodyPr>
          <a:lstStyle/>
          <a:p>
            <a:r>
              <a:rPr lang="en-US" altLang="zh-CN" sz="3200" dirty="0">
                <a:solidFill>
                  <a:srgbClr val="00B050"/>
                </a:solidFill>
                <a:latin typeface="Bahnschrift SemiBold" panose="020B0502040204020203" pitchFamily="34" charset="0"/>
                <a:cs typeface="Aharoni" panose="020B0604020202020204" pitchFamily="2" charset="-79"/>
              </a:rPr>
              <a:t>01 </a:t>
            </a:r>
            <a:r>
              <a:rPr lang="zh-CN" altLang="en-US" sz="3200" dirty="0">
                <a:solidFill>
                  <a:srgbClr val="00B050"/>
                </a:solidFill>
                <a:latin typeface="Bahnschrift SemiBold" panose="020B0502040204020203" pitchFamily="34" charset="0"/>
                <a:cs typeface="Aharoni" panose="020B0604020202020204" pitchFamily="2" charset="-79"/>
              </a:rPr>
              <a:t>云计算的服务</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02 </a:t>
            </a:r>
            <a:r>
              <a:rPr lang="zh-CN" altLang="en-US" sz="3200" dirty="0">
                <a:solidFill>
                  <a:srgbClr val="00B050"/>
                </a:solidFill>
                <a:latin typeface="Bahnschrift SemiBold" panose="020B0502040204020203" pitchFamily="34" charset="0"/>
                <a:cs typeface="Aharoni" panose="020B0604020202020204" pitchFamily="2" charset="-79"/>
              </a:rPr>
              <a:t>三种服务模式</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03 </a:t>
            </a:r>
            <a:r>
              <a:rPr lang="zh-CN" altLang="en-US" sz="3200" dirty="0">
                <a:solidFill>
                  <a:srgbClr val="00B050"/>
                </a:solidFill>
                <a:latin typeface="Bahnschrift SemiBold" panose="020B0502040204020203" pitchFamily="34" charset="0"/>
                <a:cs typeface="Aharoni" panose="020B0604020202020204" pitchFamily="2" charset="-79"/>
              </a:rPr>
              <a:t>云计算服务模式例</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04 </a:t>
            </a:r>
            <a:r>
              <a:rPr lang="zh-CN" altLang="en-US" sz="3200" dirty="0">
                <a:solidFill>
                  <a:srgbClr val="00B050"/>
                </a:solidFill>
                <a:latin typeface="Bahnschrift SemiBold" panose="020B0502040204020203" pitchFamily="34" charset="0"/>
                <a:cs typeface="Aharoni" panose="020B0604020202020204" pitchFamily="2" charset="-79"/>
              </a:rPr>
              <a:t>实战项目</a:t>
            </a:r>
            <a:r>
              <a:rPr lang="en-US" altLang="zh-CN" sz="3200" dirty="0">
                <a:solidFill>
                  <a:srgbClr val="00B050"/>
                </a:solidFill>
                <a:latin typeface="Bahnschrift SemiBold" panose="020B0502040204020203" pitchFamily="34" charset="0"/>
                <a:cs typeface="Aharoni" panose="020B0604020202020204" pitchFamily="2" charset="-79"/>
              </a:rPr>
              <a:t>—</a:t>
            </a:r>
            <a:r>
              <a:rPr lang="en-US" altLang="zh-CN" sz="3200" dirty="0" err="1">
                <a:solidFill>
                  <a:srgbClr val="00B050"/>
                </a:solidFill>
                <a:latin typeface="Bahnschrift SemiBold" panose="020B0502040204020203" pitchFamily="34" charset="0"/>
                <a:cs typeface="Aharoni" panose="020B0604020202020204" pitchFamily="2" charset="-79"/>
              </a:rPr>
              <a:t>github</a:t>
            </a:r>
            <a:r>
              <a:rPr lang="zh-CN" altLang="en-US" sz="3200" dirty="0">
                <a:solidFill>
                  <a:srgbClr val="00B050"/>
                </a:solidFill>
                <a:latin typeface="Bahnschrift SemiBold" panose="020B0502040204020203" pitchFamily="34" charset="0"/>
                <a:cs typeface="Aharoni" panose="020B0604020202020204" pitchFamily="2" charset="-79"/>
              </a:rPr>
              <a:t>云端代码仓库</a:t>
            </a: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SaaS、PaaS、IaaS有什么区别？带着这个问题看本章目录。</a:t>
            </a:r>
          </a:p>
        </p:txBody>
      </p:sp>
    </p:spTree>
    <p:extLst>
      <p:ext uri="{BB962C8B-B14F-4D97-AF65-F5344CB8AC3E}">
        <p14:creationId xmlns:p14="http://schemas.microsoft.com/office/powerpoint/2010/main" val="3696824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2142150"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1.</a:t>
            </a:r>
            <a:r>
              <a:rPr lang="zh-CN" altLang="en-US" sz="7200" dirty="0">
                <a:latin typeface="华文琥珀" panose="02010800040101010101" pitchFamily="2" charset="-122"/>
                <a:ea typeface="华文琥珀" panose="02010800040101010101" pitchFamily="2" charset="-122"/>
              </a:rPr>
              <a:t>云计算的服务</a:t>
            </a:r>
          </a:p>
        </p:txBody>
      </p:sp>
    </p:spTree>
    <p:extLst>
      <p:ext uri="{BB962C8B-B14F-4D97-AF65-F5344CB8AC3E}">
        <p14:creationId xmlns:p14="http://schemas.microsoft.com/office/powerpoint/2010/main" val="390411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3308054"/>
          </a:xfrm>
        </p:spPr>
        <p:txBody>
          <a:bodyPr>
            <a:normAutofit/>
          </a:bodyPr>
          <a:lstStyle/>
          <a:p>
            <a:r>
              <a:rPr lang="zh-CN" altLang="en-US" sz="2800" dirty="0"/>
              <a:t>云计算是一种服务，它将大量用网络连接的计算资源统一管理和调度，构成一个计算资源池向用户提供按需服务。</a:t>
            </a:r>
            <a:endParaRPr lang="en-US" altLang="zh-CN" sz="2800" dirty="0"/>
          </a:p>
          <a:p>
            <a:endParaRPr lang="en-US" altLang="zh-CN" sz="2800" dirty="0"/>
          </a:p>
          <a:p>
            <a:r>
              <a:rPr lang="zh-CN" altLang="en-US" sz="2800" dirty="0"/>
              <a:t>用户通过网络以按需、易扩展的方式获得所需的资源和服务。</a:t>
            </a:r>
            <a:endParaRPr lang="zh-CN" altLang="zh-CN" sz="2800" dirty="0"/>
          </a:p>
        </p:txBody>
      </p:sp>
    </p:spTree>
    <p:extLst>
      <p:ext uri="{BB962C8B-B14F-4D97-AF65-F5344CB8AC3E}">
        <p14:creationId xmlns:p14="http://schemas.microsoft.com/office/powerpoint/2010/main" val="212837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4107044"/>
          </a:xfrm>
        </p:spPr>
        <p:txBody>
          <a:bodyPr>
            <a:normAutofit/>
          </a:bodyPr>
          <a:lstStyle/>
          <a:p>
            <a:r>
              <a:rPr lang="zh-CN" altLang="en-US" sz="2800" dirty="0"/>
              <a:t>云计算服务提供商是云计算服务的提供者，它以软件即服务、平台即服务、基础设施即服务的模式将云计算资源组织起来，提供给用户。</a:t>
            </a:r>
            <a:endParaRPr lang="en-US" altLang="zh-CN" sz="2800" dirty="0"/>
          </a:p>
          <a:p>
            <a:endParaRPr lang="en-US" altLang="zh-CN" sz="2800" dirty="0"/>
          </a:p>
          <a:p>
            <a:r>
              <a:rPr lang="zh-CN" altLang="en-US" sz="2800" dirty="0"/>
              <a:t>云计算服务的用户可以是大型企业、政府、事业单位、科研单位，也可以是中小型企业，甚至是个人。云计算服务提供商把云计算以多种模式进行组织，以服务的形式像水和电一样提供给用户使用。</a:t>
            </a:r>
            <a:endParaRPr lang="zh-CN" altLang="zh-CN" sz="2800" dirty="0"/>
          </a:p>
        </p:txBody>
      </p:sp>
    </p:spTree>
    <p:extLst>
      <p:ext uri="{BB962C8B-B14F-4D97-AF65-F5344CB8AC3E}">
        <p14:creationId xmlns:p14="http://schemas.microsoft.com/office/powerpoint/2010/main" val="2586373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3308054"/>
          </a:xfrm>
        </p:spPr>
        <p:txBody>
          <a:bodyPr>
            <a:normAutofit/>
          </a:bodyPr>
          <a:lstStyle/>
          <a:p>
            <a:endParaRPr lang="zh-CN" altLang="zh-CN" sz="2800" dirty="0"/>
          </a:p>
        </p:txBody>
      </p:sp>
      <p:pic>
        <p:nvPicPr>
          <p:cNvPr id="4" name="图片 3" descr="D:\doing\工作\云计算技术概论课程开发\教材开发\教材\图片素材\绘图1.jpg">
            <a:extLst>
              <a:ext uri="{FF2B5EF4-FFF2-40B4-BE49-F238E27FC236}">
                <a16:creationId xmlns:a16="http://schemas.microsoft.com/office/drawing/2014/main" id="{724F066C-974D-4326-952B-984B3AEDF2D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296792" y="417250"/>
            <a:ext cx="4696288" cy="6027938"/>
          </a:xfrm>
          <a:prstGeom prst="rect">
            <a:avLst/>
          </a:prstGeom>
          <a:noFill/>
          <a:ln>
            <a:noFill/>
          </a:ln>
        </p:spPr>
      </p:pic>
    </p:spTree>
    <p:extLst>
      <p:ext uri="{BB962C8B-B14F-4D97-AF65-F5344CB8AC3E}">
        <p14:creationId xmlns:p14="http://schemas.microsoft.com/office/powerpoint/2010/main" val="1427707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3308054"/>
          </a:xfrm>
        </p:spPr>
        <p:txBody>
          <a:bodyPr>
            <a:normAutofit/>
          </a:bodyPr>
          <a:lstStyle/>
          <a:p>
            <a:r>
              <a:rPr lang="zh-CN" altLang="en-US" sz="2800" dirty="0"/>
              <a:t>以中小型企业为例，云计算服务提供商可以为它们搭建信息化所需要的所有网络基础设施及软件、硬件运作平台，并负责所有前期的实施、后期的维护等一系列服务。</a:t>
            </a:r>
            <a:endParaRPr lang="zh-CN" altLang="zh-CN" sz="2800" dirty="0"/>
          </a:p>
        </p:txBody>
      </p:sp>
    </p:spTree>
    <p:extLst>
      <p:ext uri="{BB962C8B-B14F-4D97-AF65-F5344CB8AC3E}">
        <p14:creationId xmlns:p14="http://schemas.microsoft.com/office/powerpoint/2010/main" val="2820986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4479906"/>
          </a:xfrm>
        </p:spPr>
        <p:txBody>
          <a:bodyPr>
            <a:normAutofit/>
          </a:bodyPr>
          <a:lstStyle/>
          <a:p>
            <a:r>
              <a:rPr lang="zh-CN" altLang="en-US" sz="2800" b="1" dirty="0"/>
              <a:t>（</a:t>
            </a:r>
            <a:r>
              <a:rPr lang="en-US" altLang="zh-CN" sz="2800" b="1" dirty="0"/>
              <a:t>1</a:t>
            </a:r>
            <a:r>
              <a:rPr lang="zh-CN" altLang="en-US" sz="2800" b="1" dirty="0"/>
              <a:t>）从技术方面来看：</a:t>
            </a:r>
            <a:endParaRPr lang="en-US" altLang="zh-CN" sz="2800" b="1" dirty="0"/>
          </a:p>
          <a:p>
            <a:endParaRPr lang="en-US" altLang="zh-CN" sz="2800" dirty="0"/>
          </a:p>
          <a:p>
            <a:r>
              <a:rPr lang="zh-CN" altLang="en-US" sz="2400" dirty="0"/>
              <a:t>企业采用云计算服务模式在效果上与企业自建信息系统基本没有区别，企业无须再配备互联网方面的专业技术人员，同时又能得到最新的技术实现，满足企业对信息管理的需求。</a:t>
            </a:r>
            <a:endParaRPr lang="en-US" altLang="zh-CN" sz="2400" dirty="0"/>
          </a:p>
          <a:p>
            <a:endParaRPr lang="en-US" altLang="zh-CN" sz="2400" dirty="0"/>
          </a:p>
          <a:p>
            <a:r>
              <a:rPr lang="zh-CN" altLang="en-US" sz="2400" dirty="0"/>
              <a:t>云计算服务提供商通过有效的技术措施，可以保证每家企业数据的安全性和保密性。</a:t>
            </a:r>
            <a:endParaRPr lang="zh-CN" altLang="zh-CN" sz="2400" dirty="0"/>
          </a:p>
        </p:txBody>
      </p:sp>
    </p:spTree>
    <p:extLst>
      <p:ext uri="{BB962C8B-B14F-4D97-AF65-F5344CB8AC3E}">
        <p14:creationId xmlns:p14="http://schemas.microsoft.com/office/powerpoint/2010/main" val="2400949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1930400"/>
            <a:ext cx="8596668" cy="4408886"/>
          </a:xfrm>
        </p:spPr>
        <p:txBody>
          <a:bodyPr>
            <a:normAutofit/>
          </a:bodyPr>
          <a:lstStyle/>
          <a:p>
            <a:r>
              <a:rPr lang="zh-CN" altLang="en-US" sz="2800" b="1" dirty="0"/>
              <a:t>（</a:t>
            </a:r>
            <a:r>
              <a:rPr lang="en-US" altLang="zh-CN" sz="2800" b="1" dirty="0"/>
              <a:t>2</a:t>
            </a:r>
            <a:r>
              <a:rPr lang="zh-CN" altLang="en-US" sz="2800" b="1" dirty="0"/>
              <a:t>）从投资方面来看：</a:t>
            </a:r>
            <a:endParaRPr lang="en-US" altLang="zh-CN" sz="2800" b="1" dirty="0"/>
          </a:p>
          <a:p>
            <a:endParaRPr lang="en-US" altLang="zh-CN" sz="2800" dirty="0"/>
          </a:p>
          <a:p>
            <a:r>
              <a:rPr lang="zh-CN" altLang="en-US" sz="2400" dirty="0"/>
              <a:t>企业不用一次性投资到位，不占用过多的营运资金，只以相对低廉的租金进行投资，即可通过互联网享用信息系统。企业无须购买软硬件、建设机房、招聘互联网技术人员，只需前期支付一次性的项目实施费和定期的软件租赁服务费，节省了大量用于购买互联网产品、技术和维护运行的资金。</a:t>
            </a:r>
            <a:endParaRPr lang="en-US" altLang="zh-CN" sz="2400" dirty="0"/>
          </a:p>
          <a:p>
            <a:endParaRPr lang="en-US" altLang="zh-CN" sz="2400" dirty="0"/>
          </a:p>
          <a:p>
            <a:r>
              <a:rPr lang="zh-CN" altLang="en-US" sz="2400" dirty="0"/>
              <a:t>企业从而缓解了资金不足的压力，不用考虑成本折旧问题，并能及时获得最新硬件平台及最佳解决方案。</a:t>
            </a:r>
            <a:endParaRPr lang="zh-CN" altLang="zh-CN" sz="2400" dirty="0"/>
          </a:p>
        </p:txBody>
      </p:sp>
    </p:spTree>
    <p:extLst>
      <p:ext uri="{BB962C8B-B14F-4D97-AF65-F5344CB8AC3E}">
        <p14:creationId xmlns:p14="http://schemas.microsoft.com/office/powerpoint/2010/main" val="2909080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4204699"/>
          </a:xfrm>
        </p:spPr>
        <p:txBody>
          <a:bodyPr>
            <a:normAutofit/>
          </a:bodyPr>
          <a:lstStyle/>
          <a:p>
            <a:r>
              <a:rPr lang="zh-CN" altLang="en-US" sz="2800" b="1" dirty="0"/>
              <a:t>（</a:t>
            </a:r>
            <a:r>
              <a:rPr lang="en-US" altLang="zh-CN" sz="2800" b="1" dirty="0"/>
              <a:t>3</a:t>
            </a:r>
            <a:r>
              <a:rPr lang="zh-CN" altLang="en-US" sz="2800" b="1" dirty="0"/>
              <a:t>）从维护和管理方面来看：</a:t>
            </a:r>
            <a:endParaRPr lang="en-US" altLang="zh-CN" sz="2800" b="1" dirty="0"/>
          </a:p>
          <a:p>
            <a:endParaRPr lang="en-US" altLang="zh-CN" sz="2800" b="1" dirty="0"/>
          </a:p>
          <a:p>
            <a:r>
              <a:rPr lang="zh-CN" altLang="en-US" sz="2400" dirty="0"/>
              <a:t>由于企业采取租用服务的方式来进行物流业务管理，不需要专门的维护和管理人员，也不需要为维护和管理人员支付额外费用。</a:t>
            </a:r>
            <a:endParaRPr lang="en-US" altLang="zh-CN" sz="2400" dirty="0"/>
          </a:p>
          <a:p>
            <a:r>
              <a:rPr lang="zh-CN" altLang="en-US" sz="2400" dirty="0"/>
              <a:t>很大程度上缓解企业在人力、财力上的压力，使其能够集中资金对核心业务进行有效的运营。</a:t>
            </a:r>
            <a:endParaRPr lang="en-US" altLang="zh-CN" sz="2400" dirty="0"/>
          </a:p>
          <a:p>
            <a:r>
              <a:rPr lang="zh-CN" altLang="en-US" sz="2400" dirty="0"/>
              <a:t>并且，企业可以像使用水电一样，方便地利用信息化系统，从而大幅度降低了中小企业信息化的门槛与风险。</a:t>
            </a:r>
            <a:endParaRPr lang="zh-CN" altLang="zh-CN" sz="2400" dirty="0"/>
          </a:p>
        </p:txBody>
      </p:sp>
    </p:spTree>
    <p:extLst>
      <p:ext uri="{BB962C8B-B14F-4D97-AF65-F5344CB8AC3E}">
        <p14:creationId xmlns:p14="http://schemas.microsoft.com/office/powerpoint/2010/main" val="581863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3308054"/>
          </a:xfrm>
        </p:spPr>
        <p:txBody>
          <a:bodyPr>
            <a:normAutofit/>
          </a:bodyPr>
          <a:lstStyle/>
          <a:p>
            <a:r>
              <a:rPr lang="zh-CN" altLang="en-US" sz="2400" dirty="0"/>
              <a:t>从以上的例子可以看出，云计算服务提供商可以为用户提供网络软件、开发平台、甚至基础设施的服务。</a:t>
            </a:r>
            <a:endParaRPr lang="en-US" altLang="zh-CN" sz="2400" dirty="0"/>
          </a:p>
          <a:p>
            <a:endParaRPr lang="en-US" altLang="zh-CN" sz="2400" dirty="0"/>
          </a:p>
          <a:p>
            <a:r>
              <a:rPr lang="zh-CN" altLang="en-US" sz="2400" dirty="0"/>
              <a:t>根据现在最常用，也是较权威的标准，美国国家标准技术研究院 （</a:t>
            </a:r>
            <a:r>
              <a:rPr lang="en-US" altLang="zh-CN" sz="2400" dirty="0"/>
              <a:t>National Institute of Standards and Technology</a:t>
            </a:r>
            <a:r>
              <a:rPr lang="zh-CN" altLang="en-US" sz="2400" dirty="0"/>
              <a:t>，</a:t>
            </a:r>
            <a:r>
              <a:rPr lang="en-US" altLang="zh-CN" sz="2400" dirty="0"/>
              <a:t>NIST</a:t>
            </a:r>
            <a:r>
              <a:rPr lang="zh-CN" altLang="en-US" sz="2400" dirty="0"/>
              <a:t>）的定义，从用户体验的角度，云计算主要分为三种服务模式。</a:t>
            </a:r>
            <a:endParaRPr lang="zh-CN" altLang="zh-CN" sz="2400" dirty="0"/>
          </a:p>
        </p:txBody>
      </p:sp>
    </p:spTree>
    <p:extLst>
      <p:ext uri="{BB962C8B-B14F-4D97-AF65-F5344CB8AC3E}">
        <p14:creationId xmlns:p14="http://schemas.microsoft.com/office/powerpoint/2010/main" val="1517791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云计算的服务</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4975668" y="1836188"/>
            <a:ext cx="4622635" cy="3308054"/>
          </a:xfrm>
        </p:spPr>
        <p:txBody>
          <a:bodyPr>
            <a:normAutofit/>
          </a:bodyPr>
          <a:lstStyle/>
          <a:p>
            <a:r>
              <a:rPr lang="zh-CN" altLang="zh-CN" dirty="0"/>
              <a:t>（</a:t>
            </a:r>
            <a:r>
              <a:rPr lang="en-US" altLang="zh-CN" dirty="0"/>
              <a:t>1</a:t>
            </a:r>
            <a:r>
              <a:rPr lang="zh-CN" altLang="zh-CN" dirty="0"/>
              <a:t>）</a:t>
            </a:r>
            <a:r>
              <a:rPr lang="en-US" altLang="zh-CN" dirty="0"/>
              <a:t>Software as a Service</a:t>
            </a:r>
            <a:r>
              <a:rPr lang="zh-CN" altLang="zh-CN" dirty="0"/>
              <a:t>，软件即服务，简称</a:t>
            </a:r>
            <a:r>
              <a:rPr lang="en-US" altLang="zh-CN" dirty="0"/>
              <a:t>SaaS</a:t>
            </a:r>
            <a:r>
              <a:rPr lang="zh-CN" altLang="zh-CN" dirty="0"/>
              <a:t>，这层的作用是将应用作为服务提供给用户。</a:t>
            </a:r>
          </a:p>
          <a:p>
            <a:r>
              <a:rPr lang="zh-CN" altLang="zh-CN" dirty="0"/>
              <a:t>（</a:t>
            </a:r>
            <a:r>
              <a:rPr lang="en-US" altLang="zh-CN" dirty="0"/>
              <a:t>2</a:t>
            </a:r>
            <a:r>
              <a:rPr lang="zh-CN" altLang="zh-CN" dirty="0"/>
              <a:t>）</a:t>
            </a:r>
            <a:r>
              <a:rPr lang="en-US" altLang="zh-CN" dirty="0"/>
              <a:t>Platform as a Service</a:t>
            </a:r>
            <a:r>
              <a:rPr lang="zh-CN" altLang="zh-CN" dirty="0"/>
              <a:t>，平台即服务，简称</a:t>
            </a:r>
            <a:r>
              <a:rPr lang="en-US" altLang="zh-CN" dirty="0"/>
              <a:t>PaaS</a:t>
            </a:r>
            <a:r>
              <a:rPr lang="zh-CN" altLang="zh-CN" dirty="0"/>
              <a:t>，这层的作用是将一个开发平台作为服务提供给用户。</a:t>
            </a:r>
          </a:p>
          <a:p>
            <a:r>
              <a:rPr lang="zh-CN" altLang="zh-CN" dirty="0"/>
              <a:t>（</a:t>
            </a:r>
            <a:r>
              <a:rPr lang="en-US" altLang="zh-CN" dirty="0"/>
              <a:t>3</a:t>
            </a:r>
            <a:r>
              <a:rPr lang="zh-CN" altLang="zh-CN" dirty="0"/>
              <a:t>）</a:t>
            </a:r>
            <a:r>
              <a:rPr lang="en-US" altLang="zh-CN" dirty="0"/>
              <a:t>Infrastructure as a Service</a:t>
            </a:r>
            <a:r>
              <a:rPr lang="zh-CN" altLang="zh-CN" dirty="0"/>
              <a:t>，基础设施即服务，简称</a:t>
            </a:r>
            <a:r>
              <a:rPr lang="en-US" altLang="zh-CN" dirty="0"/>
              <a:t>IaaS</a:t>
            </a:r>
            <a:r>
              <a:rPr lang="zh-CN" altLang="zh-CN" dirty="0"/>
              <a:t>，这层的作用是提供虚拟机或者其他资源作为服务提供给用户。</a:t>
            </a:r>
            <a:endParaRPr lang="zh-CN" altLang="zh-CN" sz="2800" dirty="0"/>
          </a:p>
        </p:txBody>
      </p:sp>
      <p:sp>
        <p:nvSpPr>
          <p:cNvPr id="6" name="Rectangle 4">
            <a:extLst>
              <a:ext uri="{FF2B5EF4-FFF2-40B4-BE49-F238E27FC236}">
                <a16:creationId xmlns:a16="http://schemas.microsoft.com/office/drawing/2014/main" id="{F6EFDB8D-E2D9-4C44-B765-7103E6525CA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CE720028-04D0-4AF6-A123-7BD0F24A7A39}"/>
              </a:ext>
            </a:extLst>
          </p:cNvPr>
          <p:cNvGraphicFramePr>
            <a:graphicFrameLocks noChangeAspect="1"/>
          </p:cNvGraphicFramePr>
          <p:nvPr>
            <p:extLst>
              <p:ext uri="{D42A27DB-BD31-4B8C-83A1-F6EECF244321}">
                <p14:modId xmlns:p14="http://schemas.microsoft.com/office/powerpoint/2010/main" val="3731239947"/>
              </p:ext>
            </p:extLst>
          </p:nvPr>
        </p:nvGraphicFramePr>
        <p:xfrm>
          <a:off x="254697" y="1767681"/>
          <a:ext cx="4022725" cy="3322638"/>
        </p:xfrm>
        <a:graphic>
          <a:graphicData uri="http://schemas.openxmlformats.org/presentationml/2006/ole">
            <mc:AlternateContent xmlns:mc="http://schemas.openxmlformats.org/markup-compatibility/2006">
              <mc:Choice xmlns:v="urn:schemas-microsoft-com:vml" Requires="v">
                <p:oleObj spid="_x0000_s1075" name="Visio" r:id="rId3" imgW="7581938" imgH="6267616" progId="Visio.Drawing.15">
                  <p:embed/>
                </p:oleObj>
              </mc:Choice>
              <mc:Fallback>
                <p:oleObj name="Visio" r:id="rId3" imgW="7581938" imgH="6267616" progId="Visio.Drawing.1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697" y="1767681"/>
                        <a:ext cx="4022725" cy="3322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41436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2142150"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2.</a:t>
            </a:r>
            <a:r>
              <a:rPr lang="zh-CN" altLang="en-US" sz="7200" dirty="0">
                <a:latin typeface="华文琥珀" panose="02010800040101010101" pitchFamily="2" charset="-122"/>
                <a:ea typeface="华文琥珀" panose="02010800040101010101" pitchFamily="2" charset="-122"/>
              </a:rPr>
              <a:t>三种服务模式</a:t>
            </a:r>
          </a:p>
        </p:txBody>
      </p:sp>
    </p:spTree>
    <p:extLst>
      <p:ext uri="{BB962C8B-B14F-4D97-AF65-F5344CB8AC3E}">
        <p14:creationId xmlns:p14="http://schemas.microsoft.com/office/powerpoint/2010/main" val="1208245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软件即服务</a:t>
            </a:r>
            <a:r>
              <a:rPr lang="en-US" altLang="zh-CN" dirty="0"/>
              <a:t>SaaS</a:t>
            </a:r>
            <a:endParaRPr lang="zh-CN" altLang="en-US" dirty="0"/>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1"/>
            <a:ext cx="8596668" cy="3308054"/>
          </a:xfrm>
        </p:spPr>
        <p:txBody>
          <a:bodyPr>
            <a:normAutofit/>
          </a:bodyPr>
          <a:lstStyle/>
          <a:p>
            <a:r>
              <a:rPr lang="zh-CN" altLang="en-US" sz="2800" dirty="0"/>
              <a:t>软件即服务（</a:t>
            </a:r>
            <a:r>
              <a:rPr lang="en-US" altLang="zh-CN" sz="2800" dirty="0"/>
              <a:t>Software as a Service</a:t>
            </a:r>
            <a:r>
              <a:rPr lang="zh-CN" altLang="en-US" sz="2800" dirty="0"/>
              <a:t>，</a:t>
            </a:r>
            <a:r>
              <a:rPr lang="en-US" altLang="zh-CN" sz="2800" dirty="0"/>
              <a:t>SaaS</a:t>
            </a:r>
            <a:r>
              <a:rPr lang="zh-CN" altLang="en-US" sz="2800" dirty="0"/>
              <a:t>）是云计算的一种服务模式，即把软件作为一种服务提供的商业模式，</a:t>
            </a:r>
            <a:r>
              <a:rPr lang="en-US" altLang="zh-CN" sz="2800" dirty="0"/>
              <a:t>SaaS</a:t>
            </a:r>
            <a:r>
              <a:rPr lang="zh-CN" altLang="en-US" sz="2800" dirty="0"/>
              <a:t>诞生于互联网，随着云计算的发展而快速发展。</a:t>
            </a:r>
            <a:endParaRPr lang="zh-CN" altLang="zh-CN" sz="2800" dirty="0"/>
          </a:p>
        </p:txBody>
      </p:sp>
    </p:spTree>
    <p:extLst>
      <p:ext uri="{BB962C8B-B14F-4D97-AF65-F5344CB8AC3E}">
        <p14:creationId xmlns:p14="http://schemas.microsoft.com/office/powerpoint/2010/main" val="981087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软件即服务</a:t>
            </a:r>
            <a:r>
              <a:rPr lang="en-US" altLang="zh-CN" dirty="0"/>
              <a:t>SaaS</a:t>
            </a:r>
            <a:endParaRPr lang="zh-CN" altLang="en-US" dirty="0"/>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1930400"/>
            <a:ext cx="8596668" cy="4453273"/>
          </a:xfrm>
        </p:spPr>
        <p:txBody>
          <a:bodyPr>
            <a:normAutofit/>
          </a:bodyPr>
          <a:lstStyle/>
          <a:p>
            <a:r>
              <a:rPr lang="zh-CN" altLang="en-US" sz="2400" dirty="0"/>
              <a:t>云计算服务提供商将应用软件统一部署在自己的服务器上，用户可以根据自己实际需求，通过互联网向服务提供商定购所需的应用软件服务，按定购的服务多少和时间长短向服务提供商支付费用，并通过互联网获得厂商提供的服务，用户不能管理应用软件运行的基础设施和平台，只能做有限的应用程序设置。</a:t>
            </a:r>
            <a:endParaRPr lang="en-US" altLang="zh-CN" sz="2400" dirty="0"/>
          </a:p>
          <a:p>
            <a:r>
              <a:rPr lang="zh-CN" altLang="en-US" sz="2400" dirty="0"/>
              <a:t>用户不用再购买软件，而改用向提供商租用基于</a:t>
            </a:r>
            <a:r>
              <a:rPr lang="en-US" altLang="zh-CN" sz="2400" dirty="0"/>
              <a:t>Web</a:t>
            </a:r>
            <a:r>
              <a:rPr lang="zh-CN" altLang="en-US" sz="2400" dirty="0"/>
              <a:t>的软件，来管理企业经营活动，且无须对软件进行维护，服务提供商会全权管理和维护软件，服务提供商在向用户提供互联网应用的同时，也提供软件的离线操作和本地数据存储，让用户随时随地都可以使用其定购的软件和服务。</a:t>
            </a:r>
            <a:endParaRPr lang="zh-CN" altLang="zh-CN" sz="2400" dirty="0"/>
          </a:p>
        </p:txBody>
      </p:sp>
    </p:spTree>
    <p:extLst>
      <p:ext uri="{BB962C8B-B14F-4D97-AF65-F5344CB8AC3E}">
        <p14:creationId xmlns:p14="http://schemas.microsoft.com/office/powerpoint/2010/main" val="1310283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软件即服务</a:t>
            </a:r>
            <a:r>
              <a:rPr lang="en-US" altLang="zh-CN" dirty="0"/>
              <a:t>SaaS</a:t>
            </a:r>
            <a:endParaRPr lang="zh-CN" altLang="en-US" dirty="0"/>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1619547"/>
            <a:ext cx="8596668" cy="3308054"/>
          </a:xfrm>
        </p:spPr>
        <p:txBody>
          <a:bodyPr>
            <a:normAutofit/>
          </a:bodyPr>
          <a:lstStyle/>
          <a:p>
            <a:r>
              <a:rPr lang="en-US" altLang="zh-CN" dirty="0"/>
              <a:t>SaaS</a:t>
            </a:r>
            <a:r>
              <a:rPr lang="zh-CN" altLang="zh-CN" dirty="0"/>
              <a:t>产品主要有以下几个功能</a:t>
            </a:r>
            <a:r>
              <a:rPr lang="zh-CN" altLang="en-US" dirty="0"/>
              <a:t>：</a:t>
            </a:r>
            <a:endParaRPr lang="zh-CN" altLang="zh-CN" sz="2800" dirty="0"/>
          </a:p>
        </p:txBody>
      </p:sp>
      <p:sp>
        <p:nvSpPr>
          <p:cNvPr id="4" name="Rectangle 2">
            <a:extLst>
              <a:ext uri="{FF2B5EF4-FFF2-40B4-BE49-F238E27FC236}">
                <a16:creationId xmlns:a16="http://schemas.microsoft.com/office/drawing/2014/main" id="{85CE20B9-A28C-4CB4-B318-CDF9A73ABF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09DB17DE-A998-449B-BBA7-343E55114BF6}"/>
              </a:ext>
            </a:extLst>
          </p:cNvPr>
          <p:cNvGraphicFramePr>
            <a:graphicFrameLocks noChangeAspect="1"/>
          </p:cNvGraphicFramePr>
          <p:nvPr>
            <p:extLst>
              <p:ext uri="{D42A27DB-BD31-4B8C-83A1-F6EECF244321}">
                <p14:modId xmlns:p14="http://schemas.microsoft.com/office/powerpoint/2010/main" val="1298260519"/>
              </p:ext>
            </p:extLst>
          </p:nvPr>
        </p:nvGraphicFramePr>
        <p:xfrm>
          <a:off x="3364637" y="2286000"/>
          <a:ext cx="4610100" cy="3962400"/>
        </p:xfrm>
        <a:graphic>
          <a:graphicData uri="http://schemas.openxmlformats.org/presentationml/2006/ole">
            <mc:AlternateContent xmlns:mc="http://schemas.openxmlformats.org/markup-compatibility/2006">
              <mc:Choice xmlns:v="urn:schemas-microsoft-com:vml" Requires="v">
                <p:oleObj spid="_x0000_s2095" name="Visio" r:id="rId3" imgW="7058103" imgH="6076784" progId="Visio.Drawing.15">
                  <p:embed/>
                </p:oleObj>
              </mc:Choice>
              <mc:Fallback>
                <p:oleObj name="Visio" r:id="rId3" imgW="7058103" imgH="607678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4637" y="2286000"/>
                        <a:ext cx="4610100" cy="396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74236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软件即服务</a:t>
            </a:r>
            <a:r>
              <a:rPr lang="en-US" altLang="zh-CN" dirty="0"/>
              <a:t>SaaS</a:t>
            </a:r>
            <a:endParaRPr lang="zh-CN" altLang="en-US" dirty="0"/>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348860" y="2041864"/>
            <a:ext cx="9239023" cy="4492101"/>
          </a:xfrm>
        </p:spPr>
        <p:txBody>
          <a:bodyPr>
            <a:normAutofit/>
          </a:bodyPr>
          <a:lstStyle/>
          <a:p>
            <a:r>
              <a:rPr lang="zh-CN" altLang="zh-CN" dirty="0"/>
              <a:t>（</a:t>
            </a:r>
            <a:r>
              <a:rPr lang="en-US" altLang="zh-CN" dirty="0"/>
              <a:t>1</a:t>
            </a:r>
            <a:r>
              <a:rPr lang="zh-CN" altLang="zh-CN" dirty="0"/>
              <a:t>）随时随地访问：在任何时候或者任何地点，只要接上网络，用户就能访问</a:t>
            </a:r>
            <a:r>
              <a:rPr lang="en-US" altLang="zh-CN" dirty="0"/>
              <a:t>SaaS</a:t>
            </a:r>
            <a:r>
              <a:rPr lang="zh-CN" altLang="zh-CN" dirty="0"/>
              <a:t>产品。</a:t>
            </a:r>
            <a:endParaRPr lang="en-US" altLang="zh-CN" dirty="0"/>
          </a:p>
          <a:p>
            <a:endParaRPr lang="zh-CN" altLang="zh-CN" dirty="0"/>
          </a:p>
          <a:p>
            <a:r>
              <a:rPr lang="zh-CN" altLang="zh-CN" dirty="0"/>
              <a:t>（</a:t>
            </a:r>
            <a:r>
              <a:rPr lang="en-US" altLang="zh-CN" dirty="0"/>
              <a:t>2</a:t>
            </a:r>
            <a:r>
              <a:rPr lang="zh-CN" altLang="zh-CN" dirty="0"/>
              <a:t>）支持公开协议：</a:t>
            </a:r>
            <a:r>
              <a:rPr lang="en-US" altLang="zh-CN" dirty="0"/>
              <a:t>SaaS</a:t>
            </a:r>
            <a:r>
              <a:rPr lang="zh-CN" altLang="zh-CN" dirty="0"/>
              <a:t>产品通过支持公开协议（如</a:t>
            </a:r>
            <a:r>
              <a:rPr lang="en-US" altLang="zh-CN" dirty="0"/>
              <a:t>HTML4/5</a:t>
            </a:r>
            <a:r>
              <a:rPr lang="zh-CN" altLang="zh-CN" dirty="0"/>
              <a:t>等协议），能够方便用户使用。</a:t>
            </a:r>
            <a:endParaRPr lang="en-US" altLang="zh-CN" dirty="0"/>
          </a:p>
          <a:p>
            <a:endParaRPr lang="zh-CN" altLang="zh-CN" dirty="0"/>
          </a:p>
          <a:p>
            <a:r>
              <a:rPr lang="zh-CN" altLang="zh-CN" dirty="0"/>
              <a:t>（</a:t>
            </a:r>
            <a:r>
              <a:rPr lang="en-US" altLang="zh-CN" dirty="0"/>
              <a:t>3</a:t>
            </a:r>
            <a:r>
              <a:rPr lang="zh-CN" altLang="zh-CN" dirty="0"/>
              <a:t>）安全保障：</a:t>
            </a:r>
            <a:r>
              <a:rPr lang="en-US" altLang="zh-CN" dirty="0"/>
              <a:t>SaaS</a:t>
            </a:r>
            <a:r>
              <a:rPr lang="zh-CN" altLang="zh-CN" dirty="0"/>
              <a:t>产品需要提供一定的安全机制，不仅要使存储在云端的用户数据处于绝对安全的境地，而且也要在用户端实施一定的安全机制</a:t>
            </a:r>
            <a:r>
              <a:rPr lang="en-US" altLang="zh-CN" dirty="0"/>
              <a:t>(</a:t>
            </a:r>
            <a:r>
              <a:rPr lang="zh-CN" altLang="zh-CN" dirty="0"/>
              <a:t>例如</a:t>
            </a:r>
            <a:r>
              <a:rPr lang="en-US" altLang="zh-CN" dirty="0"/>
              <a:t>HTTPS</a:t>
            </a:r>
            <a:r>
              <a:rPr lang="zh-CN" altLang="zh-CN" dirty="0"/>
              <a:t>协议</a:t>
            </a:r>
            <a:r>
              <a:rPr lang="en-US" altLang="zh-CN" dirty="0"/>
              <a:t>)</a:t>
            </a:r>
            <a:r>
              <a:rPr lang="zh-CN" altLang="zh-CN" dirty="0"/>
              <a:t>来保护用户。</a:t>
            </a:r>
            <a:endParaRPr lang="en-US" altLang="zh-CN" dirty="0"/>
          </a:p>
          <a:p>
            <a:endParaRPr lang="zh-CN" altLang="zh-CN" dirty="0"/>
          </a:p>
          <a:p>
            <a:r>
              <a:rPr lang="zh-CN" altLang="zh-CN" dirty="0"/>
              <a:t>（</a:t>
            </a:r>
            <a:r>
              <a:rPr lang="en-US" altLang="zh-CN" dirty="0"/>
              <a:t>4</a:t>
            </a:r>
            <a:r>
              <a:rPr lang="zh-CN" altLang="zh-CN" dirty="0"/>
              <a:t>）多住户机制：</a:t>
            </a:r>
            <a:r>
              <a:rPr lang="en-US" altLang="zh-CN" dirty="0"/>
              <a:t>SaaS</a:t>
            </a:r>
            <a:r>
              <a:rPr lang="zh-CN" altLang="zh-CN" dirty="0"/>
              <a:t>产品通过多住户机制，不仅能更经济地支撑庞大的用户规模，而且能提供一定的可定制性以满足用户的特殊需求。</a:t>
            </a:r>
            <a:endParaRPr lang="zh-CN" altLang="zh-CN" sz="2800" dirty="0"/>
          </a:p>
        </p:txBody>
      </p:sp>
    </p:spTree>
    <p:extLst>
      <p:ext uri="{BB962C8B-B14F-4D97-AF65-F5344CB8AC3E}">
        <p14:creationId xmlns:p14="http://schemas.microsoft.com/office/powerpoint/2010/main" val="1884863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软件即服务</a:t>
            </a:r>
            <a:r>
              <a:rPr lang="en-US" altLang="zh-CN" dirty="0"/>
              <a:t>SaaS</a:t>
            </a:r>
            <a:endParaRPr lang="zh-CN" altLang="en-US" dirty="0"/>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2311510"/>
            <a:ext cx="8596668" cy="3609895"/>
          </a:xfrm>
        </p:spPr>
        <p:txBody>
          <a:bodyPr>
            <a:normAutofit/>
          </a:bodyPr>
          <a:lstStyle/>
          <a:p>
            <a:r>
              <a:rPr lang="zh-CN" altLang="en-US" dirty="0"/>
              <a:t>（</a:t>
            </a:r>
            <a:r>
              <a:rPr lang="en-US" altLang="zh-CN" dirty="0"/>
              <a:t>5</a:t>
            </a:r>
            <a:r>
              <a:rPr lang="zh-CN" altLang="en-US" dirty="0"/>
              <a:t>）优化服务的收费方式：用户可以按需要选择不同种类的收费方式，从而有效降低用户的运营成本。</a:t>
            </a:r>
            <a:endParaRPr lang="en-US" altLang="zh-CN" dirty="0"/>
          </a:p>
          <a:p>
            <a:endParaRPr lang="zh-CN" altLang="en-US" dirty="0"/>
          </a:p>
          <a:p>
            <a:r>
              <a:rPr lang="zh-CN" altLang="en-US" dirty="0"/>
              <a:t>（</a:t>
            </a:r>
            <a:r>
              <a:rPr lang="en-US" altLang="zh-CN" dirty="0"/>
              <a:t>6</a:t>
            </a:r>
            <a:r>
              <a:rPr lang="zh-CN" altLang="en-US" dirty="0"/>
              <a:t>）灵活选择：用户可以灵活选择</a:t>
            </a:r>
            <a:r>
              <a:rPr lang="en-US" altLang="zh-CN" dirty="0"/>
              <a:t>SaaS</a:t>
            </a:r>
            <a:r>
              <a:rPr lang="zh-CN" altLang="en-US" dirty="0"/>
              <a:t>产品的模块、备份、维护、安全、升级等功能，按需定购，选择更加自由。</a:t>
            </a:r>
            <a:endParaRPr lang="en-US" altLang="zh-CN" dirty="0"/>
          </a:p>
          <a:p>
            <a:endParaRPr lang="zh-CN" altLang="en-US" dirty="0"/>
          </a:p>
          <a:p>
            <a:r>
              <a:rPr lang="zh-CN" altLang="en-US" dirty="0"/>
              <a:t>（</a:t>
            </a:r>
            <a:r>
              <a:rPr lang="en-US" altLang="zh-CN" dirty="0"/>
              <a:t>7</a:t>
            </a:r>
            <a:r>
              <a:rPr lang="zh-CN" altLang="en-US" dirty="0"/>
              <a:t>）面向用户：</a:t>
            </a:r>
            <a:r>
              <a:rPr lang="en-US" altLang="zh-CN" dirty="0"/>
              <a:t>SaaS</a:t>
            </a:r>
            <a:r>
              <a:rPr lang="zh-CN" altLang="en-US" dirty="0"/>
              <a:t>产品为用户提供面对面使用指导，用户不需要额外增加专业的互联网技术人员，让用户可以更专注核心业务。</a:t>
            </a:r>
            <a:endParaRPr lang="en-US" altLang="zh-CN" dirty="0"/>
          </a:p>
          <a:p>
            <a:endParaRPr lang="zh-CN" altLang="en-US" dirty="0"/>
          </a:p>
          <a:p>
            <a:r>
              <a:rPr lang="zh-CN" altLang="en-US" dirty="0"/>
              <a:t>（</a:t>
            </a:r>
            <a:r>
              <a:rPr lang="en-US" altLang="zh-CN" dirty="0"/>
              <a:t>8</a:t>
            </a:r>
            <a:r>
              <a:rPr lang="zh-CN" altLang="en-US" dirty="0"/>
              <a:t>）产品优化：</a:t>
            </a:r>
            <a:r>
              <a:rPr lang="en-US" altLang="zh-CN" dirty="0"/>
              <a:t>SaaS</a:t>
            </a:r>
            <a:r>
              <a:rPr lang="zh-CN" altLang="en-US" dirty="0"/>
              <a:t>产品可以灵活启用和暂停，产品更新速度加快。</a:t>
            </a:r>
          </a:p>
          <a:p>
            <a:endParaRPr lang="zh-CN" altLang="zh-CN" sz="2800" dirty="0"/>
          </a:p>
        </p:txBody>
      </p:sp>
    </p:spTree>
    <p:extLst>
      <p:ext uri="{BB962C8B-B14F-4D97-AF65-F5344CB8AC3E}">
        <p14:creationId xmlns:p14="http://schemas.microsoft.com/office/powerpoint/2010/main" val="4082832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739478" y="2879681"/>
            <a:ext cx="8596668" cy="3880773"/>
          </a:xfrm>
        </p:spPr>
        <p:txBody>
          <a:bodyPr>
            <a:normAutofit/>
          </a:bodyPr>
          <a:lstStyle/>
          <a:p>
            <a:r>
              <a:rPr lang="zh-CN" altLang="en-US" sz="2400" dirty="0"/>
              <a:t>平台即服务（</a:t>
            </a:r>
            <a:r>
              <a:rPr lang="en-US" altLang="zh-CN" sz="2400" dirty="0"/>
              <a:t>Platform as a Service</a:t>
            </a:r>
            <a:r>
              <a:rPr lang="zh-CN" altLang="en-US" sz="2400" dirty="0"/>
              <a:t>，</a:t>
            </a:r>
            <a:r>
              <a:rPr lang="en-US" altLang="zh-CN" sz="2400" dirty="0"/>
              <a:t>PaaS</a:t>
            </a:r>
            <a:r>
              <a:rPr lang="zh-CN" altLang="en-US" sz="2400" dirty="0"/>
              <a:t>）是云计算的一种服务模式，即把平台作为一种服务提供的商业模式。</a:t>
            </a:r>
          </a:p>
        </p:txBody>
      </p:sp>
    </p:spTree>
    <p:extLst>
      <p:ext uri="{BB962C8B-B14F-4D97-AF65-F5344CB8AC3E}">
        <p14:creationId xmlns:p14="http://schemas.microsoft.com/office/powerpoint/2010/main" val="2552207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1731146"/>
            <a:ext cx="8596668" cy="4749553"/>
          </a:xfrm>
        </p:spPr>
        <p:txBody>
          <a:bodyPr>
            <a:normAutofit/>
          </a:bodyPr>
          <a:lstStyle/>
          <a:p>
            <a:r>
              <a:rPr lang="zh-CN" altLang="en-US" dirty="0"/>
              <a:t>云计算服务提供商提供的</a:t>
            </a:r>
            <a:r>
              <a:rPr lang="en-US" altLang="zh-CN" dirty="0"/>
              <a:t>PaaS</a:t>
            </a:r>
            <a:r>
              <a:rPr lang="zh-CN" altLang="en-US" dirty="0"/>
              <a:t>服务模式是将开发环境、服务器平台、硬件资源等服务提供给用户，用户在平台的基础上定制开发自己的应用程序并通过其服务器和互联网传递给其他用户。</a:t>
            </a:r>
            <a:endParaRPr lang="en-US" altLang="zh-CN" dirty="0"/>
          </a:p>
          <a:p>
            <a:endParaRPr lang="en-US" altLang="zh-CN" dirty="0"/>
          </a:p>
          <a:p>
            <a:r>
              <a:rPr lang="en-US" altLang="zh-CN" dirty="0"/>
              <a:t>PaaS</a:t>
            </a:r>
            <a:r>
              <a:rPr lang="zh-CN" altLang="en-US" dirty="0"/>
              <a:t>和</a:t>
            </a:r>
            <a:r>
              <a:rPr lang="en-US" altLang="zh-CN" dirty="0"/>
              <a:t>SaaS</a:t>
            </a:r>
            <a:r>
              <a:rPr lang="zh-CN" altLang="en-US" dirty="0"/>
              <a:t>服务模式的区别在于</a:t>
            </a:r>
            <a:r>
              <a:rPr lang="en-US" altLang="zh-CN" dirty="0"/>
              <a:t>SaaS</a:t>
            </a:r>
            <a:r>
              <a:rPr lang="zh-CN" altLang="en-US" dirty="0"/>
              <a:t>的用户不能管理应用软件运行的基础设施和平台，只能做有限的应用程序设置。</a:t>
            </a:r>
            <a:endParaRPr lang="en-US" altLang="zh-CN" dirty="0"/>
          </a:p>
          <a:p>
            <a:endParaRPr lang="en-US" altLang="zh-CN" dirty="0"/>
          </a:p>
          <a:p>
            <a:r>
              <a:rPr lang="en-US" altLang="zh-CN" dirty="0"/>
              <a:t>PaaS</a:t>
            </a:r>
            <a:r>
              <a:rPr lang="zh-CN" altLang="en-US" dirty="0"/>
              <a:t>服务模式将软件研发的平台作为一种服务放在网上，加快了</a:t>
            </a:r>
            <a:r>
              <a:rPr lang="en-US" altLang="zh-CN" dirty="0"/>
              <a:t>SaaS</a:t>
            </a:r>
            <a:r>
              <a:rPr lang="zh-CN" altLang="en-US" dirty="0"/>
              <a:t>产品的开发。</a:t>
            </a:r>
            <a:endParaRPr lang="en-US" altLang="zh-CN" dirty="0"/>
          </a:p>
          <a:p>
            <a:endParaRPr lang="en-US" altLang="zh-CN" dirty="0"/>
          </a:p>
          <a:p>
            <a:r>
              <a:rPr lang="en-US" altLang="zh-CN" dirty="0"/>
              <a:t>PaaS</a:t>
            </a:r>
            <a:r>
              <a:rPr lang="zh-CN" altLang="en-US" dirty="0"/>
              <a:t>服务模式可以提供的平台包括操作系统、编程语言环境、数据库和</a:t>
            </a:r>
            <a:r>
              <a:rPr lang="en-US" altLang="zh-CN" dirty="0"/>
              <a:t>Web</a:t>
            </a:r>
            <a:r>
              <a:rPr lang="zh-CN" altLang="en-US" dirty="0"/>
              <a:t>服务器等，用户可以在平台上部署和运行自己的应用。</a:t>
            </a:r>
            <a:endParaRPr lang="en-US" altLang="zh-CN" dirty="0"/>
          </a:p>
          <a:p>
            <a:endParaRPr lang="en-US" altLang="zh-CN" dirty="0"/>
          </a:p>
          <a:p>
            <a:r>
              <a:rPr lang="zh-CN" altLang="en-US" dirty="0"/>
              <a:t>同时，用户不能管理和控制底层的基础设施，只能控制自己部署的应用。</a:t>
            </a:r>
          </a:p>
        </p:txBody>
      </p:sp>
    </p:spTree>
    <p:extLst>
      <p:ext uri="{BB962C8B-B14F-4D97-AF65-F5344CB8AC3E}">
        <p14:creationId xmlns:p14="http://schemas.microsoft.com/office/powerpoint/2010/main" val="2527662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en-US" altLang="zh-CN" dirty="0"/>
              <a:t>PaaS</a:t>
            </a:r>
            <a:r>
              <a:rPr lang="zh-CN" altLang="en-US" dirty="0"/>
              <a:t>服务模式面向的主要用户是开发人员。通过使用</a:t>
            </a:r>
            <a:r>
              <a:rPr lang="en-US" altLang="zh-CN" dirty="0"/>
              <a:t>PaaS</a:t>
            </a:r>
            <a:r>
              <a:rPr lang="zh-CN" altLang="en-US" dirty="0"/>
              <a:t>模式的产品，用户可以在一个包含软件开发工具包（</a:t>
            </a:r>
            <a:r>
              <a:rPr lang="en-US" altLang="zh-CN" dirty="0"/>
              <a:t>Software Development Kit</a:t>
            </a:r>
            <a:r>
              <a:rPr lang="zh-CN" altLang="en-US" dirty="0"/>
              <a:t>，</a:t>
            </a:r>
            <a:r>
              <a:rPr lang="en-US" altLang="zh-CN" dirty="0"/>
              <a:t>SDK</a:t>
            </a:r>
            <a:r>
              <a:rPr lang="zh-CN" altLang="en-US" dirty="0"/>
              <a:t>）、文档和测试环境等在内的开发平台上非常方便地编写应用。</a:t>
            </a:r>
            <a:endParaRPr lang="en-US" altLang="zh-CN" dirty="0"/>
          </a:p>
          <a:p>
            <a:endParaRPr lang="en-US" altLang="zh-CN" dirty="0"/>
          </a:p>
          <a:p>
            <a:r>
              <a:rPr lang="zh-CN" altLang="en-US" dirty="0"/>
              <a:t>而且不论是在部署，或者在运行的时候，用户都无须为服务器、操作系统、网络和存储等资源的管理操心，这些烦琐的工作都由</a:t>
            </a:r>
            <a:r>
              <a:rPr lang="en-US" altLang="zh-CN" dirty="0"/>
              <a:t>PaaS</a:t>
            </a:r>
            <a:r>
              <a:rPr lang="zh-CN" altLang="en-US" dirty="0"/>
              <a:t>服务提供商负责处理。</a:t>
            </a:r>
            <a:endParaRPr lang="en-US" altLang="zh-CN" dirty="0"/>
          </a:p>
          <a:p>
            <a:endParaRPr lang="en-US" altLang="zh-CN" dirty="0"/>
          </a:p>
          <a:p>
            <a:r>
              <a:rPr lang="zh-CN" altLang="en-US" dirty="0"/>
              <a:t>而且</a:t>
            </a:r>
            <a:r>
              <a:rPr lang="en-US" altLang="zh-CN" dirty="0"/>
              <a:t>PaaS</a:t>
            </a:r>
            <a:r>
              <a:rPr lang="zh-CN" altLang="en-US" dirty="0"/>
              <a:t>的整合率非常惊人，一台运行</a:t>
            </a:r>
            <a:r>
              <a:rPr lang="en-US" altLang="zh-CN" dirty="0"/>
              <a:t>Google App Engine</a:t>
            </a:r>
            <a:r>
              <a:rPr lang="zh-CN" altLang="en-US" dirty="0"/>
              <a:t>的服务器能够支撑成千上万的</a:t>
            </a:r>
            <a:r>
              <a:rPr lang="en-US" altLang="zh-CN" dirty="0"/>
              <a:t>Google Android</a:t>
            </a:r>
            <a:r>
              <a:rPr lang="zh-CN" altLang="en-US" dirty="0"/>
              <a:t>应用，也就是说，开发人员通过利用</a:t>
            </a:r>
            <a:r>
              <a:rPr lang="en-US" altLang="zh-CN" dirty="0"/>
              <a:t>PaaS</a:t>
            </a:r>
            <a:r>
              <a:rPr lang="zh-CN" altLang="en-US" dirty="0"/>
              <a:t>服务模式极大地降低了开发成本。</a:t>
            </a:r>
          </a:p>
        </p:txBody>
      </p:sp>
    </p:spTree>
    <p:extLst>
      <p:ext uri="{BB962C8B-B14F-4D97-AF65-F5344CB8AC3E}">
        <p14:creationId xmlns:p14="http://schemas.microsoft.com/office/powerpoint/2010/main" val="364461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1488613"/>
            <a:ext cx="8596668" cy="3880773"/>
          </a:xfrm>
        </p:spPr>
        <p:txBody>
          <a:bodyPr>
            <a:normAutofit/>
          </a:bodyPr>
          <a:lstStyle/>
          <a:p>
            <a:r>
              <a:rPr lang="en-US" altLang="zh-CN" dirty="0"/>
              <a:t>PaaS</a:t>
            </a:r>
            <a:r>
              <a:rPr lang="zh-CN" altLang="zh-CN" dirty="0"/>
              <a:t>产品主要有以下几个功能</a:t>
            </a:r>
            <a:r>
              <a:rPr lang="zh-CN" altLang="en-US" dirty="0"/>
              <a:t>：</a:t>
            </a:r>
            <a:endParaRPr lang="zh-CN" altLang="en-US" sz="2400" dirty="0"/>
          </a:p>
        </p:txBody>
      </p:sp>
      <p:sp>
        <p:nvSpPr>
          <p:cNvPr id="4" name="Rectangle 2">
            <a:extLst>
              <a:ext uri="{FF2B5EF4-FFF2-40B4-BE49-F238E27FC236}">
                <a16:creationId xmlns:a16="http://schemas.microsoft.com/office/drawing/2014/main" id="{D89511DD-E200-4B4A-A0EC-C727AB95E38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CD81EF3C-D08F-4239-9AA5-038760C2138C}"/>
              </a:ext>
            </a:extLst>
          </p:cNvPr>
          <p:cNvGraphicFramePr>
            <a:graphicFrameLocks noChangeAspect="1"/>
          </p:cNvGraphicFramePr>
          <p:nvPr>
            <p:extLst>
              <p:ext uri="{D42A27DB-BD31-4B8C-83A1-F6EECF244321}">
                <p14:modId xmlns:p14="http://schemas.microsoft.com/office/powerpoint/2010/main" val="4054522999"/>
              </p:ext>
            </p:extLst>
          </p:nvPr>
        </p:nvGraphicFramePr>
        <p:xfrm>
          <a:off x="3284738" y="2024109"/>
          <a:ext cx="4876800" cy="4549775"/>
        </p:xfrm>
        <a:graphic>
          <a:graphicData uri="http://schemas.openxmlformats.org/presentationml/2006/ole">
            <mc:AlternateContent xmlns:mc="http://schemas.openxmlformats.org/markup-compatibility/2006">
              <mc:Choice xmlns:v="urn:schemas-microsoft-com:vml" Requires="v">
                <p:oleObj spid="_x0000_s3111" name="Visio" r:id="rId3" imgW="6496106" imgH="6076784" progId="Visio.Drawing.15">
                  <p:embed/>
                </p:oleObj>
              </mc:Choice>
              <mc:Fallback>
                <p:oleObj name="Visio" r:id="rId3" imgW="6496106" imgH="607678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4738" y="2024109"/>
                        <a:ext cx="4876800" cy="454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56906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2160589"/>
            <a:ext cx="8596668" cy="4204700"/>
          </a:xfrm>
        </p:spPr>
        <p:txBody>
          <a:bodyPr>
            <a:normAutofit/>
          </a:bodyPr>
          <a:lstStyle/>
          <a:p>
            <a:r>
              <a:rPr lang="zh-CN" altLang="en-US" sz="2000" dirty="0"/>
              <a:t>（</a:t>
            </a:r>
            <a:r>
              <a:rPr lang="en-US" altLang="zh-CN" sz="2000" dirty="0"/>
              <a:t>1</a:t>
            </a:r>
            <a:r>
              <a:rPr lang="zh-CN" altLang="en-US" sz="2000" dirty="0"/>
              <a:t>）友好的开发环境：</a:t>
            </a:r>
            <a:r>
              <a:rPr lang="en-US" altLang="zh-CN" sz="2000" dirty="0"/>
              <a:t>PaaS</a:t>
            </a:r>
            <a:r>
              <a:rPr lang="zh-CN" altLang="en-US" sz="2000" dirty="0"/>
              <a:t>产品通过提供</a:t>
            </a:r>
            <a:r>
              <a:rPr lang="en-US" altLang="zh-CN" sz="2000" dirty="0"/>
              <a:t>SDK</a:t>
            </a:r>
            <a:r>
              <a:rPr lang="zh-CN" altLang="en-US" sz="2000" dirty="0"/>
              <a:t>和集成开发环境（</a:t>
            </a:r>
            <a:r>
              <a:rPr lang="en-US" altLang="zh-CN" sz="2000" dirty="0"/>
              <a:t>Integrated Development Environment</a:t>
            </a:r>
            <a:r>
              <a:rPr lang="zh-CN" altLang="en-US" sz="2000" dirty="0"/>
              <a:t>，</a:t>
            </a:r>
            <a:r>
              <a:rPr lang="en-US" altLang="zh-CN" sz="2000" dirty="0"/>
              <a:t>IDE</a:t>
            </a:r>
            <a:r>
              <a:rPr lang="zh-CN" altLang="en-US" sz="2000" dirty="0"/>
              <a:t>）等工具来让用户能在本地方便地进行应用的开发和测试。</a:t>
            </a:r>
            <a:endParaRPr lang="en-US" altLang="zh-CN" sz="2000" dirty="0"/>
          </a:p>
          <a:p>
            <a:endParaRPr lang="zh-CN" altLang="en-US" sz="2000" dirty="0"/>
          </a:p>
          <a:p>
            <a:r>
              <a:rPr lang="zh-CN" altLang="en-US" sz="2000" dirty="0"/>
              <a:t>（</a:t>
            </a:r>
            <a:r>
              <a:rPr lang="en-US" altLang="zh-CN" sz="2000" dirty="0"/>
              <a:t>2</a:t>
            </a:r>
            <a:r>
              <a:rPr lang="zh-CN" altLang="en-US" sz="2000" dirty="0"/>
              <a:t>） 丰富的服务：</a:t>
            </a:r>
            <a:r>
              <a:rPr lang="en-US" altLang="zh-CN" sz="2000" dirty="0"/>
              <a:t>PaaS</a:t>
            </a:r>
            <a:r>
              <a:rPr lang="zh-CN" altLang="en-US" sz="2000" dirty="0"/>
              <a:t>产品会以应用程序编程接口（</a:t>
            </a:r>
            <a:r>
              <a:rPr lang="en-US" altLang="zh-CN" sz="2000" dirty="0"/>
              <a:t>Application Programming Interface</a:t>
            </a:r>
            <a:r>
              <a:rPr lang="zh-CN" altLang="en-US" sz="2000" dirty="0"/>
              <a:t>，</a:t>
            </a:r>
            <a:r>
              <a:rPr lang="en-US" altLang="zh-CN" sz="2000" dirty="0"/>
              <a:t>API</a:t>
            </a:r>
            <a:r>
              <a:rPr lang="zh-CN" altLang="en-US" sz="2000" dirty="0"/>
              <a:t>）的形式将各种各样的服务提供给上层的应用。</a:t>
            </a:r>
            <a:endParaRPr lang="en-US" altLang="zh-CN" sz="2000" dirty="0"/>
          </a:p>
          <a:p>
            <a:endParaRPr lang="zh-CN" altLang="en-US" sz="2000" dirty="0"/>
          </a:p>
          <a:p>
            <a:r>
              <a:rPr lang="zh-CN" altLang="en-US" sz="2000" dirty="0"/>
              <a:t>（</a:t>
            </a:r>
            <a:r>
              <a:rPr lang="en-US" altLang="zh-CN" sz="2000" dirty="0"/>
              <a:t>3</a:t>
            </a:r>
            <a:r>
              <a:rPr lang="zh-CN" altLang="en-US" sz="2000" dirty="0"/>
              <a:t>）自动的资源调度： </a:t>
            </a:r>
            <a:r>
              <a:rPr lang="en-US" altLang="zh-CN" sz="2000" dirty="0"/>
              <a:t>PaaS</a:t>
            </a:r>
            <a:r>
              <a:rPr lang="zh-CN" altLang="en-US" sz="2000" dirty="0"/>
              <a:t>产品具有即可伸缩性，不仅能优化系统资源，而且能自动调整资源来帮助运行于其上的应用，以便更好地应对突发流量。</a:t>
            </a:r>
          </a:p>
          <a:p>
            <a:endParaRPr lang="zh-CN" altLang="en-US" sz="2000" dirty="0"/>
          </a:p>
        </p:txBody>
      </p:sp>
    </p:spTree>
    <p:extLst>
      <p:ext uri="{BB962C8B-B14F-4D97-AF65-F5344CB8AC3E}">
        <p14:creationId xmlns:p14="http://schemas.microsoft.com/office/powerpoint/2010/main" val="114456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zh-CN" altLang="en-US" dirty="0"/>
              <a:t>（</a:t>
            </a:r>
            <a:r>
              <a:rPr lang="en-US" altLang="zh-CN" dirty="0"/>
              <a:t>4</a:t>
            </a:r>
            <a:r>
              <a:rPr lang="zh-CN" altLang="en-US" dirty="0"/>
              <a:t>）精细的管理和监控：</a:t>
            </a:r>
            <a:r>
              <a:rPr lang="en-US" altLang="zh-CN" dirty="0"/>
              <a:t>PaaS</a:t>
            </a:r>
            <a:r>
              <a:rPr lang="zh-CN" altLang="en-US" dirty="0"/>
              <a:t>产品可以提供应用层的管理和监控，能够观察应用运行的情况和具体数值，例如，吞吐量和反映时间，以便更好地衡量应用的运行状态，</a:t>
            </a:r>
            <a:r>
              <a:rPr lang="en-US" altLang="zh-CN" dirty="0"/>
              <a:t>PaaS</a:t>
            </a:r>
            <a:r>
              <a:rPr lang="zh-CN" altLang="en-US" dirty="0"/>
              <a:t>产品还可以通过精确计量应用使用所消耗的资源来更好地计费。</a:t>
            </a:r>
            <a:endParaRPr lang="en-US" altLang="zh-CN" dirty="0"/>
          </a:p>
          <a:p>
            <a:endParaRPr lang="zh-CN" altLang="en-US" dirty="0"/>
          </a:p>
          <a:p>
            <a:r>
              <a:rPr lang="zh-CN" altLang="en-US" dirty="0"/>
              <a:t>（</a:t>
            </a:r>
            <a:r>
              <a:rPr lang="en-US" altLang="zh-CN" dirty="0"/>
              <a:t>5</a:t>
            </a:r>
            <a:r>
              <a:rPr lang="zh-CN" altLang="en-US" dirty="0"/>
              <a:t>）易学习： </a:t>
            </a:r>
            <a:r>
              <a:rPr lang="en-US" altLang="zh-CN" dirty="0"/>
              <a:t>PaaS</a:t>
            </a:r>
            <a:r>
              <a:rPr lang="zh-CN" altLang="en-US" dirty="0"/>
              <a:t>产品包括不同类型的平台，用户在</a:t>
            </a:r>
            <a:r>
              <a:rPr lang="en-US" altLang="zh-CN" dirty="0"/>
              <a:t>PaaS</a:t>
            </a:r>
            <a:r>
              <a:rPr lang="zh-CN" altLang="en-US" dirty="0"/>
              <a:t>上面开发，则有可能不需要学习新的语言或者新的框架。</a:t>
            </a:r>
            <a:endParaRPr lang="en-US" altLang="zh-CN" dirty="0"/>
          </a:p>
          <a:p>
            <a:endParaRPr lang="zh-CN" altLang="en-US" dirty="0"/>
          </a:p>
          <a:p>
            <a:r>
              <a:rPr lang="zh-CN" altLang="en-US" dirty="0"/>
              <a:t>（</a:t>
            </a:r>
            <a:r>
              <a:rPr lang="en-US" altLang="zh-CN" dirty="0"/>
              <a:t>6</a:t>
            </a:r>
            <a:r>
              <a:rPr lang="zh-CN" altLang="en-US" dirty="0"/>
              <a:t>）使用高安全的安全协议：</a:t>
            </a:r>
            <a:r>
              <a:rPr lang="en-US" altLang="zh-CN" dirty="0"/>
              <a:t>PaaS</a:t>
            </a:r>
            <a:r>
              <a:rPr lang="zh-CN" altLang="en-US" dirty="0"/>
              <a:t>产品需要使用高安全的安全协议，并不断更新安全协议和措施，数据泄露以及个人身份数据的丢失都将招致严厉的处罚，并有可能导致非常重大的业务损失或失败。</a:t>
            </a:r>
          </a:p>
          <a:p>
            <a:endParaRPr lang="zh-CN" altLang="en-US" dirty="0"/>
          </a:p>
        </p:txBody>
      </p:sp>
    </p:spTree>
    <p:extLst>
      <p:ext uri="{BB962C8B-B14F-4D97-AF65-F5344CB8AC3E}">
        <p14:creationId xmlns:p14="http://schemas.microsoft.com/office/powerpoint/2010/main" val="2028595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zh-CN" dirty="0"/>
              <a:t>平台即服务</a:t>
            </a:r>
            <a:r>
              <a:rPr lang="en-US" altLang="zh-CN" dirty="0"/>
              <a:t>PaaS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2160589"/>
            <a:ext cx="8596668" cy="4087811"/>
          </a:xfrm>
        </p:spPr>
        <p:txBody>
          <a:bodyPr>
            <a:normAutofit/>
          </a:bodyPr>
          <a:lstStyle/>
          <a:p>
            <a:r>
              <a:rPr lang="zh-CN" altLang="en-US" sz="2000" dirty="0"/>
              <a:t>制约</a:t>
            </a:r>
            <a:r>
              <a:rPr lang="en-US" altLang="zh-CN" sz="2000" dirty="0"/>
              <a:t>PaaS</a:t>
            </a:r>
            <a:r>
              <a:rPr lang="zh-CN" altLang="en-US" sz="2000" dirty="0"/>
              <a:t>产品发展的最大的问题是安全问题，即数据加密需求对应用程序性能的影响以及灾难恢复。</a:t>
            </a:r>
            <a:endParaRPr lang="en-US" altLang="zh-CN" sz="2000" dirty="0"/>
          </a:p>
          <a:p>
            <a:endParaRPr lang="en-US" altLang="zh-CN" sz="2000" dirty="0"/>
          </a:p>
          <a:p>
            <a:r>
              <a:rPr lang="zh-CN" altLang="en-US" sz="2000" dirty="0"/>
              <a:t>数据加密是在把数据发送给</a:t>
            </a:r>
            <a:r>
              <a:rPr lang="en-US" altLang="zh-CN" sz="2000" dirty="0"/>
              <a:t>PaaS</a:t>
            </a:r>
            <a:r>
              <a:rPr lang="zh-CN" altLang="en-US" sz="2000" dirty="0"/>
              <a:t>服务之前</a:t>
            </a:r>
            <a:r>
              <a:rPr lang="en-US" altLang="zh-CN" sz="2000" dirty="0"/>
              <a:t>PaaS</a:t>
            </a:r>
            <a:r>
              <a:rPr lang="zh-CN" altLang="en-US" sz="2000" dirty="0"/>
              <a:t>产品必须执行的一个操作步骤，而这一步骤需要花费大量的时间，从而对应用程序的性能造成了不利影响。</a:t>
            </a:r>
            <a:endParaRPr lang="en-US" altLang="zh-CN" sz="2000" dirty="0"/>
          </a:p>
          <a:p>
            <a:endParaRPr lang="en-US" altLang="zh-CN" sz="2000" dirty="0"/>
          </a:p>
          <a:p>
            <a:r>
              <a:rPr lang="zh-CN" altLang="en-US" sz="2000" dirty="0"/>
              <a:t>第二个问题是灾难恢复。如果一家</a:t>
            </a:r>
            <a:r>
              <a:rPr lang="en-US" altLang="zh-CN" sz="2000" dirty="0"/>
              <a:t>PaaS</a:t>
            </a:r>
            <a:r>
              <a:rPr lang="zh-CN" altLang="en-US" sz="2000" dirty="0"/>
              <a:t>服务提供商发生了长时间的故障，那么</a:t>
            </a:r>
            <a:r>
              <a:rPr lang="en-US" altLang="zh-CN" sz="2000" dirty="0"/>
              <a:t>PaaS</a:t>
            </a:r>
            <a:r>
              <a:rPr lang="zh-CN" altLang="en-US" sz="2000" dirty="0"/>
              <a:t>服务的所有用户是否能够继续开展正常的业务，处于队列中或处理过程中的消息会被如何处理，数据是否会被恢复，这都是</a:t>
            </a:r>
            <a:r>
              <a:rPr lang="en-US" altLang="zh-CN" sz="2000" dirty="0"/>
              <a:t>PaaS</a:t>
            </a:r>
            <a:r>
              <a:rPr lang="zh-CN" altLang="en-US" sz="2000" dirty="0"/>
              <a:t>产品需要解决的问题。</a:t>
            </a:r>
          </a:p>
        </p:txBody>
      </p:sp>
    </p:spTree>
    <p:extLst>
      <p:ext uri="{BB962C8B-B14F-4D97-AF65-F5344CB8AC3E}">
        <p14:creationId xmlns:p14="http://schemas.microsoft.com/office/powerpoint/2010/main" val="2210292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基础设施即服务</a:t>
            </a:r>
            <a:r>
              <a:rPr lang="en-US" altLang="zh-CN" dirty="0"/>
              <a:t>IaaS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2790904"/>
            <a:ext cx="8596668" cy="3880773"/>
          </a:xfrm>
        </p:spPr>
        <p:txBody>
          <a:bodyPr>
            <a:normAutofit/>
          </a:bodyPr>
          <a:lstStyle/>
          <a:p>
            <a:r>
              <a:rPr lang="zh-CN" altLang="en-US" sz="2400" dirty="0"/>
              <a:t>基础设施即服务（</a:t>
            </a:r>
            <a:r>
              <a:rPr lang="en-US" altLang="zh-CN" sz="2400" dirty="0"/>
              <a:t>Infrastructure as a Service</a:t>
            </a:r>
            <a:r>
              <a:rPr lang="zh-CN" altLang="en-US" sz="2400" dirty="0"/>
              <a:t>，</a:t>
            </a:r>
            <a:r>
              <a:rPr lang="en-US" altLang="zh-CN" sz="2400" dirty="0"/>
              <a:t>IaaS</a:t>
            </a:r>
            <a:r>
              <a:rPr lang="zh-CN" altLang="en-US" sz="2400" dirty="0"/>
              <a:t>）是云计算的一种服务模式，即把基础设施作为一种服务提供的商业模式。</a:t>
            </a:r>
          </a:p>
        </p:txBody>
      </p:sp>
    </p:spTree>
    <p:extLst>
      <p:ext uri="{BB962C8B-B14F-4D97-AF65-F5344CB8AC3E}">
        <p14:creationId xmlns:p14="http://schemas.microsoft.com/office/powerpoint/2010/main" val="125167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基础设施即服务</a:t>
            </a:r>
            <a:r>
              <a:rPr lang="en-US" altLang="zh-CN" dirty="0"/>
              <a:t>IaaS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1930400"/>
            <a:ext cx="8596668" cy="4488786"/>
          </a:xfrm>
        </p:spPr>
        <p:txBody>
          <a:bodyPr>
            <a:normAutofit lnSpcReduction="10000"/>
          </a:bodyPr>
          <a:lstStyle/>
          <a:p>
            <a:r>
              <a:rPr lang="en-US" altLang="zh-CN" dirty="0"/>
              <a:t>IaaS</a:t>
            </a:r>
            <a:r>
              <a:rPr lang="zh-CN" altLang="en-US" dirty="0"/>
              <a:t>服务模式可以理解为云计算服务提供商将多台服务器的内存、</a:t>
            </a:r>
            <a:r>
              <a:rPr lang="en-US" altLang="zh-CN" dirty="0"/>
              <a:t>I/O</a:t>
            </a:r>
            <a:r>
              <a:rPr lang="zh-CN" altLang="en-US" dirty="0"/>
              <a:t>设备、存储和计算能力整合成一个虚拟的资源池，为用户提供存储资源和虚拟化资源等服务。</a:t>
            </a:r>
            <a:endParaRPr lang="en-US" altLang="zh-CN" dirty="0"/>
          </a:p>
          <a:p>
            <a:endParaRPr lang="en-US" altLang="zh-CN" dirty="0"/>
          </a:p>
          <a:p>
            <a:r>
              <a:rPr lang="en-US" altLang="zh-CN" dirty="0"/>
              <a:t>IaaS</a:t>
            </a:r>
            <a:r>
              <a:rPr lang="zh-CN" altLang="en-US" dirty="0"/>
              <a:t>服务模式的主要用户是系统管理员。</a:t>
            </a:r>
            <a:endParaRPr lang="en-US" altLang="zh-CN" dirty="0"/>
          </a:p>
          <a:p>
            <a:endParaRPr lang="en-US" altLang="zh-CN" dirty="0"/>
          </a:p>
          <a:p>
            <a:r>
              <a:rPr lang="zh-CN" altLang="en-US" dirty="0"/>
              <a:t>用户可以通过</a:t>
            </a:r>
            <a:r>
              <a:rPr lang="en-US" altLang="zh-CN" dirty="0"/>
              <a:t>IaaS</a:t>
            </a:r>
            <a:r>
              <a:rPr lang="zh-CN" altLang="en-US" dirty="0"/>
              <a:t>获取计算机、存储空间、网络连接、负载均衡和防火墙等基本资源，可以在此基础上部署和运行各种软件，包括操作系统和应用程序。</a:t>
            </a:r>
            <a:endParaRPr lang="en-US" altLang="zh-CN" dirty="0"/>
          </a:p>
          <a:p>
            <a:endParaRPr lang="en-US" altLang="zh-CN" dirty="0"/>
          </a:p>
          <a:p>
            <a:r>
              <a:rPr lang="zh-CN" altLang="en-US" dirty="0"/>
              <a:t>但是，用户不能管理或控制任何云计算基础设施，但能控制操作系统的选择、存储空间、部署的应用，也有可能获得有限制的网络组件（例如路由器、防火墙、负载均衡器等）的控制。</a:t>
            </a:r>
            <a:endParaRPr lang="en-US" altLang="zh-CN" dirty="0"/>
          </a:p>
          <a:p>
            <a:endParaRPr lang="en-US" altLang="zh-CN" dirty="0"/>
          </a:p>
          <a:p>
            <a:r>
              <a:rPr lang="zh-CN" altLang="en-US" dirty="0"/>
              <a:t>这些基础设施的烦琐的管理工作将由</a:t>
            </a:r>
            <a:r>
              <a:rPr lang="en-US" altLang="zh-CN" dirty="0"/>
              <a:t>IaaS</a:t>
            </a:r>
            <a:r>
              <a:rPr lang="zh-CN" altLang="en-US" dirty="0"/>
              <a:t>服务提供商来处理。</a:t>
            </a:r>
          </a:p>
        </p:txBody>
      </p:sp>
    </p:spTree>
    <p:extLst>
      <p:ext uri="{BB962C8B-B14F-4D97-AF65-F5344CB8AC3E}">
        <p14:creationId xmlns:p14="http://schemas.microsoft.com/office/powerpoint/2010/main" val="295227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基础设施即服务</a:t>
            </a:r>
            <a:r>
              <a:rPr lang="en-US" altLang="zh-CN" dirty="0"/>
              <a:t>IaaS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1488613"/>
            <a:ext cx="8596668" cy="3880773"/>
          </a:xfrm>
        </p:spPr>
        <p:txBody>
          <a:bodyPr>
            <a:normAutofit/>
          </a:bodyPr>
          <a:lstStyle/>
          <a:p>
            <a:r>
              <a:rPr lang="en-US" altLang="zh-CN" dirty="0"/>
              <a:t>IaaS</a:t>
            </a:r>
            <a:r>
              <a:rPr lang="zh-CN" altLang="zh-CN" dirty="0"/>
              <a:t>产品主要有以下几个功能</a:t>
            </a:r>
            <a:r>
              <a:rPr lang="zh-CN" altLang="en-US" dirty="0"/>
              <a:t>：</a:t>
            </a:r>
            <a:endParaRPr lang="zh-CN" altLang="en-US" sz="2400" dirty="0"/>
          </a:p>
        </p:txBody>
      </p:sp>
      <p:sp>
        <p:nvSpPr>
          <p:cNvPr id="4" name="Rectangle 2">
            <a:extLst>
              <a:ext uri="{FF2B5EF4-FFF2-40B4-BE49-F238E27FC236}">
                <a16:creationId xmlns:a16="http://schemas.microsoft.com/office/drawing/2014/main" id="{430BCA0F-4645-46F2-9739-4267B91D92C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58143BAE-8C74-46F5-AE64-D48A81B1AE5E}"/>
              </a:ext>
            </a:extLst>
          </p:cNvPr>
          <p:cNvGraphicFramePr>
            <a:graphicFrameLocks noChangeAspect="1"/>
          </p:cNvGraphicFramePr>
          <p:nvPr>
            <p:extLst>
              <p:ext uri="{D42A27DB-BD31-4B8C-83A1-F6EECF244321}">
                <p14:modId xmlns:p14="http://schemas.microsoft.com/office/powerpoint/2010/main" val="2372711928"/>
              </p:ext>
            </p:extLst>
          </p:nvPr>
        </p:nvGraphicFramePr>
        <p:xfrm>
          <a:off x="3142696" y="2299317"/>
          <a:ext cx="4411663" cy="3657600"/>
        </p:xfrm>
        <a:graphic>
          <a:graphicData uri="http://schemas.openxmlformats.org/presentationml/2006/ole">
            <mc:AlternateContent xmlns:mc="http://schemas.openxmlformats.org/markup-compatibility/2006">
              <mc:Choice xmlns:v="urn:schemas-microsoft-com:vml" Requires="v">
                <p:oleObj spid="_x0000_s5149" name="Visio" r:id="rId3" imgW="8248782" imgH="6829375" progId="Visio.Drawing.15">
                  <p:embed/>
                </p:oleObj>
              </mc:Choice>
              <mc:Fallback>
                <p:oleObj name="Visio" r:id="rId3" imgW="8248782" imgH="682937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2696" y="2299317"/>
                        <a:ext cx="4411663" cy="365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67119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基础设施即服务</a:t>
            </a:r>
            <a:r>
              <a:rPr lang="en-US" altLang="zh-CN" dirty="0"/>
              <a:t>IaaS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zh-CN" altLang="en-US" sz="2400" dirty="0"/>
              <a:t>（</a:t>
            </a:r>
            <a:r>
              <a:rPr lang="en-US" altLang="zh-CN" sz="2400" dirty="0"/>
              <a:t>1</a:t>
            </a:r>
            <a:r>
              <a:rPr lang="zh-CN" altLang="en-US" sz="2400" dirty="0"/>
              <a:t>）资源抽象： </a:t>
            </a:r>
            <a:r>
              <a:rPr lang="en-US" altLang="zh-CN" sz="2400" dirty="0"/>
              <a:t>IaaS</a:t>
            </a:r>
            <a:r>
              <a:rPr lang="zh-CN" altLang="en-US" sz="2400" dirty="0"/>
              <a:t>使用资源抽象的方法，例如资源池，可以更好地调度和管理物理资源。</a:t>
            </a:r>
            <a:endParaRPr lang="en-US" altLang="zh-CN" sz="2400" dirty="0"/>
          </a:p>
          <a:p>
            <a:endParaRPr lang="zh-CN" altLang="en-US" sz="2400" dirty="0"/>
          </a:p>
          <a:p>
            <a:r>
              <a:rPr lang="zh-CN" altLang="en-US" sz="2400" dirty="0"/>
              <a:t>（</a:t>
            </a:r>
            <a:r>
              <a:rPr lang="en-US" altLang="zh-CN" sz="2400" dirty="0"/>
              <a:t>2</a:t>
            </a:r>
            <a:r>
              <a:rPr lang="zh-CN" altLang="en-US" sz="2400" dirty="0"/>
              <a:t>）资源监控：</a:t>
            </a:r>
            <a:r>
              <a:rPr lang="en-US" altLang="zh-CN" sz="2400" dirty="0"/>
              <a:t>IaaS</a:t>
            </a:r>
            <a:r>
              <a:rPr lang="zh-CN" altLang="en-US" sz="2400" dirty="0"/>
              <a:t>通过对资源的监控，能够保证基础设施高效率的运行。</a:t>
            </a:r>
            <a:endParaRPr lang="en-US" altLang="zh-CN" sz="2400" dirty="0"/>
          </a:p>
          <a:p>
            <a:endParaRPr lang="zh-CN" altLang="en-US" sz="2400" dirty="0"/>
          </a:p>
          <a:p>
            <a:r>
              <a:rPr lang="zh-CN" altLang="en-US" sz="2400" dirty="0"/>
              <a:t>（</a:t>
            </a:r>
            <a:r>
              <a:rPr lang="en-US" altLang="zh-CN" sz="2400" dirty="0"/>
              <a:t>3</a:t>
            </a:r>
            <a:r>
              <a:rPr lang="zh-CN" altLang="en-US" sz="2400" dirty="0"/>
              <a:t>）负载管理：通过负载管理，</a:t>
            </a:r>
            <a:r>
              <a:rPr lang="en-US" altLang="zh-CN" sz="2400" dirty="0"/>
              <a:t>IaaS</a:t>
            </a:r>
            <a:r>
              <a:rPr lang="zh-CN" altLang="en-US" sz="2400" dirty="0"/>
              <a:t>不仅使部署在基础设施上的应用更好地应对突发情况，还可以更好地利用系统资源。</a:t>
            </a:r>
          </a:p>
          <a:p>
            <a:endParaRPr lang="zh-CN" altLang="en-US" sz="2400" dirty="0"/>
          </a:p>
        </p:txBody>
      </p:sp>
    </p:spTree>
    <p:extLst>
      <p:ext uri="{BB962C8B-B14F-4D97-AF65-F5344CB8AC3E}">
        <p14:creationId xmlns:p14="http://schemas.microsoft.com/office/powerpoint/2010/main" val="327303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基础设施即服务</a:t>
            </a:r>
            <a:r>
              <a:rPr lang="en-US" altLang="zh-CN" dirty="0"/>
              <a:t>IaaS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zh-CN" altLang="en-US" sz="2000" dirty="0"/>
              <a:t>（</a:t>
            </a:r>
            <a:r>
              <a:rPr lang="en-US" altLang="zh-CN" sz="2000" dirty="0"/>
              <a:t>4</a:t>
            </a:r>
            <a:r>
              <a:rPr lang="zh-CN" altLang="en-US" sz="2000" dirty="0"/>
              <a:t>）数据管理：</a:t>
            </a:r>
            <a:r>
              <a:rPr lang="en-US" altLang="zh-CN" sz="2000" dirty="0"/>
              <a:t>IaaS</a:t>
            </a:r>
            <a:r>
              <a:rPr lang="zh-CN" altLang="en-US" sz="2000" dirty="0"/>
              <a:t>产品需要保证数据的完整性、可靠性以及可管理性。</a:t>
            </a:r>
          </a:p>
          <a:p>
            <a:endParaRPr lang="en-US" altLang="zh-CN" sz="2000" dirty="0"/>
          </a:p>
          <a:p>
            <a:r>
              <a:rPr lang="zh-CN" altLang="en-US" sz="2000" dirty="0"/>
              <a:t>（</a:t>
            </a:r>
            <a:r>
              <a:rPr lang="en-US" altLang="zh-CN" sz="2000" dirty="0"/>
              <a:t>5</a:t>
            </a:r>
            <a:r>
              <a:rPr lang="zh-CN" altLang="en-US" sz="2000" dirty="0"/>
              <a:t>）资源部署：</a:t>
            </a:r>
            <a:r>
              <a:rPr lang="en-US" altLang="zh-CN" sz="2000" dirty="0"/>
              <a:t>IaaS</a:t>
            </a:r>
            <a:r>
              <a:rPr lang="zh-CN" altLang="en-US" sz="2000" dirty="0"/>
              <a:t>资源的部署将整个资源从创建到使用的流程自动化。</a:t>
            </a:r>
          </a:p>
          <a:p>
            <a:endParaRPr lang="en-US" altLang="zh-CN" sz="2000" dirty="0"/>
          </a:p>
          <a:p>
            <a:r>
              <a:rPr lang="zh-CN" altLang="en-US" sz="2000" dirty="0"/>
              <a:t>（</a:t>
            </a:r>
            <a:r>
              <a:rPr lang="en-US" altLang="zh-CN" sz="2000" dirty="0"/>
              <a:t>6</a:t>
            </a:r>
            <a:r>
              <a:rPr lang="zh-CN" altLang="en-US" sz="2000" dirty="0"/>
              <a:t>）安全管理：</a:t>
            </a:r>
            <a:r>
              <a:rPr lang="en-US" altLang="zh-CN" sz="2000" dirty="0"/>
              <a:t>IaaS</a:t>
            </a:r>
            <a:r>
              <a:rPr lang="zh-CN" altLang="en-US" sz="2000" dirty="0"/>
              <a:t>的安全管理的主要目标是保证基础设施和其提供的资源能被合法地访问和使用。</a:t>
            </a:r>
          </a:p>
          <a:p>
            <a:endParaRPr lang="en-US" altLang="zh-CN" sz="2000" dirty="0"/>
          </a:p>
          <a:p>
            <a:r>
              <a:rPr lang="zh-CN" altLang="en-US" sz="2000" dirty="0"/>
              <a:t>（</a:t>
            </a:r>
            <a:r>
              <a:rPr lang="en-US" altLang="zh-CN" sz="2000" dirty="0"/>
              <a:t>7</a:t>
            </a:r>
            <a:r>
              <a:rPr lang="zh-CN" altLang="en-US" sz="2000" dirty="0"/>
              <a:t>）计费管理：通过细致的计费管理，</a:t>
            </a:r>
            <a:r>
              <a:rPr lang="en-US" altLang="zh-CN" sz="2000" dirty="0"/>
              <a:t>IaaS</a:t>
            </a:r>
            <a:r>
              <a:rPr lang="zh-CN" altLang="en-US" sz="2000" dirty="0"/>
              <a:t>能使用户更灵活地使用资源。</a:t>
            </a:r>
          </a:p>
          <a:p>
            <a:endParaRPr lang="zh-CN" altLang="en-US" sz="2000" dirty="0"/>
          </a:p>
        </p:txBody>
      </p:sp>
    </p:spTree>
    <p:extLst>
      <p:ext uri="{BB962C8B-B14F-4D97-AF65-F5344CB8AC3E}">
        <p14:creationId xmlns:p14="http://schemas.microsoft.com/office/powerpoint/2010/main" val="2263800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基础设施即服务</a:t>
            </a:r>
            <a:r>
              <a:rPr lang="en-US" altLang="zh-CN" dirty="0"/>
              <a:t>IaaS</a:t>
            </a:r>
            <a:endParaRPr lang="zh-CN" altLang="en-US" dirty="0"/>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zh-CN" altLang="en-US" sz="2400" dirty="0"/>
              <a:t>但是，</a:t>
            </a:r>
            <a:r>
              <a:rPr lang="en-US" altLang="zh-CN" sz="2400" dirty="0"/>
              <a:t>IaaS</a:t>
            </a:r>
            <a:r>
              <a:rPr lang="zh-CN" altLang="en-US" sz="2400" dirty="0"/>
              <a:t>也可能存在安全漏洞，例如，服务商提供一个共享的基础设施，包括</a:t>
            </a:r>
            <a:r>
              <a:rPr lang="en-US" altLang="zh-CN" sz="2400" dirty="0"/>
              <a:t>CPU</a:t>
            </a:r>
            <a:r>
              <a:rPr lang="zh-CN" altLang="en-US" sz="2400" dirty="0"/>
              <a:t>缓存、</a:t>
            </a:r>
            <a:r>
              <a:rPr lang="en-US" altLang="zh-CN" sz="2400" dirty="0"/>
              <a:t>GPU</a:t>
            </a:r>
            <a:r>
              <a:rPr lang="zh-CN" altLang="en-US" sz="2400" dirty="0"/>
              <a:t>等，对于该系统的使用者而言，基础设施并不是完全隔离的，这样就会产生一个后果，当一个攻击者得逞时，全部服务器都向攻击者敞开了大门。</a:t>
            </a:r>
            <a:endParaRPr lang="en-US" altLang="zh-CN" sz="2400" dirty="0"/>
          </a:p>
          <a:p>
            <a:endParaRPr lang="en-US" altLang="zh-CN" sz="2400" dirty="0"/>
          </a:p>
          <a:p>
            <a:r>
              <a:rPr lang="zh-CN" altLang="en-US" sz="2400" dirty="0"/>
              <a:t>目前，</a:t>
            </a:r>
            <a:r>
              <a:rPr lang="en-US" altLang="zh-CN" sz="2400" dirty="0"/>
              <a:t>IaaS</a:t>
            </a:r>
            <a:r>
              <a:rPr lang="zh-CN" altLang="en-US" sz="2400" dirty="0"/>
              <a:t>一般从分区和防御策略的角度来解决这个问题，监控环境是否有未经授权的修改和活动。</a:t>
            </a:r>
          </a:p>
        </p:txBody>
      </p:sp>
    </p:spTree>
    <p:extLst>
      <p:ext uri="{BB962C8B-B14F-4D97-AF65-F5344CB8AC3E}">
        <p14:creationId xmlns:p14="http://schemas.microsoft.com/office/powerpoint/2010/main" val="2130386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86F0D-C668-4B6C-8541-84A0F492C846}"/>
              </a:ext>
            </a:extLst>
          </p:cNvPr>
          <p:cNvSpPr>
            <a:spLocks noGrp="1"/>
          </p:cNvSpPr>
          <p:nvPr>
            <p:ph type="title"/>
          </p:nvPr>
        </p:nvSpPr>
        <p:spPr/>
        <p:txBody>
          <a:bodyPr/>
          <a:lstStyle/>
          <a:p>
            <a:r>
              <a:rPr lang="zh-CN" altLang="en-US" dirty="0"/>
              <a:t>三种服务模式的关系</a:t>
            </a:r>
          </a:p>
        </p:txBody>
      </p:sp>
      <p:sp>
        <p:nvSpPr>
          <p:cNvPr id="3" name="内容占位符 2">
            <a:extLst>
              <a:ext uri="{FF2B5EF4-FFF2-40B4-BE49-F238E27FC236}">
                <a16:creationId xmlns:a16="http://schemas.microsoft.com/office/drawing/2014/main" id="{52203B5F-B119-4DA2-BD4E-6DB5DCFC2EB5}"/>
              </a:ext>
            </a:extLst>
          </p:cNvPr>
          <p:cNvSpPr>
            <a:spLocks noGrp="1"/>
          </p:cNvSpPr>
          <p:nvPr>
            <p:ph idx="1"/>
          </p:nvPr>
        </p:nvSpPr>
        <p:spPr>
          <a:xfrm>
            <a:off x="677334" y="2826414"/>
            <a:ext cx="8596668" cy="3880773"/>
          </a:xfrm>
        </p:spPr>
        <p:txBody>
          <a:bodyPr>
            <a:normAutofit/>
          </a:bodyPr>
          <a:lstStyle/>
          <a:p>
            <a:r>
              <a:rPr lang="zh-CN" altLang="en-US" sz="3200" dirty="0"/>
              <a:t>云计算的三种主要的服务模式</a:t>
            </a:r>
            <a:r>
              <a:rPr lang="en-US" altLang="zh-CN" sz="3200" dirty="0"/>
              <a:t>SaaS</a:t>
            </a:r>
            <a:r>
              <a:rPr lang="zh-CN" altLang="en-US" sz="3200" dirty="0"/>
              <a:t>、</a:t>
            </a:r>
            <a:r>
              <a:rPr lang="en-US" altLang="zh-CN" sz="3200" dirty="0"/>
              <a:t>PaaS</a:t>
            </a:r>
            <a:r>
              <a:rPr lang="zh-CN" altLang="en-US" sz="3200" dirty="0"/>
              <a:t>和</a:t>
            </a:r>
            <a:r>
              <a:rPr lang="en-US" altLang="zh-CN" sz="3200" dirty="0"/>
              <a:t>IaaS</a:t>
            </a:r>
            <a:r>
              <a:rPr lang="zh-CN" altLang="en-US" sz="3200" dirty="0"/>
              <a:t>之间既有联系也有区别。</a:t>
            </a:r>
            <a:endParaRPr lang="en-US" altLang="zh-CN" sz="3200" dirty="0"/>
          </a:p>
          <a:p>
            <a:endParaRPr lang="en-US" altLang="zh-CN" sz="3200" dirty="0"/>
          </a:p>
        </p:txBody>
      </p:sp>
    </p:spTree>
    <p:extLst>
      <p:ext uri="{BB962C8B-B14F-4D97-AF65-F5344CB8AC3E}">
        <p14:creationId xmlns:p14="http://schemas.microsoft.com/office/powerpoint/2010/main" val="2491488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86F0D-C668-4B6C-8541-84A0F492C846}"/>
              </a:ext>
            </a:extLst>
          </p:cNvPr>
          <p:cNvSpPr>
            <a:spLocks noGrp="1"/>
          </p:cNvSpPr>
          <p:nvPr>
            <p:ph type="title"/>
          </p:nvPr>
        </p:nvSpPr>
        <p:spPr/>
        <p:txBody>
          <a:bodyPr/>
          <a:lstStyle/>
          <a:p>
            <a:r>
              <a:rPr lang="zh-CN" altLang="en-US" dirty="0"/>
              <a:t>三种服务模式的关系</a:t>
            </a:r>
          </a:p>
        </p:txBody>
      </p:sp>
      <p:sp>
        <p:nvSpPr>
          <p:cNvPr id="3" name="内容占位符 2">
            <a:extLst>
              <a:ext uri="{FF2B5EF4-FFF2-40B4-BE49-F238E27FC236}">
                <a16:creationId xmlns:a16="http://schemas.microsoft.com/office/drawing/2014/main" id="{52203B5F-B119-4DA2-BD4E-6DB5DCFC2EB5}"/>
              </a:ext>
            </a:extLst>
          </p:cNvPr>
          <p:cNvSpPr>
            <a:spLocks noGrp="1"/>
          </p:cNvSpPr>
          <p:nvPr>
            <p:ph idx="1"/>
          </p:nvPr>
        </p:nvSpPr>
        <p:spPr>
          <a:xfrm>
            <a:off x="677334" y="1821758"/>
            <a:ext cx="8596668" cy="4426642"/>
          </a:xfrm>
        </p:spPr>
        <p:txBody>
          <a:bodyPr>
            <a:normAutofit/>
          </a:bodyPr>
          <a:lstStyle/>
          <a:p>
            <a:r>
              <a:rPr lang="zh-CN" altLang="en-US" sz="2400" b="1" dirty="0"/>
              <a:t>可以从两个角度进行分析：</a:t>
            </a:r>
            <a:endParaRPr lang="en-US" altLang="zh-CN" sz="2400" b="1" dirty="0"/>
          </a:p>
          <a:p>
            <a:endParaRPr lang="zh-CN" altLang="en-US" sz="2400" b="1" dirty="0"/>
          </a:p>
          <a:p>
            <a:r>
              <a:rPr lang="zh-CN" altLang="zh-CN" sz="1600" b="1" dirty="0"/>
              <a:t>（</a:t>
            </a:r>
            <a:r>
              <a:rPr lang="en-US" altLang="zh-CN" sz="1600" b="1" dirty="0"/>
              <a:t>1</a:t>
            </a:r>
            <a:r>
              <a:rPr lang="zh-CN" altLang="zh-CN" sz="1600" b="1" dirty="0"/>
              <a:t>）用户体验角度：</a:t>
            </a:r>
            <a:endParaRPr lang="en-US" altLang="zh-CN" sz="1600" b="1" dirty="0"/>
          </a:p>
          <a:p>
            <a:pPr lvl="1"/>
            <a:r>
              <a:rPr lang="en-US" altLang="zh-CN" dirty="0"/>
              <a:t>SaaS</a:t>
            </a:r>
            <a:r>
              <a:rPr lang="zh-CN" altLang="zh-CN" dirty="0"/>
              <a:t>、</a:t>
            </a:r>
            <a:r>
              <a:rPr lang="en-US" altLang="zh-CN" dirty="0"/>
              <a:t>PaaS</a:t>
            </a:r>
            <a:r>
              <a:rPr lang="zh-CN" altLang="zh-CN" dirty="0"/>
              <a:t>和</a:t>
            </a:r>
            <a:r>
              <a:rPr lang="en-US" altLang="zh-CN" dirty="0"/>
              <a:t>IaaS</a:t>
            </a:r>
            <a:r>
              <a:rPr lang="zh-CN" altLang="zh-CN" dirty="0"/>
              <a:t>之间关系是独立的，因为它们主要的用户类型不同。</a:t>
            </a:r>
            <a:r>
              <a:rPr lang="en-US" altLang="zh-CN" dirty="0"/>
              <a:t>SaaS</a:t>
            </a:r>
            <a:r>
              <a:rPr lang="zh-CN" altLang="zh-CN" dirty="0"/>
              <a:t>的用户主要是中小型企业和普通用户，用户直接使用云平台的软件服务，不要求用户掌握编程开发知识；</a:t>
            </a:r>
            <a:r>
              <a:rPr lang="en-US" altLang="zh-CN" dirty="0"/>
              <a:t>PaaS</a:t>
            </a:r>
            <a:r>
              <a:rPr lang="zh-CN" altLang="zh-CN" dirty="0"/>
              <a:t>的用户主要是开发者，用户需要在云平台开发程序，要求用户掌握一定的编程开发知识；</a:t>
            </a:r>
            <a:r>
              <a:rPr lang="en-US" altLang="zh-CN" dirty="0"/>
              <a:t>IaaS</a:t>
            </a:r>
            <a:r>
              <a:rPr lang="zh-CN" altLang="zh-CN" dirty="0"/>
              <a:t>的用户是系统管理员，用户需要对云平台的系统进行管理，要求用户掌握较好的编程开发知识和系统管理知识。</a:t>
            </a:r>
            <a:endParaRPr lang="en-US" altLang="zh-CN" dirty="0"/>
          </a:p>
          <a:p>
            <a:pPr lvl="1"/>
            <a:endParaRPr lang="zh-CN" altLang="zh-CN" dirty="0"/>
          </a:p>
          <a:p>
            <a:r>
              <a:rPr lang="zh-CN" altLang="zh-CN" sz="1600" b="1" dirty="0"/>
              <a:t>（</a:t>
            </a:r>
            <a:r>
              <a:rPr lang="en-US" altLang="zh-CN" sz="1600" b="1" dirty="0"/>
              <a:t>2</a:t>
            </a:r>
            <a:r>
              <a:rPr lang="zh-CN" altLang="zh-CN" sz="1600" b="1" dirty="0"/>
              <a:t>）技术角度：</a:t>
            </a:r>
            <a:endParaRPr lang="en-US" altLang="zh-CN" sz="1600" b="1" dirty="0"/>
          </a:p>
          <a:p>
            <a:pPr lvl="1"/>
            <a:r>
              <a:rPr lang="zh-CN" altLang="zh-CN" dirty="0"/>
              <a:t>虽然</a:t>
            </a:r>
            <a:r>
              <a:rPr lang="en-US" altLang="zh-CN" dirty="0"/>
              <a:t>SaaS</a:t>
            </a:r>
            <a:r>
              <a:rPr lang="zh-CN" altLang="zh-CN" dirty="0"/>
              <a:t>是基于</a:t>
            </a:r>
            <a:r>
              <a:rPr lang="en-US" altLang="zh-CN" dirty="0"/>
              <a:t>PaaS</a:t>
            </a:r>
            <a:r>
              <a:rPr lang="zh-CN" altLang="zh-CN" dirty="0"/>
              <a:t>产生，而</a:t>
            </a:r>
            <a:r>
              <a:rPr lang="en-US" altLang="zh-CN" dirty="0"/>
              <a:t>PaaS</a:t>
            </a:r>
            <a:r>
              <a:rPr lang="zh-CN" altLang="zh-CN" dirty="0"/>
              <a:t>基于</a:t>
            </a:r>
            <a:r>
              <a:rPr lang="en-US" altLang="zh-CN" dirty="0"/>
              <a:t>IaaS</a:t>
            </a:r>
            <a:r>
              <a:rPr lang="zh-CN" altLang="zh-CN" dirty="0"/>
              <a:t>产生，但它们并不是简单的继承关系，因为首先</a:t>
            </a:r>
            <a:r>
              <a:rPr lang="en-US" altLang="zh-CN" dirty="0"/>
              <a:t>SaaS</a:t>
            </a:r>
            <a:r>
              <a:rPr lang="zh-CN" altLang="zh-CN" dirty="0"/>
              <a:t>可以基于</a:t>
            </a:r>
            <a:r>
              <a:rPr lang="en-US" altLang="zh-CN" dirty="0"/>
              <a:t>PaaS</a:t>
            </a:r>
            <a:r>
              <a:rPr lang="zh-CN" altLang="zh-CN" dirty="0"/>
              <a:t>或者直接部署于</a:t>
            </a:r>
            <a:r>
              <a:rPr lang="en-US" altLang="zh-CN" dirty="0"/>
              <a:t>IaaS</a:t>
            </a:r>
            <a:r>
              <a:rPr lang="zh-CN" altLang="zh-CN" dirty="0"/>
              <a:t>之上，其次</a:t>
            </a:r>
            <a:r>
              <a:rPr lang="en-US" altLang="zh-CN" dirty="0"/>
              <a:t>PaaS</a:t>
            </a:r>
            <a:r>
              <a:rPr lang="zh-CN" altLang="zh-CN" dirty="0"/>
              <a:t>可以从</a:t>
            </a:r>
            <a:r>
              <a:rPr lang="en-US" altLang="zh-CN" dirty="0"/>
              <a:t>IaaS</a:t>
            </a:r>
            <a:r>
              <a:rPr lang="zh-CN" altLang="zh-CN" dirty="0"/>
              <a:t>上构建，也可以直接构建在物理资源之上。</a:t>
            </a:r>
            <a:endParaRPr lang="zh-CN" altLang="en-US" dirty="0"/>
          </a:p>
        </p:txBody>
      </p:sp>
    </p:spTree>
    <p:extLst>
      <p:ext uri="{BB962C8B-B14F-4D97-AF65-F5344CB8AC3E}">
        <p14:creationId xmlns:p14="http://schemas.microsoft.com/office/powerpoint/2010/main" val="1310045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86F0D-C668-4B6C-8541-84A0F492C846}"/>
              </a:ext>
            </a:extLst>
          </p:cNvPr>
          <p:cNvSpPr>
            <a:spLocks noGrp="1"/>
          </p:cNvSpPr>
          <p:nvPr>
            <p:ph type="title"/>
          </p:nvPr>
        </p:nvSpPr>
        <p:spPr/>
        <p:txBody>
          <a:bodyPr/>
          <a:lstStyle/>
          <a:p>
            <a:r>
              <a:rPr lang="zh-CN" altLang="en-US" dirty="0"/>
              <a:t>三种服务模式的关系</a:t>
            </a:r>
          </a:p>
        </p:txBody>
      </p:sp>
      <p:graphicFrame>
        <p:nvGraphicFramePr>
          <p:cNvPr id="4" name="内容占位符 3">
            <a:extLst>
              <a:ext uri="{FF2B5EF4-FFF2-40B4-BE49-F238E27FC236}">
                <a16:creationId xmlns:a16="http://schemas.microsoft.com/office/drawing/2014/main" id="{C43554FB-835C-45E3-B7B5-95BD450F204E}"/>
              </a:ext>
            </a:extLst>
          </p:cNvPr>
          <p:cNvGraphicFramePr>
            <a:graphicFrameLocks noGrp="1"/>
          </p:cNvGraphicFramePr>
          <p:nvPr>
            <p:ph idx="1"/>
          </p:nvPr>
        </p:nvGraphicFramePr>
        <p:xfrm>
          <a:off x="677862" y="2789014"/>
          <a:ext cx="8596314" cy="2652776"/>
        </p:xfrm>
        <a:graphic>
          <a:graphicData uri="http://schemas.openxmlformats.org/drawingml/2006/table">
            <a:tbl>
              <a:tblPr firstRow="1" firstCol="1" bandRow="1">
                <a:tableStyleId>{5C22544A-7EE6-4342-B048-85BDC9FD1C3A}</a:tableStyleId>
              </a:tblPr>
              <a:tblGrid>
                <a:gridCol w="1432719">
                  <a:extLst>
                    <a:ext uri="{9D8B030D-6E8A-4147-A177-3AD203B41FA5}">
                      <a16:colId xmlns:a16="http://schemas.microsoft.com/office/drawing/2014/main" val="3508375718"/>
                    </a:ext>
                  </a:extLst>
                </a:gridCol>
                <a:gridCol w="1432719">
                  <a:extLst>
                    <a:ext uri="{9D8B030D-6E8A-4147-A177-3AD203B41FA5}">
                      <a16:colId xmlns:a16="http://schemas.microsoft.com/office/drawing/2014/main" val="1698855608"/>
                    </a:ext>
                  </a:extLst>
                </a:gridCol>
                <a:gridCol w="1432719">
                  <a:extLst>
                    <a:ext uri="{9D8B030D-6E8A-4147-A177-3AD203B41FA5}">
                      <a16:colId xmlns:a16="http://schemas.microsoft.com/office/drawing/2014/main" val="3746933349"/>
                    </a:ext>
                  </a:extLst>
                </a:gridCol>
                <a:gridCol w="1432719">
                  <a:extLst>
                    <a:ext uri="{9D8B030D-6E8A-4147-A177-3AD203B41FA5}">
                      <a16:colId xmlns:a16="http://schemas.microsoft.com/office/drawing/2014/main" val="1731673749"/>
                    </a:ext>
                  </a:extLst>
                </a:gridCol>
                <a:gridCol w="1432719">
                  <a:extLst>
                    <a:ext uri="{9D8B030D-6E8A-4147-A177-3AD203B41FA5}">
                      <a16:colId xmlns:a16="http://schemas.microsoft.com/office/drawing/2014/main" val="759581022"/>
                    </a:ext>
                  </a:extLst>
                </a:gridCol>
                <a:gridCol w="1432719">
                  <a:extLst>
                    <a:ext uri="{9D8B030D-6E8A-4147-A177-3AD203B41FA5}">
                      <a16:colId xmlns:a16="http://schemas.microsoft.com/office/drawing/2014/main" val="3969701317"/>
                    </a:ext>
                  </a:extLst>
                </a:gridCol>
              </a:tblGrid>
              <a:tr h="656146">
                <a:tc>
                  <a:txBody>
                    <a:bodyPr/>
                    <a:lstStyle/>
                    <a:p>
                      <a:pPr indent="306070" algn="ctr">
                        <a:lnSpc>
                          <a:spcPts val="2800"/>
                        </a:lnSpc>
                        <a:spcAft>
                          <a:spcPts val="1000"/>
                        </a:spcAft>
                      </a:pPr>
                      <a:r>
                        <a:rPr lang="en-US" sz="1200" kern="100">
                          <a:effectLst/>
                        </a:rPr>
                        <a:t> </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服务类型</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用户类型</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用户获取的资源</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对用户的要求</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代表产品</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extLst>
                  <a:ext uri="{0D108BD9-81ED-4DB2-BD59-A6C34878D82A}">
                    <a16:rowId xmlns:a16="http://schemas.microsoft.com/office/drawing/2014/main" val="826288411"/>
                  </a:ext>
                </a:extLst>
              </a:tr>
              <a:tr h="656146">
                <a:tc>
                  <a:txBody>
                    <a:bodyPr/>
                    <a:lstStyle/>
                    <a:p>
                      <a:pPr indent="304800">
                        <a:lnSpc>
                          <a:spcPts val="2800"/>
                        </a:lnSpc>
                        <a:spcAft>
                          <a:spcPts val="1000"/>
                        </a:spcAft>
                      </a:pPr>
                      <a:r>
                        <a:rPr lang="en-US" sz="1200" kern="100">
                          <a:effectLst/>
                        </a:rPr>
                        <a:t>SaaS</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软件</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普通用户</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有限</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不需要掌握特定知识</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en-US" sz="1200" kern="100">
                          <a:effectLst/>
                        </a:rPr>
                        <a:t>Google Apps</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extLst>
                  <a:ext uri="{0D108BD9-81ED-4DB2-BD59-A6C34878D82A}">
                    <a16:rowId xmlns:a16="http://schemas.microsoft.com/office/drawing/2014/main" val="969571066"/>
                  </a:ext>
                </a:extLst>
              </a:tr>
              <a:tr h="656146">
                <a:tc>
                  <a:txBody>
                    <a:bodyPr/>
                    <a:lstStyle/>
                    <a:p>
                      <a:pPr indent="304800">
                        <a:lnSpc>
                          <a:spcPts val="2800"/>
                        </a:lnSpc>
                        <a:spcAft>
                          <a:spcPts val="1000"/>
                        </a:spcAft>
                      </a:pPr>
                      <a:r>
                        <a:rPr lang="en-US" sz="1200" kern="100">
                          <a:effectLst/>
                        </a:rPr>
                        <a:t>PaaS</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平台</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开发者</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中等</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需要一定编程知识</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en-US" sz="1200" kern="100">
                          <a:effectLst/>
                        </a:rPr>
                        <a:t>Azure Platform</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extLst>
                  <a:ext uri="{0D108BD9-81ED-4DB2-BD59-A6C34878D82A}">
                    <a16:rowId xmlns:a16="http://schemas.microsoft.com/office/drawing/2014/main" val="4129245250"/>
                  </a:ext>
                </a:extLst>
              </a:tr>
              <a:tr h="656146">
                <a:tc>
                  <a:txBody>
                    <a:bodyPr/>
                    <a:lstStyle/>
                    <a:p>
                      <a:pPr indent="304800">
                        <a:lnSpc>
                          <a:spcPts val="2800"/>
                        </a:lnSpc>
                        <a:spcAft>
                          <a:spcPts val="1000"/>
                        </a:spcAft>
                      </a:pPr>
                      <a:r>
                        <a:rPr lang="en-US" sz="1200" kern="100">
                          <a:effectLst/>
                        </a:rPr>
                        <a:t>IaaS</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基础设施</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系统管理员</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较大</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zh-CN" sz="1200" kern="100">
                          <a:effectLst/>
                        </a:rPr>
                        <a:t>需要较好的系统管理知识</a:t>
                      </a:r>
                      <a:endParaRPr lang="zh-CN" sz="1200" kern="100">
                        <a:effectLst/>
                        <a:latin typeface="Times New Roman" panose="02020603050405020304" pitchFamily="18" charset="0"/>
                        <a:ea typeface="等线" panose="02010600030101010101" pitchFamily="2" charset="-122"/>
                      </a:endParaRPr>
                    </a:p>
                  </a:txBody>
                  <a:tcPr marL="68580" marR="68580" marT="0" marB="0" anchor="ctr"/>
                </a:tc>
                <a:tc>
                  <a:txBody>
                    <a:bodyPr/>
                    <a:lstStyle/>
                    <a:p>
                      <a:pPr indent="304800">
                        <a:lnSpc>
                          <a:spcPts val="2800"/>
                        </a:lnSpc>
                        <a:spcAft>
                          <a:spcPts val="1000"/>
                        </a:spcAft>
                      </a:pPr>
                      <a:r>
                        <a:rPr lang="en-US" sz="1200" kern="100" dirty="0">
                          <a:effectLst/>
                        </a:rPr>
                        <a:t>EC2</a:t>
                      </a:r>
                      <a:endParaRPr lang="zh-CN" sz="1200" kern="100" dirty="0">
                        <a:effectLst/>
                        <a:latin typeface="Times New Roman" panose="02020603050405020304" pitchFamily="18" charset="0"/>
                        <a:ea typeface="等线" panose="02010600030101010101" pitchFamily="2" charset="-122"/>
                      </a:endParaRPr>
                    </a:p>
                  </a:txBody>
                  <a:tcPr marL="68580" marR="68580" marT="0" marB="0" anchor="ctr"/>
                </a:tc>
                <a:extLst>
                  <a:ext uri="{0D108BD9-81ED-4DB2-BD59-A6C34878D82A}">
                    <a16:rowId xmlns:a16="http://schemas.microsoft.com/office/drawing/2014/main" val="2662015654"/>
                  </a:ext>
                </a:extLst>
              </a:tr>
            </a:tbl>
          </a:graphicData>
        </a:graphic>
      </p:graphicFrame>
    </p:spTree>
    <p:extLst>
      <p:ext uri="{BB962C8B-B14F-4D97-AF65-F5344CB8AC3E}">
        <p14:creationId xmlns:p14="http://schemas.microsoft.com/office/powerpoint/2010/main" val="27024902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86F0D-C668-4B6C-8541-84A0F492C846}"/>
              </a:ext>
            </a:extLst>
          </p:cNvPr>
          <p:cNvSpPr>
            <a:spLocks noGrp="1"/>
          </p:cNvSpPr>
          <p:nvPr>
            <p:ph type="title"/>
          </p:nvPr>
        </p:nvSpPr>
        <p:spPr/>
        <p:txBody>
          <a:bodyPr/>
          <a:lstStyle/>
          <a:p>
            <a:r>
              <a:rPr lang="zh-CN" altLang="en-US" dirty="0"/>
              <a:t>三种服务模式的关系</a:t>
            </a:r>
          </a:p>
        </p:txBody>
      </p:sp>
      <p:sp>
        <p:nvSpPr>
          <p:cNvPr id="3" name="内容占位符 2">
            <a:extLst>
              <a:ext uri="{FF2B5EF4-FFF2-40B4-BE49-F238E27FC236}">
                <a16:creationId xmlns:a16="http://schemas.microsoft.com/office/drawing/2014/main" id="{52203B5F-B119-4DA2-BD4E-6DB5DCFC2EB5}"/>
              </a:ext>
            </a:extLst>
          </p:cNvPr>
          <p:cNvSpPr>
            <a:spLocks noGrp="1"/>
          </p:cNvSpPr>
          <p:nvPr>
            <p:ph idx="1"/>
          </p:nvPr>
        </p:nvSpPr>
        <p:spPr>
          <a:xfrm>
            <a:off x="677334" y="2711004"/>
            <a:ext cx="8596668" cy="3880773"/>
          </a:xfrm>
        </p:spPr>
        <p:txBody>
          <a:bodyPr>
            <a:normAutofit/>
          </a:bodyPr>
          <a:lstStyle/>
          <a:p>
            <a:r>
              <a:rPr lang="zh-CN" altLang="en-US" sz="2800" dirty="0"/>
              <a:t>除了</a:t>
            </a:r>
            <a:r>
              <a:rPr lang="en-US" altLang="zh-CN" sz="2800" dirty="0"/>
              <a:t>NIST</a:t>
            </a:r>
            <a:r>
              <a:rPr lang="zh-CN" altLang="en-US" sz="2800" dirty="0"/>
              <a:t>定义的云计算的三种主要服务模式</a:t>
            </a:r>
            <a:r>
              <a:rPr lang="en-US" altLang="zh-CN" sz="2800" dirty="0"/>
              <a:t>SaaS</a:t>
            </a:r>
            <a:r>
              <a:rPr lang="zh-CN" altLang="en-US" sz="2800" dirty="0"/>
              <a:t>、</a:t>
            </a:r>
            <a:r>
              <a:rPr lang="en-US" altLang="zh-CN" sz="2800" dirty="0"/>
              <a:t>PaaS</a:t>
            </a:r>
            <a:r>
              <a:rPr lang="zh-CN" altLang="en-US" sz="2800" dirty="0"/>
              <a:t>和</a:t>
            </a:r>
            <a:r>
              <a:rPr lang="en-US" altLang="zh-CN" sz="2800" dirty="0"/>
              <a:t>IaaS</a:t>
            </a:r>
            <a:r>
              <a:rPr lang="zh-CN" altLang="en-US" sz="2800" dirty="0"/>
              <a:t>之外，云计算在发展过程中还涌现了以下几种服务模式：</a:t>
            </a:r>
          </a:p>
        </p:txBody>
      </p:sp>
    </p:spTree>
    <p:extLst>
      <p:ext uri="{BB962C8B-B14F-4D97-AF65-F5344CB8AC3E}">
        <p14:creationId xmlns:p14="http://schemas.microsoft.com/office/powerpoint/2010/main" val="3999894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86F0D-C668-4B6C-8541-84A0F492C846}"/>
              </a:ext>
            </a:extLst>
          </p:cNvPr>
          <p:cNvSpPr>
            <a:spLocks noGrp="1"/>
          </p:cNvSpPr>
          <p:nvPr>
            <p:ph type="title"/>
          </p:nvPr>
        </p:nvSpPr>
        <p:spPr/>
        <p:txBody>
          <a:bodyPr/>
          <a:lstStyle/>
          <a:p>
            <a:r>
              <a:rPr lang="zh-CN" altLang="en-US" dirty="0"/>
              <a:t>三种服务模式的关系</a:t>
            </a:r>
          </a:p>
        </p:txBody>
      </p:sp>
      <p:sp>
        <p:nvSpPr>
          <p:cNvPr id="3" name="内容占位符 2">
            <a:extLst>
              <a:ext uri="{FF2B5EF4-FFF2-40B4-BE49-F238E27FC236}">
                <a16:creationId xmlns:a16="http://schemas.microsoft.com/office/drawing/2014/main" id="{52203B5F-B119-4DA2-BD4E-6DB5DCFC2EB5}"/>
              </a:ext>
            </a:extLst>
          </p:cNvPr>
          <p:cNvSpPr>
            <a:spLocks noGrp="1"/>
          </p:cNvSpPr>
          <p:nvPr>
            <p:ph idx="1"/>
          </p:nvPr>
        </p:nvSpPr>
        <p:spPr/>
        <p:txBody>
          <a:bodyPr>
            <a:normAutofit/>
          </a:bodyPr>
          <a:lstStyle/>
          <a:p>
            <a:r>
              <a:rPr lang="zh-CN" altLang="en-US" sz="2000" dirty="0"/>
              <a:t>（</a:t>
            </a:r>
            <a:r>
              <a:rPr lang="en-US" altLang="zh-CN" sz="2000" dirty="0"/>
              <a:t>1</a:t>
            </a:r>
            <a:r>
              <a:rPr lang="zh-CN" altLang="en-US" sz="2000" dirty="0"/>
              <a:t>）</a:t>
            </a:r>
            <a:r>
              <a:rPr lang="en-US" altLang="zh-CN" sz="2000" dirty="0"/>
              <a:t>Hardware as a Service</a:t>
            </a:r>
            <a:r>
              <a:rPr lang="zh-CN" altLang="en-US" sz="2000" dirty="0"/>
              <a:t>，硬件即服务，简称</a:t>
            </a:r>
            <a:r>
              <a:rPr lang="en-US" altLang="zh-CN" sz="2000" dirty="0" err="1"/>
              <a:t>HaaS</a:t>
            </a:r>
            <a:r>
              <a:rPr lang="zh-CN" altLang="en-US" sz="2000" dirty="0"/>
              <a:t>，这层的作用是将硬件作为服务提供给用户。</a:t>
            </a:r>
            <a:endParaRPr lang="en-US" altLang="zh-CN" sz="2000" dirty="0"/>
          </a:p>
          <a:p>
            <a:endParaRPr lang="zh-CN" altLang="en-US" sz="2000" dirty="0"/>
          </a:p>
          <a:p>
            <a:r>
              <a:rPr lang="zh-CN" altLang="en-US" sz="2000" dirty="0"/>
              <a:t>（</a:t>
            </a:r>
            <a:r>
              <a:rPr lang="en-US" altLang="zh-CN" sz="2000" dirty="0"/>
              <a:t>2</a:t>
            </a:r>
            <a:r>
              <a:rPr lang="zh-CN" altLang="en-US" sz="2000" dirty="0"/>
              <a:t>）</a:t>
            </a:r>
            <a:r>
              <a:rPr lang="en-US" altLang="zh-CN" sz="2000" dirty="0"/>
              <a:t>Backend as a Service</a:t>
            </a:r>
            <a:r>
              <a:rPr lang="zh-CN" altLang="en-US" sz="2000" dirty="0"/>
              <a:t>，后端即服务，简称</a:t>
            </a:r>
            <a:r>
              <a:rPr lang="en-US" altLang="zh-CN" sz="2000" dirty="0"/>
              <a:t>BaaS</a:t>
            </a:r>
            <a:r>
              <a:rPr lang="zh-CN" altLang="en-US" sz="2000" dirty="0"/>
              <a:t>，这层的作用是将后端作为服务提供给用户。</a:t>
            </a:r>
            <a:endParaRPr lang="en-US" altLang="zh-CN" sz="2000" dirty="0"/>
          </a:p>
          <a:p>
            <a:endParaRPr lang="zh-CN" altLang="en-US" sz="2000" dirty="0"/>
          </a:p>
          <a:p>
            <a:r>
              <a:rPr lang="zh-CN" altLang="en-US" sz="2000" dirty="0"/>
              <a:t>（</a:t>
            </a:r>
            <a:r>
              <a:rPr lang="en-US" altLang="zh-CN" sz="2000" dirty="0"/>
              <a:t>3</a:t>
            </a:r>
            <a:r>
              <a:rPr lang="zh-CN" altLang="en-US" sz="2000" dirty="0"/>
              <a:t>）</a:t>
            </a:r>
            <a:r>
              <a:rPr lang="en-US" altLang="zh-CN" sz="2000" dirty="0"/>
              <a:t>Mobile Backend as a Service</a:t>
            </a:r>
            <a:r>
              <a:rPr lang="zh-CN" altLang="en-US" sz="2000" dirty="0"/>
              <a:t>，移动后端即服务，简称</a:t>
            </a:r>
            <a:r>
              <a:rPr lang="en-US" altLang="zh-CN" sz="2000" dirty="0" err="1"/>
              <a:t>MBaaS</a:t>
            </a:r>
            <a:r>
              <a:rPr lang="zh-CN" altLang="en-US" sz="2000" dirty="0"/>
              <a:t>，这层的作用是将移动后端作为服务提供给用户。</a:t>
            </a:r>
          </a:p>
          <a:p>
            <a:endParaRPr lang="zh-CN" altLang="en-US" sz="2000" dirty="0"/>
          </a:p>
        </p:txBody>
      </p:sp>
    </p:spTree>
    <p:extLst>
      <p:ext uri="{BB962C8B-B14F-4D97-AF65-F5344CB8AC3E}">
        <p14:creationId xmlns:p14="http://schemas.microsoft.com/office/powerpoint/2010/main" val="2824733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86F0D-C668-4B6C-8541-84A0F492C846}"/>
              </a:ext>
            </a:extLst>
          </p:cNvPr>
          <p:cNvSpPr>
            <a:spLocks noGrp="1"/>
          </p:cNvSpPr>
          <p:nvPr>
            <p:ph type="title"/>
          </p:nvPr>
        </p:nvSpPr>
        <p:spPr/>
        <p:txBody>
          <a:bodyPr/>
          <a:lstStyle/>
          <a:p>
            <a:r>
              <a:rPr lang="zh-CN" altLang="en-US" dirty="0"/>
              <a:t>三种服务模式的关系</a:t>
            </a:r>
          </a:p>
        </p:txBody>
      </p:sp>
      <p:sp>
        <p:nvSpPr>
          <p:cNvPr id="3" name="内容占位符 2">
            <a:extLst>
              <a:ext uri="{FF2B5EF4-FFF2-40B4-BE49-F238E27FC236}">
                <a16:creationId xmlns:a16="http://schemas.microsoft.com/office/drawing/2014/main" id="{52203B5F-B119-4DA2-BD4E-6DB5DCFC2EB5}"/>
              </a:ext>
            </a:extLst>
          </p:cNvPr>
          <p:cNvSpPr>
            <a:spLocks noGrp="1"/>
          </p:cNvSpPr>
          <p:nvPr>
            <p:ph idx="1"/>
          </p:nvPr>
        </p:nvSpPr>
        <p:spPr/>
        <p:txBody>
          <a:bodyPr>
            <a:normAutofit/>
          </a:bodyPr>
          <a:lstStyle/>
          <a:p>
            <a:r>
              <a:rPr lang="zh-CN" altLang="en-US" sz="2000" dirty="0"/>
              <a:t>（</a:t>
            </a:r>
            <a:r>
              <a:rPr lang="en-US" altLang="zh-CN" sz="2000" dirty="0"/>
              <a:t>4</a:t>
            </a:r>
            <a:r>
              <a:rPr lang="zh-CN" altLang="en-US" sz="2000" dirty="0"/>
              <a:t>）</a:t>
            </a:r>
            <a:r>
              <a:rPr lang="en-US" altLang="zh-CN" sz="2000" dirty="0"/>
              <a:t>Metal as a Service</a:t>
            </a:r>
            <a:r>
              <a:rPr lang="zh-CN" altLang="en-US" sz="2000" dirty="0"/>
              <a:t>，金属即服务，简称</a:t>
            </a:r>
            <a:r>
              <a:rPr lang="en-US" altLang="zh-CN" sz="2000" dirty="0" err="1"/>
              <a:t>MaaS</a:t>
            </a:r>
            <a:r>
              <a:rPr lang="zh-CN" altLang="en-US" sz="2000" dirty="0"/>
              <a:t>，这层的作用是将金属设备作为服务提供给用户。</a:t>
            </a:r>
            <a:endParaRPr lang="en-US" altLang="zh-CN" sz="2000" dirty="0"/>
          </a:p>
          <a:p>
            <a:endParaRPr lang="zh-CN" altLang="en-US" sz="2000" dirty="0"/>
          </a:p>
          <a:p>
            <a:r>
              <a:rPr lang="zh-CN" altLang="en-US" sz="2000" dirty="0"/>
              <a:t>（</a:t>
            </a:r>
            <a:r>
              <a:rPr lang="en-US" altLang="zh-CN" sz="2000" dirty="0"/>
              <a:t>5</a:t>
            </a:r>
            <a:r>
              <a:rPr lang="zh-CN" altLang="en-US" sz="2000" dirty="0"/>
              <a:t>）</a:t>
            </a:r>
            <a:r>
              <a:rPr lang="en-US" altLang="zh-CN" sz="2000" dirty="0"/>
              <a:t>Information Technology as a Service</a:t>
            </a:r>
            <a:r>
              <a:rPr lang="zh-CN" altLang="en-US" sz="2000" dirty="0"/>
              <a:t>，</a:t>
            </a:r>
            <a:r>
              <a:rPr lang="en-US" altLang="zh-CN" sz="2000" dirty="0"/>
              <a:t>IT</a:t>
            </a:r>
            <a:r>
              <a:rPr lang="zh-CN" altLang="en-US" sz="2000" dirty="0"/>
              <a:t>即服务，简称</a:t>
            </a:r>
            <a:r>
              <a:rPr lang="en-US" altLang="zh-CN" sz="2000" dirty="0" err="1"/>
              <a:t>ITaaS</a:t>
            </a:r>
            <a:r>
              <a:rPr lang="zh-CN" altLang="en-US" sz="2000" dirty="0"/>
              <a:t>，这层的作用是将信息技术作为服务提供给用户。</a:t>
            </a:r>
            <a:endParaRPr lang="en-US" altLang="zh-CN" sz="2000" dirty="0"/>
          </a:p>
          <a:p>
            <a:endParaRPr lang="zh-CN" altLang="en-US" sz="2000" dirty="0"/>
          </a:p>
          <a:p>
            <a:r>
              <a:rPr lang="zh-CN" altLang="en-US" sz="2000" dirty="0"/>
              <a:t>（</a:t>
            </a:r>
            <a:r>
              <a:rPr lang="en-US" altLang="zh-CN" sz="2000" dirty="0"/>
              <a:t>6</a:t>
            </a:r>
            <a:r>
              <a:rPr lang="zh-CN" altLang="en-US" sz="2000" dirty="0"/>
              <a:t>）</a:t>
            </a:r>
            <a:r>
              <a:rPr lang="en-US" altLang="zh-CN" sz="2000" dirty="0"/>
              <a:t>Communications as a Service</a:t>
            </a:r>
            <a:r>
              <a:rPr lang="zh-CN" altLang="en-US" sz="2000" dirty="0"/>
              <a:t>，通信即服务，简称</a:t>
            </a:r>
            <a:r>
              <a:rPr lang="en-US" altLang="zh-CN" sz="2000" dirty="0"/>
              <a:t>CaaS</a:t>
            </a:r>
            <a:r>
              <a:rPr lang="zh-CN" altLang="en-US" sz="2000" dirty="0"/>
              <a:t>，这层的作用是将通信作为服务提供给用户。</a:t>
            </a:r>
          </a:p>
          <a:p>
            <a:endParaRPr lang="zh-CN" altLang="en-US" sz="2000" dirty="0"/>
          </a:p>
        </p:txBody>
      </p:sp>
    </p:spTree>
    <p:extLst>
      <p:ext uri="{BB962C8B-B14F-4D97-AF65-F5344CB8AC3E}">
        <p14:creationId xmlns:p14="http://schemas.microsoft.com/office/powerpoint/2010/main" val="12673598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0" y="2768600"/>
            <a:ext cx="10191565" cy="1320800"/>
          </a:xfrm>
        </p:spPr>
        <p:txBody>
          <a:bodyPr>
            <a:normAutofit/>
          </a:bodyPr>
          <a:lstStyle/>
          <a:p>
            <a:pPr algn="ctr"/>
            <a:r>
              <a:rPr lang="en-US" altLang="zh-CN" sz="7200" dirty="0">
                <a:latin typeface="华文琥珀" panose="02010800040101010101" pitchFamily="2" charset="-122"/>
                <a:ea typeface="华文琥珀" panose="02010800040101010101" pitchFamily="2" charset="-122"/>
              </a:rPr>
              <a:t>3.</a:t>
            </a:r>
            <a:r>
              <a:rPr lang="zh-CN" altLang="en-US" sz="7200" dirty="0">
                <a:latin typeface="华文琥珀" panose="02010800040101010101" pitchFamily="2" charset="-122"/>
                <a:ea typeface="华文琥珀" panose="02010800040101010101" pitchFamily="2" charset="-122"/>
              </a:rPr>
              <a:t>云计算服务模式例</a:t>
            </a:r>
          </a:p>
        </p:txBody>
      </p:sp>
    </p:spTree>
    <p:extLst>
      <p:ext uri="{BB962C8B-B14F-4D97-AF65-F5344CB8AC3E}">
        <p14:creationId xmlns:p14="http://schemas.microsoft.com/office/powerpoint/2010/main" val="2092152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天翼云</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677334" y="1994640"/>
            <a:ext cx="8596668" cy="3880773"/>
          </a:xfrm>
        </p:spPr>
        <p:txBody>
          <a:bodyPr>
            <a:normAutofit/>
          </a:bodyPr>
          <a:lstStyle/>
          <a:p>
            <a:r>
              <a:rPr lang="zh-CN" altLang="en-US" sz="2400" dirty="0"/>
              <a:t>中国电信公司从</a:t>
            </a:r>
            <a:r>
              <a:rPr lang="en-US" altLang="zh-CN" sz="2400" dirty="0"/>
              <a:t>2009</a:t>
            </a:r>
            <a:r>
              <a:rPr lang="zh-CN" altLang="en-US" sz="2400" dirty="0"/>
              <a:t>年启动云计算的研究和开发，至</a:t>
            </a:r>
            <a:r>
              <a:rPr lang="en-US" altLang="zh-CN" sz="2400" dirty="0"/>
              <a:t>2011</a:t>
            </a:r>
            <a:r>
              <a:rPr lang="zh-CN" altLang="en-US" sz="2400" dirty="0"/>
              <a:t>年</a:t>
            </a:r>
            <a:r>
              <a:rPr lang="en-US" altLang="zh-CN" sz="2400" dirty="0"/>
              <a:t>8</a:t>
            </a:r>
            <a:r>
              <a:rPr lang="zh-CN" altLang="en-US" sz="2400" dirty="0"/>
              <a:t>月正式对外发布名为“天翼云”的云计算战略、品牌及解决方案，</a:t>
            </a:r>
            <a:r>
              <a:rPr lang="en-US" altLang="zh-CN" sz="2400" dirty="0"/>
              <a:t>2012</a:t>
            </a:r>
            <a:r>
              <a:rPr lang="zh-CN" altLang="en-US" sz="2400" dirty="0"/>
              <a:t>年</a:t>
            </a:r>
            <a:r>
              <a:rPr lang="en-US" altLang="zh-CN" sz="2400" dirty="0"/>
              <a:t>9</a:t>
            </a:r>
            <a:r>
              <a:rPr lang="zh-CN" altLang="en-US" sz="2400" dirty="0"/>
              <a:t>月，电信正式对外提供云主机和云存储服务，成为中国</a:t>
            </a:r>
            <a:r>
              <a:rPr lang="en-US" altLang="zh-CN" sz="2400" dirty="0"/>
              <a:t>3</a:t>
            </a:r>
            <a:r>
              <a:rPr lang="zh-CN" altLang="en-US" sz="2400" dirty="0"/>
              <a:t>大运营商中对外提供云计算服务的第一家。</a:t>
            </a:r>
            <a:endParaRPr lang="en-US" altLang="zh-CN" sz="2400" dirty="0"/>
          </a:p>
          <a:p>
            <a:endParaRPr lang="en-US" altLang="zh-CN" sz="2400" dirty="0"/>
          </a:p>
          <a:p>
            <a:r>
              <a:rPr lang="zh-CN" altLang="en-US" sz="2400" dirty="0"/>
              <a:t>中国电信公司的云计算发展战略明确提出做</a:t>
            </a:r>
            <a:r>
              <a:rPr lang="en-US" altLang="zh-CN" sz="2400" dirty="0"/>
              <a:t>IaaS</a:t>
            </a:r>
            <a:r>
              <a:rPr lang="zh-CN" altLang="en-US" sz="2400" dirty="0"/>
              <a:t>服务提供商领导者、</a:t>
            </a:r>
            <a:r>
              <a:rPr lang="en-US" altLang="zh-CN" sz="2400" dirty="0"/>
              <a:t>PaaS</a:t>
            </a:r>
            <a:r>
              <a:rPr lang="zh-CN" altLang="en-US" sz="2400" dirty="0"/>
              <a:t>应用的主导者和</a:t>
            </a:r>
            <a:r>
              <a:rPr lang="en-US" altLang="zh-CN" sz="2400" dirty="0"/>
              <a:t>SaaS</a:t>
            </a:r>
            <a:r>
              <a:rPr lang="zh-CN" altLang="en-US" sz="2400" dirty="0"/>
              <a:t>服务的提供者，因此“天翼云”的云计算体系主要包括</a:t>
            </a:r>
            <a:r>
              <a:rPr lang="en-US" altLang="zh-CN" sz="2400" dirty="0"/>
              <a:t>IaaS</a:t>
            </a:r>
            <a:r>
              <a:rPr lang="zh-CN" altLang="en-US" sz="2400" dirty="0"/>
              <a:t>、</a:t>
            </a:r>
            <a:r>
              <a:rPr lang="en-US" altLang="zh-CN" sz="2400" dirty="0"/>
              <a:t>PaaS</a:t>
            </a:r>
            <a:r>
              <a:rPr lang="zh-CN" altLang="en-US" sz="2400" dirty="0"/>
              <a:t>和</a:t>
            </a:r>
            <a:r>
              <a:rPr lang="en-US" altLang="zh-CN" sz="2400" dirty="0"/>
              <a:t>SaaS</a:t>
            </a:r>
            <a:r>
              <a:rPr lang="zh-CN" altLang="en-US" sz="2400" dirty="0"/>
              <a:t>三个平台以及其他平台。</a:t>
            </a:r>
          </a:p>
        </p:txBody>
      </p:sp>
    </p:spTree>
    <p:extLst>
      <p:ext uri="{BB962C8B-B14F-4D97-AF65-F5344CB8AC3E}">
        <p14:creationId xmlns:p14="http://schemas.microsoft.com/office/powerpoint/2010/main" val="4163849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天翼云</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677334" y="1994640"/>
            <a:ext cx="8596668" cy="3880773"/>
          </a:xfrm>
        </p:spPr>
        <p:txBody>
          <a:bodyPr>
            <a:normAutofit/>
          </a:bodyPr>
          <a:lstStyle/>
          <a:p>
            <a:r>
              <a:rPr lang="zh-CN" altLang="zh-CN" dirty="0"/>
              <a:t>（</a:t>
            </a:r>
            <a:r>
              <a:rPr lang="en-US" altLang="zh-CN" dirty="0"/>
              <a:t>1</a:t>
            </a:r>
            <a:r>
              <a:rPr lang="zh-CN" altLang="zh-CN" dirty="0"/>
              <a:t>）</a:t>
            </a:r>
            <a:r>
              <a:rPr lang="en-US" altLang="zh-CN" dirty="0" err="1"/>
              <a:t>HaaS</a:t>
            </a:r>
            <a:r>
              <a:rPr lang="zh-CN" altLang="zh-CN" dirty="0"/>
              <a:t>平台：包括服务器、存储设备、网络设备、安全设备等。</a:t>
            </a:r>
            <a:endParaRPr lang="en-US" altLang="zh-CN" dirty="0"/>
          </a:p>
          <a:p>
            <a:endParaRPr lang="zh-CN" altLang="zh-CN" dirty="0"/>
          </a:p>
          <a:p>
            <a:r>
              <a:rPr lang="zh-CN" altLang="zh-CN" dirty="0"/>
              <a:t>（</a:t>
            </a:r>
            <a:r>
              <a:rPr lang="en-US" altLang="zh-CN" dirty="0"/>
              <a:t>2</a:t>
            </a:r>
            <a:r>
              <a:rPr lang="zh-CN" altLang="zh-CN" dirty="0"/>
              <a:t>）</a:t>
            </a:r>
            <a:r>
              <a:rPr lang="en-US" altLang="zh-CN" dirty="0"/>
              <a:t>IaaS</a:t>
            </a:r>
            <a:r>
              <a:rPr lang="zh-CN" altLang="zh-CN" dirty="0"/>
              <a:t>平台：以虚拟机服务为主，完成计算机设备、网络设施、移动互联网设施等</a:t>
            </a:r>
            <a:r>
              <a:rPr lang="en-US" altLang="zh-CN" dirty="0"/>
              <a:t>IT</a:t>
            </a:r>
            <a:r>
              <a:rPr lang="zh-CN" altLang="zh-CN" dirty="0"/>
              <a:t>资源的虚拟化和基础管理，建立相应的多租户管理、服务管理、计费、账务等云计算服务管理系统，通过现有业务渠道，对外提供弹性存储、弹性计算、大容量数据库、灾备等</a:t>
            </a:r>
            <a:r>
              <a:rPr lang="en-US" altLang="zh-CN" dirty="0"/>
              <a:t>IaaS</a:t>
            </a:r>
            <a:r>
              <a:rPr lang="zh-CN" altLang="zh-CN" dirty="0"/>
              <a:t>云计算服务。</a:t>
            </a:r>
            <a:endParaRPr lang="en-US" altLang="zh-CN" dirty="0"/>
          </a:p>
          <a:p>
            <a:endParaRPr lang="zh-CN" altLang="zh-CN" dirty="0"/>
          </a:p>
          <a:p>
            <a:r>
              <a:rPr lang="zh-CN" altLang="zh-CN" dirty="0"/>
              <a:t>（</a:t>
            </a:r>
            <a:r>
              <a:rPr lang="en-US" altLang="zh-CN" dirty="0"/>
              <a:t>3</a:t>
            </a:r>
            <a:r>
              <a:rPr lang="zh-CN" altLang="zh-CN" dirty="0"/>
              <a:t>）运营支撑系统（</a:t>
            </a:r>
            <a:r>
              <a:rPr lang="en-US" altLang="zh-CN" dirty="0"/>
              <a:t>The Office of Strategic Services</a:t>
            </a:r>
            <a:r>
              <a:rPr lang="zh-CN" altLang="zh-CN" dirty="0"/>
              <a:t>，</a:t>
            </a:r>
            <a:r>
              <a:rPr lang="en-US" altLang="zh-CN" dirty="0"/>
              <a:t>OSS</a:t>
            </a:r>
            <a:r>
              <a:rPr lang="zh-CN" altLang="zh-CN" dirty="0"/>
              <a:t>）：主要支撑电信的运营，包括网络管理系统（</a:t>
            </a:r>
            <a:r>
              <a:rPr lang="en-US" altLang="zh-CN" dirty="0"/>
              <a:t>Network Management System</a:t>
            </a:r>
            <a:r>
              <a:rPr lang="zh-CN" altLang="zh-CN" dirty="0"/>
              <a:t>，</a:t>
            </a:r>
            <a:r>
              <a:rPr lang="en-US" altLang="zh-CN" dirty="0"/>
              <a:t>NMS</a:t>
            </a:r>
            <a:r>
              <a:rPr lang="zh-CN" altLang="zh-CN" dirty="0"/>
              <a:t>）和网元管理系统（</a:t>
            </a:r>
            <a:r>
              <a:rPr lang="en-US" altLang="zh-CN" dirty="0"/>
              <a:t>Element Management System</a:t>
            </a:r>
            <a:r>
              <a:rPr lang="zh-CN" altLang="zh-CN" dirty="0"/>
              <a:t>，</a:t>
            </a:r>
            <a:r>
              <a:rPr lang="en-US" altLang="zh-CN" dirty="0"/>
              <a:t>EMS</a:t>
            </a:r>
            <a:r>
              <a:rPr lang="zh-CN" altLang="zh-CN" dirty="0"/>
              <a:t>）等。</a:t>
            </a:r>
            <a:endParaRPr lang="zh-CN" altLang="en-US" sz="2400" dirty="0"/>
          </a:p>
        </p:txBody>
      </p:sp>
    </p:spTree>
    <p:extLst>
      <p:ext uri="{BB962C8B-B14F-4D97-AF65-F5344CB8AC3E}">
        <p14:creationId xmlns:p14="http://schemas.microsoft.com/office/powerpoint/2010/main" val="3381674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天翼云</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677334" y="1994640"/>
            <a:ext cx="8596668" cy="3880773"/>
          </a:xfrm>
        </p:spPr>
        <p:txBody>
          <a:bodyPr>
            <a:normAutofit/>
          </a:bodyPr>
          <a:lstStyle/>
          <a:p>
            <a:r>
              <a:rPr lang="zh-CN" altLang="zh-CN" dirty="0"/>
              <a:t>（</a:t>
            </a:r>
            <a:r>
              <a:rPr lang="en-US" altLang="zh-CN" dirty="0"/>
              <a:t>4</a:t>
            </a:r>
            <a:r>
              <a:rPr lang="zh-CN" altLang="zh-CN" dirty="0"/>
              <a:t>）业务支撑系统（</a:t>
            </a:r>
            <a:r>
              <a:rPr lang="en-US" altLang="zh-CN" dirty="0"/>
              <a:t>Business Support System</a:t>
            </a:r>
            <a:r>
              <a:rPr lang="zh-CN" altLang="zh-CN" dirty="0"/>
              <a:t>，</a:t>
            </a:r>
            <a:r>
              <a:rPr lang="en-US" altLang="zh-CN" dirty="0"/>
              <a:t>BSS</a:t>
            </a:r>
            <a:r>
              <a:rPr lang="zh-CN" altLang="zh-CN" dirty="0"/>
              <a:t>）：主要支撑电信的业务，包括用户关系管理（</a:t>
            </a:r>
            <a:r>
              <a:rPr lang="en-US" altLang="zh-CN" dirty="0"/>
              <a:t>Customer Relationship Management</a:t>
            </a:r>
            <a:r>
              <a:rPr lang="zh-CN" altLang="zh-CN" dirty="0"/>
              <a:t>，</a:t>
            </a:r>
            <a:r>
              <a:rPr lang="en-US" altLang="zh-CN" dirty="0"/>
              <a:t>CRM</a:t>
            </a:r>
            <a:r>
              <a:rPr lang="zh-CN" altLang="zh-CN" dirty="0"/>
              <a:t>）、业务运营支撑系统</a:t>
            </a:r>
            <a:r>
              <a:rPr lang="en-US" altLang="zh-CN" dirty="0"/>
              <a:t> (Business &amp; Operation Support System</a:t>
            </a:r>
            <a:r>
              <a:rPr lang="zh-CN" altLang="zh-CN" dirty="0"/>
              <a:t>，</a:t>
            </a:r>
            <a:r>
              <a:rPr lang="en-US" altLang="zh-CN" dirty="0"/>
              <a:t>BOSS)</a:t>
            </a:r>
            <a:r>
              <a:rPr lang="zh-CN" altLang="zh-CN" dirty="0"/>
              <a:t>、在线计费系统（</a:t>
            </a:r>
            <a:r>
              <a:rPr lang="en-US" altLang="zh-CN" dirty="0"/>
              <a:t>Online Charging System</a:t>
            </a:r>
            <a:r>
              <a:rPr lang="zh-CN" altLang="zh-CN" dirty="0"/>
              <a:t>，</a:t>
            </a:r>
            <a:r>
              <a:rPr lang="en-US" altLang="zh-CN" dirty="0"/>
              <a:t>OCS</a:t>
            </a:r>
            <a:r>
              <a:rPr lang="zh-CN" altLang="zh-CN" dirty="0"/>
              <a:t>）、融合计费系统（</a:t>
            </a:r>
            <a:r>
              <a:rPr lang="en-US" altLang="zh-CN" dirty="0"/>
              <a:t>Convergent Billing System </a:t>
            </a:r>
            <a:r>
              <a:rPr lang="zh-CN" altLang="zh-CN" dirty="0"/>
              <a:t>，</a:t>
            </a:r>
            <a:r>
              <a:rPr lang="en-US" altLang="zh-CN" dirty="0"/>
              <a:t>CBS</a:t>
            </a:r>
            <a:r>
              <a:rPr lang="zh-CN" altLang="zh-CN" dirty="0"/>
              <a:t>）、电子充值中心（</a:t>
            </a:r>
            <a:r>
              <a:rPr lang="en-US" altLang="zh-CN" dirty="0"/>
              <a:t>E- Voucher Center </a:t>
            </a:r>
            <a:r>
              <a:rPr lang="zh-CN" altLang="zh-CN" dirty="0"/>
              <a:t>，</a:t>
            </a:r>
            <a:r>
              <a:rPr lang="en-US" altLang="zh-CN" dirty="0"/>
              <a:t>EVC</a:t>
            </a:r>
            <a:r>
              <a:rPr lang="zh-CN" altLang="zh-CN" dirty="0"/>
              <a:t>）、经营分析系统（</a:t>
            </a:r>
            <a:r>
              <a:rPr lang="en-US" altLang="zh-CN" dirty="0"/>
              <a:t>Business Intelligence</a:t>
            </a:r>
            <a:r>
              <a:rPr lang="zh-CN" altLang="zh-CN" dirty="0"/>
              <a:t>，</a:t>
            </a:r>
            <a:r>
              <a:rPr lang="en-US" altLang="zh-CN" dirty="0"/>
              <a:t>BI</a:t>
            </a:r>
            <a:r>
              <a:rPr lang="zh-CN" altLang="zh-CN" dirty="0"/>
              <a:t>）等。</a:t>
            </a:r>
            <a:endParaRPr lang="en-US" altLang="zh-CN" dirty="0"/>
          </a:p>
          <a:p>
            <a:endParaRPr lang="en-US" altLang="zh-CN" dirty="0"/>
          </a:p>
          <a:p>
            <a:endParaRPr lang="zh-CN" altLang="zh-CN" dirty="0"/>
          </a:p>
          <a:p>
            <a:r>
              <a:rPr lang="zh-CN" altLang="zh-CN" dirty="0"/>
              <a:t>（</a:t>
            </a:r>
            <a:r>
              <a:rPr lang="en-US" altLang="zh-CN" dirty="0"/>
              <a:t>5</a:t>
            </a:r>
            <a:r>
              <a:rPr lang="zh-CN" altLang="zh-CN" dirty="0"/>
              <a:t>）</a:t>
            </a:r>
            <a:r>
              <a:rPr lang="en-US" altLang="zh-CN" dirty="0"/>
              <a:t>OS-PaaS</a:t>
            </a:r>
            <a:r>
              <a:rPr lang="zh-CN" altLang="zh-CN" dirty="0"/>
              <a:t>平台：包括计费引擎、协议适配、网络接入、商业智能引擎、海量存储、分布式文件系统、并行数据处理、分布式锁服务、集群调度管理等。</a:t>
            </a:r>
            <a:endParaRPr lang="zh-CN" altLang="en-US" sz="2400" dirty="0"/>
          </a:p>
        </p:txBody>
      </p:sp>
    </p:spTree>
    <p:extLst>
      <p:ext uri="{BB962C8B-B14F-4D97-AF65-F5344CB8AC3E}">
        <p14:creationId xmlns:p14="http://schemas.microsoft.com/office/powerpoint/2010/main" val="5983558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天翼云</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677334" y="1994640"/>
            <a:ext cx="8596668" cy="3880773"/>
          </a:xfrm>
        </p:spPr>
        <p:txBody>
          <a:bodyPr>
            <a:normAutofit/>
          </a:bodyPr>
          <a:lstStyle/>
          <a:p>
            <a:r>
              <a:rPr lang="zh-CN" altLang="zh-CN" dirty="0"/>
              <a:t>（</a:t>
            </a:r>
            <a:r>
              <a:rPr lang="en-US" altLang="zh-CN" dirty="0"/>
              <a:t>6</a:t>
            </a:r>
            <a:r>
              <a:rPr lang="zh-CN" altLang="zh-CN" dirty="0"/>
              <a:t>）</a:t>
            </a:r>
            <a:r>
              <a:rPr lang="en-US" altLang="zh-CN" dirty="0"/>
              <a:t>AS-PaaS</a:t>
            </a:r>
            <a:r>
              <a:rPr lang="zh-CN" altLang="zh-CN" dirty="0"/>
              <a:t>平台：包括媒体（图片、音乐、视频）、通信（语言、短信、彩信、网络）、业务，</a:t>
            </a:r>
            <a:r>
              <a:rPr lang="en-US" altLang="zh-CN" dirty="0"/>
              <a:t>Web</a:t>
            </a:r>
            <a:r>
              <a:rPr lang="zh-CN" altLang="zh-CN" dirty="0"/>
              <a:t>资源（搜索、地图、邮箱）等；</a:t>
            </a:r>
            <a:r>
              <a:rPr lang="en-US" altLang="zh-CN" dirty="0"/>
              <a:t>PaaS</a:t>
            </a:r>
            <a:r>
              <a:rPr lang="zh-CN" altLang="zh-CN" dirty="0"/>
              <a:t>平台整合电信业务服务能力、</a:t>
            </a:r>
            <a:r>
              <a:rPr lang="en-US" altLang="zh-CN" dirty="0"/>
              <a:t>IaaS</a:t>
            </a:r>
            <a:r>
              <a:rPr lang="zh-CN" altLang="zh-CN" dirty="0"/>
              <a:t>平台的计算、存储能力，以及地理信息、社交网络、搜索等互联网热门应用，对政府、企业和其他社会机构提供综合的云平台服务。</a:t>
            </a:r>
            <a:endParaRPr lang="en-US" altLang="zh-CN" dirty="0"/>
          </a:p>
          <a:p>
            <a:endParaRPr lang="en-US" altLang="zh-CN" dirty="0"/>
          </a:p>
          <a:p>
            <a:endParaRPr lang="zh-CN" altLang="zh-CN" dirty="0"/>
          </a:p>
          <a:p>
            <a:r>
              <a:rPr lang="zh-CN" altLang="zh-CN" dirty="0"/>
              <a:t>（</a:t>
            </a:r>
            <a:r>
              <a:rPr lang="en-US" altLang="zh-CN" dirty="0"/>
              <a:t>7</a:t>
            </a:r>
            <a:r>
              <a:rPr lang="zh-CN" altLang="zh-CN" dirty="0"/>
              <a:t>）</a:t>
            </a:r>
            <a:r>
              <a:rPr lang="en-US" altLang="zh-CN" dirty="0"/>
              <a:t>SaaS</a:t>
            </a:r>
            <a:r>
              <a:rPr lang="zh-CN" altLang="zh-CN" dirty="0"/>
              <a:t>平台，包括融合通信、融合信息、移动商店、数字音乐、多重播放、融合视讯、移动办公、统一通信、行业应用等；针对特定行业和典型应用，中国电信还提供基于云计算的专业解决方案，例如，中国电信在上海等地实施的金融云、职能交通云。</a:t>
            </a:r>
            <a:endParaRPr lang="zh-CN" altLang="en-US" sz="2400" dirty="0"/>
          </a:p>
        </p:txBody>
      </p:sp>
    </p:spTree>
    <p:extLst>
      <p:ext uri="{BB962C8B-B14F-4D97-AF65-F5344CB8AC3E}">
        <p14:creationId xmlns:p14="http://schemas.microsoft.com/office/powerpoint/2010/main" val="630970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天翼云</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677334" y="2491914"/>
            <a:ext cx="8596668" cy="3880773"/>
          </a:xfrm>
        </p:spPr>
        <p:txBody>
          <a:bodyPr>
            <a:normAutofit/>
          </a:bodyPr>
          <a:lstStyle/>
          <a:p>
            <a:r>
              <a:rPr lang="zh-CN" altLang="zh-CN" sz="2000" dirty="0"/>
              <a:t>（</a:t>
            </a:r>
            <a:r>
              <a:rPr lang="en-US" altLang="zh-CN" sz="2000" dirty="0"/>
              <a:t>8</a:t>
            </a:r>
            <a:r>
              <a:rPr lang="zh-CN" altLang="zh-CN" sz="2000" dirty="0"/>
              <a:t>）</a:t>
            </a:r>
            <a:r>
              <a:rPr lang="en-US" altLang="zh-CN" sz="2000" dirty="0" err="1"/>
              <a:t>ITaaS</a:t>
            </a:r>
            <a:r>
              <a:rPr lang="zh-CN" altLang="zh-CN" sz="2000" dirty="0"/>
              <a:t>平台，包括企业资源计划（</a:t>
            </a:r>
            <a:r>
              <a:rPr lang="en-US" altLang="zh-CN" sz="2000" dirty="0"/>
              <a:t>Enterprise Resource Planning</a:t>
            </a:r>
            <a:r>
              <a:rPr lang="zh-CN" altLang="zh-CN" sz="2000" dirty="0"/>
              <a:t>，</a:t>
            </a:r>
            <a:r>
              <a:rPr lang="en-US" altLang="zh-CN" sz="2000" dirty="0"/>
              <a:t>ERP</a:t>
            </a:r>
            <a:r>
              <a:rPr lang="zh-CN" altLang="zh-CN" sz="2000" dirty="0"/>
              <a:t>）、管理信息系统（</a:t>
            </a:r>
            <a:r>
              <a:rPr lang="en-US" altLang="zh-CN" sz="2000" dirty="0"/>
              <a:t>Management Information System</a:t>
            </a:r>
            <a:r>
              <a:rPr lang="zh-CN" altLang="zh-CN" sz="2000" dirty="0"/>
              <a:t>，</a:t>
            </a:r>
            <a:r>
              <a:rPr lang="en-US" altLang="zh-CN" sz="2000" dirty="0"/>
              <a:t>MIS</a:t>
            </a:r>
            <a:r>
              <a:rPr lang="zh-CN" altLang="zh-CN" sz="2000" dirty="0"/>
              <a:t>）、办公自动化（</a:t>
            </a:r>
            <a:r>
              <a:rPr lang="en-US" altLang="zh-CN" sz="2000" dirty="0"/>
              <a:t>Office Automation</a:t>
            </a:r>
            <a:r>
              <a:rPr lang="zh-CN" altLang="zh-CN" sz="2000" dirty="0"/>
              <a:t>，</a:t>
            </a:r>
            <a:r>
              <a:rPr lang="en-US" altLang="zh-CN" sz="2000" dirty="0"/>
              <a:t>OA</a:t>
            </a:r>
            <a:r>
              <a:rPr lang="zh-CN" altLang="zh-CN" sz="2000" dirty="0"/>
              <a:t>）、供应链管理（</a:t>
            </a:r>
            <a:r>
              <a:rPr lang="en-US" altLang="zh-CN" sz="2000" dirty="0"/>
              <a:t>Supply chain management</a:t>
            </a:r>
            <a:r>
              <a:rPr lang="zh-CN" altLang="zh-CN" sz="2000" dirty="0"/>
              <a:t>，</a:t>
            </a:r>
            <a:r>
              <a:rPr lang="en-US" altLang="zh-CN" sz="2000" dirty="0"/>
              <a:t>SCM</a:t>
            </a:r>
            <a:r>
              <a:rPr lang="zh-CN" altLang="zh-CN" sz="2000" dirty="0"/>
              <a:t>）、企业信息（</a:t>
            </a:r>
            <a:r>
              <a:rPr lang="en-US" altLang="zh-CN" sz="2000" dirty="0"/>
              <a:t>Enterprise Messaging</a:t>
            </a:r>
            <a:r>
              <a:rPr lang="zh-CN" altLang="zh-CN" sz="2000" dirty="0"/>
              <a:t>，</a:t>
            </a:r>
            <a:r>
              <a:rPr lang="en-US" altLang="zh-CN" sz="2000" dirty="0"/>
              <a:t>EM</a:t>
            </a:r>
            <a:r>
              <a:rPr lang="zh-CN" altLang="zh-CN" sz="2000" dirty="0"/>
              <a:t>）等。</a:t>
            </a:r>
            <a:endParaRPr lang="zh-CN" altLang="en-US" sz="2800" dirty="0"/>
          </a:p>
        </p:txBody>
      </p:sp>
    </p:spTree>
    <p:extLst>
      <p:ext uri="{BB962C8B-B14F-4D97-AF65-F5344CB8AC3E}">
        <p14:creationId xmlns:p14="http://schemas.microsoft.com/office/powerpoint/2010/main" val="6393646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3145327"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4.</a:t>
            </a:r>
            <a:r>
              <a:rPr lang="zh-CN" altLang="en-US" sz="7200" dirty="0">
                <a:latin typeface="华文琥珀" panose="02010800040101010101" pitchFamily="2" charset="-122"/>
                <a:ea typeface="华文琥珀" panose="02010800040101010101" pitchFamily="2" charset="-122"/>
              </a:rPr>
              <a:t> 实战项目</a:t>
            </a:r>
          </a:p>
        </p:txBody>
      </p:sp>
    </p:spTree>
    <p:extLst>
      <p:ext uri="{BB962C8B-B14F-4D97-AF65-F5344CB8AC3E}">
        <p14:creationId xmlns:p14="http://schemas.microsoft.com/office/powerpoint/2010/main" val="933916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2803B5-6CE1-4F96-A390-C2F888DEC358}"/>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AC15624E-BF69-4861-AAF1-AA894FB1CF95}"/>
              </a:ext>
            </a:extLst>
          </p:cNvPr>
          <p:cNvSpPr>
            <a:spLocks noGrp="1"/>
          </p:cNvSpPr>
          <p:nvPr>
            <p:ph idx="1"/>
          </p:nvPr>
        </p:nvSpPr>
        <p:spPr>
          <a:xfrm>
            <a:off x="4095237" y="2604472"/>
            <a:ext cx="5270705" cy="3880773"/>
          </a:xfrm>
        </p:spPr>
        <p:txBody>
          <a:bodyPr>
            <a:normAutofit/>
          </a:bodyPr>
          <a:lstStyle/>
          <a:p>
            <a:r>
              <a:rPr lang="zh-CN" altLang="en-US" sz="2800" dirty="0"/>
              <a:t>直观地看到项目代码更新变化</a:t>
            </a:r>
            <a:endParaRPr lang="en-US" altLang="zh-CN" sz="2800" dirty="0"/>
          </a:p>
          <a:p>
            <a:r>
              <a:rPr lang="zh-CN" altLang="en-US" sz="2800" dirty="0"/>
              <a:t>完成云端代码备份</a:t>
            </a:r>
          </a:p>
        </p:txBody>
      </p:sp>
      <p:sp>
        <p:nvSpPr>
          <p:cNvPr id="4" name="文本框 3">
            <a:extLst>
              <a:ext uri="{FF2B5EF4-FFF2-40B4-BE49-F238E27FC236}">
                <a16:creationId xmlns:a16="http://schemas.microsoft.com/office/drawing/2014/main" id="{3E784A4F-5E0F-4298-858C-563CBE730B36}"/>
              </a:ext>
            </a:extLst>
          </p:cNvPr>
          <p:cNvSpPr txBox="1"/>
          <p:nvPr/>
        </p:nvSpPr>
        <p:spPr>
          <a:xfrm>
            <a:off x="1059074" y="2702127"/>
            <a:ext cx="2031325" cy="646331"/>
          </a:xfrm>
          <a:prstGeom prst="rect">
            <a:avLst/>
          </a:prstGeom>
          <a:noFill/>
        </p:spPr>
        <p:txBody>
          <a:bodyPr wrap="none" rtlCol="0">
            <a:spAutoFit/>
          </a:bodyPr>
          <a:lstStyle/>
          <a:p>
            <a:r>
              <a:rPr lang="zh-CN" altLang="en-US" sz="3600" dirty="0"/>
              <a:t>项目目标</a:t>
            </a:r>
          </a:p>
        </p:txBody>
      </p:sp>
    </p:spTree>
    <p:extLst>
      <p:ext uri="{BB962C8B-B14F-4D97-AF65-F5344CB8AC3E}">
        <p14:creationId xmlns:p14="http://schemas.microsoft.com/office/powerpoint/2010/main" val="3963909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2D394-387A-4F22-97BE-2FE657D93652}"/>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CE8A398E-F472-46D2-807B-2468FE97D049}"/>
              </a:ext>
            </a:extLst>
          </p:cNvPr>
          <p:cNvSpPr>
            <a:spLocks noGrp="1"/>
          </p:cNvSpPr>
          <p:nvPr>
            <p:ph idx="1"/>
          </p:nvPr>
        </p:nvSpPr>
        <p:spPr/>
        <p:txBody>
          <a:bodyPr/>
          <a:lstStyle/>
          <a:p>
            <a:endParaRPr lang="zh-CN" altLang="en-US" dirty="0"/>
          </a:p>
        </p:txBody>
      </p:sp>
      <p:sp>
        <p:nvSpPr>
          <p:cNvPr id="4" name="箭头: 右 3">
            <a:extLst>
              <a:ext uri="{FF2B5EF4-FFF2-40B4-BE49-F238E27FC236}">
                <a16:creationId xmlns:a16="http://schemas.microsoft.com/office/drawing/2014/main" id="{ECB2CD8F-8709-4492-88B7-BB6392DD24BC}"/>
              </a:ext>
            </a:extLst>
          </p:cNvPr>
          <p:cNvSpPr/>
          <p:nvPr/>
        </p:nvSpPr>
        <p:spPr>
          <a:xfrm>
            <a:off x="1109710" y="3284738"/>
            <a:ext cx="7998780" cy="736847"/>
          </a:xfrm>
          <a:prstGeom prst="rightArrow">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n w="0"/>
              <a:solidFill>
                <a:schemeClr val="accent1"/>
              </a:solidFill>
              <a:effectLst>
                <a:outerShdw blurRad="38100" dist="25400" dir="5400000" algn="ctr" rotWithShape="0">
                  <a:srgbClr val="6E747A">
                    <a:alpha val="43000"/>
                  </a:srgbClr>
                </a:outerShdw>
              </a:effectLst>
            </a:endParaRPr>
          </a:p>
        </p:txBody>
      </p:sp>
      <p:sp>
        <p:nvSpPr>
          <p:cNvPr id="5" name="矩形: 圆角 4">
            <a:extLst>
              <a:ext uri="{FF2B5EF4-FFF2-40B4-BE49-F238E27FC236}">
                <a16:creationId xmlns:a16="http://schemas.microsoft.com/office/drawing/2014/main" id="{BDCB660C-6181-4FCF-AB18-070E6F74F714}"/>
              </a:ext>
            </a:extLst>
          </p:cNvPr>
          <p:cNvSpPr/>
          <p:nvPr/>
        </p:nvSpPr>
        <p:spPr>
          <a:xfrm>
            <a:off x="1227751"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注册</a:t>
            </a:r>
          </a:p>
        </p:txBody>
      </p:sp>
      <p:sp>
        <p:nvSpPr>
          <p:cNvPr id="6" name="矩形: 圆角 5">
            <a:extLst>
              <a:ext uri="{FF2B5EF4-FFF2-40B4-BE49-F238E27FC236}">
                <a16:creationId xmlns:a16="http://schemas.microsoft.com/office/drawing/2014/main" id="{D0789EC4-1056-4711-8D4A-156D4AF3EED1}"/>
              </a:ext>
            </a:extLst>
          </p:cNvPr>
          <p:cNvSpPr/>
          <p:nvPr/>
        </p:nvSpPr>
        <p:spPr>
          <a:xfrm>
            <a:off x="3157696"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创建仓库</a:t>
            </a:r>
          </a:p>
        </p:txBody>
      </p:sp>
      <p:sp>
        <p:nvSpPr>
          <p:cNvPr id="7" name="矩形: 圆角 6">
            <a:extLst>
              <a:ext uri="{FF2B5EF4-FFF2-40B4-BE49-F238E27FC236}">
                <a16:creationId xmlns:a16="http://schemas.microsoft.com/office/drawing/2014/main" id="{89557D3B-F67D-43B5-90E2-772B125B0E19}"/>
              </a:ext>
            </a:extLst>
          </p:cNvPr>
          <p:cNvSpPr/>
          <p:nvPr/>
        </p:nvSpPr>
        <p:spPr>
          <a:xfrm>
            <a:off x="5087641" y="291631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400" dirty="0"/>
              <a:t>SSH</a:t>
            </a:r>
          </a:p>
          <a:p>
            <a:pPr algn="ctr"/>
            <a:r>
              <a:rPr lang="zh-CN" altLang="en-US" sz="2400" dirty="0"/>
              <a:t>配置</a:t>
            </a:r>
          </a:p>
        </p:txBody>
      </p:sp>
      <p:sp>
        <p:nvSpPr>
          <p:cNvPr id="8" name="矩形: 圆角 7">
            <a:extLst>
              <a:ext uri="{FF2B5EF4-FFF2-40B4-BE49-F238E27FC236}">
                <a16:creationId xmlns:a16="http://schemas.microsoft.com/office/drawing/2014/main" id="{9B6DDE60-6BEB-406F-A574-F36F4B8A0CF8}"/>
              </a:ext>
            </a:extLst>
          </p:cNvPr>
          <p:cNvSpPr/>
          <p:nvPr/>
        </p:nvSpPr>
        <p:spPr>
          <a:xfrm>
            <a:off x="7017586" y="291409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上传代码</a:t>
            </a:r>
          </a:p>
        </p:txBody>
      </p:sp>
    </p:spTree>
    <p:extLst>
      <p:ext uri="{BB962C8B-B14F-4D97-AF65-F5344CB8AC3E}">
        <p14:creationId xmlns:p14="http://schemas.microsoft.com/office/powerpoint/2010/main" val="10902955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E2B17-EB42-49C9-A201-418E2853CD9A}"/>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951D0CC1-8ADE-47FE-BD4A-E4450D760A30}"/>
              </a:ext>
            </a:extLst>
          </p:cNvPr>
          <p:cNvSpPr>
            <a:spLocks noGrp="1"/>
          </p:cNvSpPr>
          <p:nvPr>
            <p:ph idx="1"/>
          </p:nvPr>
        </p:nvSpPr>
        <p:spPr>
          <a:xfrm>
            <a:off x="1797666" y="2648860"/>
            <a:ext cx="8596668" cy="3880773"/>
          </a:xfrm>
        </p:spPr>
        <p:txBody>
          <a:bodyPr>
            <a:normAutofit/>
          </a:bodyPr>
          <a:lstStyle/>
          <a:p>
            <a:pPr marL="0" indent="0">
              <a:buNone/>
            </a:pPr>
            <a:r>
              <a:rPr lang="en-US" altLang="zh-CN" sz="9600" dirty="0">
                <a:solidFill>
                  <a:srgbClr val="92D050"/>
                </a:solidFill>
              </a:rPr>
              <a:t>THANK  YOU</a:t>
            </a:r>
            <a:endParaRPr lang="zh-CN" altLang="en-US" sz="9600" dirty="0">
              <a:solidFill>
                <a:srgbClr val="92D050"/>
              </a:solidFill>
            </a:endParaRPr>
          </a:p>
        </p:txBody>
      </p:sp>
    </p:spTree>
    <p:extLst>
      <p:ext uri="{BB962C8B-B14F-4D97-AF65-F5344CB8AC3E}">
        <p14:creationId xmlns:p14="http://schemas.microsoft.com/office/powerpoint/2010/main" val="3984419624"/>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117</TotalTime>
  <Words>3570</Words>
  <Application>Microsoft Office PowerPoint</Application>
  <PresentationFormat>宽屏</PresentationFormat>
  <Paragraphs>229</Paragraphs>
  <Slides>48</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0" baseType="lpstr">
      <vt:lpstr>等线</vt:lpstr>
      <vt:lpstr>方正姚体</vt:lpstr>
      <vt:lpstr>华文琥珀</vt:lpstr>
      <vt:lpstr>华文新魏</vt:lpstr>
      <vt:lpstr>Aharoni</vt:lpstr>
      <vt:lpstr>Arial</vt:lpstr>
      <vt:lpstr>Bahnschrift SemiBold</vt:lpstr>
      <vt:lpstr>Times New Roman</vt:lpstr>
      <vt:lpstr>Trebuchet MS</vt:lpstr>
      <vt:lpstr>Wingdings 3</vt:lpstr>
      <vt:lpstr>平面</vt:lpstr>
      <vt:lpstr>Microsoft Visio 绘图</vt:lpstr>
      <vt:lpstr>回顾</vt:lpstr>
      <vt:lpstr>云计算的服务</vt:lpstr>
      <vt:lpstr>目录</vt:lpstr>
      <vt:lpstr>1.云计算的服务</vt:lpstr>
      <vt:lpstr>云计算的服务</vt:lpstr>
      <vt:lpstr>云计算的服务</vt:lpstr>
      <vt:lpstr>云计算的服务</vt:lpstr>
      <vt:lpstr>云计算的服务</vt:lpstr>
      <vt:lpstr>云计算的服务</vt:lpstr>
      <vt:lpstr>云计算的服务</vt:lpstr>
      <vt:lpstr>云计算的服务</vt:lpstr>
      <vt:lpstr>云计算的服务</vt:lpstr>
      <vt:lpstr>云计算的服务</vt:lpstr>
      <vt:lpstr>2.三种服务模式</vt:lpstr>
      <vt:lpstr>软件即服务SaaS</vt:lpstr>
      <vt:lpstr>软件即服务SaaS</vt:lpstr>
      <vt:lpstr>软件即服务SaaS</vt:lpstr>
      <vt:lpstr>软件即服务SaaS</vt:lpstr>
      <vt:lpstr>软件即服务SaaS</vt:lpstr>
      <vt:lpstr>平台即服务PaaS</vt:lpstr>
      <vt:lpstr>平台即服务PaaS</vt:lpstr>
      <vt:lpstr>平台即服务PaaS</vt:lpstr>
      <vt:lpstr>平台即服务PaaS</vt:lpstr>
      <vt:lpstr>平台即服务PaaS</vt:lpstr>
      <vt:lpstr>平台即服务PaaS</vt:lpstr>
      <vt:lpstr>平台即服务PaaS</vt:lpstr>
      <vt:lpstr>基础设施即服务IaaS</vt:lpstr>
      <vt:lpstr>基础设施即服务IaaS</vt:lpstr>
      <vt:lpstr>基础设施即服务IaaS</vt:lpstr>
      <vt:lpstr>基础设施即服务IaaS</vt:lpstr>
      <vt:lpstr>基础设施即服务IaaS</vt:lpstr>
      <vt:lpstr>基础设施即服务IaaS</vt:lpstr>
      <vt:lpstr>三种服务模式的关系</vt:lpstr>
      <vt:lpstr>三种服务模式的关系</vt:lpstr>
      <vt:lpstr>三种服务模式的关系</vt:lpstr>
      <vt:lpstr>三种服务模式的关系</vt:lpstr>
      <vt:lpstr>三种服务模式的关系</vt:lpstr>
      <vt:lpstr>三种服务模式的关系</vt:lpstr>
      <vt:lpstr>3.云计算服务模式例</vt:lpstr>
      <vt:lpstr>天翼云</vt:lpstr>
      <vt:lpstr>天翼云</vt:lpstr>
      <vt:lpstr>天翼云</vt:lpstr>
      <vt:lpstr>天翼云</vt:lpstr>
      <vt:lpstr>天翼云</vt:lpstr>
      <vt:lpstr>4. 实战项目</vt:lpstr>
      <vt:lpstr>实战项目</vt:lpstr>
      <vt:lpstr>实战项目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titan</dc:creator>
  <cp:lastModifiedBy>titan</cp:lastModifiedBy>
  <cp:revision>143</cp:revision>
  <dcterms:created xsi:type="dcterms:W3CDTF">2020-10-04T02:51:01Z</dcterms:created>
  <dcterms:modified xsi:type="dcterms:W3CDTF">2020-10-05T03:20:20Z</dcterms:modified>
</cp:coreProperties>
</file>