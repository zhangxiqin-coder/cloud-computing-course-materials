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embeddings/Microsoft_Visio_Drawing.vsdx" ContentType="application/vnd.ms-visio.drawing"/>
  <Override PartName="/ppt/embeddings/Microsoft_Visio_Drawing1.vsdx" ContentType="application/vnd.ms-visio.drawing"/>
  <Override PartName="/ppt/embeddings/Microsoft_Visio_Drawing2.vsdx" ContentType="application/vnd.ms-visio.drawin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8"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9"/>
    <p:sldId id="300" r:id="rId50"/>
    <p:sldId id="301" r:id="rId51"/>
    <p:sldId id="302" r:id="rId52"/>
    <p:sldId id="303" r:id="rId53"/>
    <p:sldId id="304" r:id="rId54"/>
    <p:sldId id="305"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2A54C80-263E-416B-A8E0-580EDEADCBDC}" type="datetimeFigureOut">
              <a:rPr lang="en-US" dirty="0"/>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10/5/2020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package" Target="../embeddings/Microsoft_Visio_Drawing.vsdx"/><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2.xml"/><Relationship Id="rId3" Type="http://schemas.openxmlformats.org/officeDocument/2006/relationships/package" Target="../embeddings/Microsoft_Visio_Drawing1.vsdx"/><Relationship Id="rId4" Type="http://schemas.openxmlformats.org/officeDocument/2006/relationships/image" Target="../media/image2.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2.xml"/><Relationship Id="rId3" Type="http://schemas.openxmlformats.org/officeDocument/2006/relationships/package" Target="../embeddings/Microsoft_Visio_Drawing2.vsdx"/><Relationship Id="rId4" Type="http://schemas.openxmlformats.org/officeDocument/2006/relationships/image" Target="../media/image3.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6C702D-7084-45F9-9146-56E4AC7B66EC}"/>
              </a:ext>
            </a:extLst>
          </p:cNvPr>
          <p:cNvSpPr>
            <a:spLocks noGrp="1"/>
          </p:cNvSpPr>
          <p:nvPr>
            <p:ph type="ctrTitle"/>
          </p:nvPr>
        </p:nvSpPr>
        <p:spPr/>
        <p:txBody>
          <a:bodyPr/>
          <a:lstStyle/>
          <a:p>
            <a:r>
              <a:rPr lang="zh-CN" altLang="en-US" dirty="0"/>
              <a:t>云计算的简介</a:t>
            </a:r>
          </a:p>
        </p:txBody>
      </p:sp>
      <p:sp>
        <p:nvSpPr>
          <p:cNvPr id="3" name="副标题 2">
            <a:extLst>
              <a:ext uri="{FF2B5EF4-FFF2-40B4-BE49-F238E27FC236}">
                <a16:creationId xmlns:a16="http://schemas.microsoft.com/office/drawing/2014/main" id="{CF151BEC-9B77-4994-9B79-C5EEE165587B}"/>
              </a:ext>
            </a:extLst>
          </p:cNvPr>
          <p:cNvSpPr>
            <a:spLocks noGrp="1"/>
          </p:cNvSpPr>
          <p:nvPr>
            <p:ph type="subTitle" idx="1"/>
          </p:nvPr>
        </p:nvSpPr>
        <p:spPr/>
        <p:txBody>
          <a:bodyPr/>
          <a:lstStyle/>
          <a:p>
            <a:r>
              <a:rPr lang="zh-CN" altLang="en-US" dirty="0"/>
              <a:t>第一章</a:t>
            </a:r>
          </a:p>
        </p:txBody>
      </p:sp>
      <p:sp>
        <p:nvSpPr>
          <p:cNvPr id="4" name="TextBox 3"/>
          <p:cNvSpPr txBox="1"/>
          <p:nvPr/>
        </p:nvSpPr>
        <p:spPr>
          <a:xfrm>
            <a:off x="457200" y="5486400"/>
            <a:ext cx="11247120" cy="1005840"/>
          </a:xfrm>
          <a:prstGeom prst="rect">
            <a:avLst/>
          </a:prstGeom>
          <a:solidFill>
            <a:srgbClr val="FDF1E0"/>
          </a:solidFill>
          <a:ln w="19050">
            <a:solidFill>
              <a:srgbClr val="F38B00"/>
            </a:solidFill>
          </a:ln>
        </p:spPr>
        <p:txBody>
          <a:bodyPr wrap="square" lIns="152400" rIns="152400" tIns="76200" bIns="76200">
            <a:spAutoFit/>
          </a:bodyPr>
          <a:lstStyle/>
          <a:p>
            <a:pPr algn="l"/>
            <a:r>
              <a:rPr sz="1600" b="1">
                <a:solidFill>
                  <a:srgbClr val="F38B00"/>
                </a:solidFill>
              </a:rPr>
              <a:t>思考题  </a:t>
            </a:r>
            <a:r>
              <a:rPr sz="1600">
                <a:solidFill>
                  <a:srgbClr val="404040"/>
                </a:solidFill>
                <a:latin typeface="微软雅黑"/>
              </a:rPr>
              <a:t>你手机里的照片存在哪里？微信消息存在哪里？它们在“云端”吗？</a:t>
            </a:r>
          </a:p>
        </p:txBody>
      </p:sp>
    </p:spTree>
    <p:extLst>
      <p:ext uri="{BB962C8B-B14F-4D97-AF65-F5344CB8AC3E}">
        <p14:creationId xmlns:p14="http://schemas.microsoft.com/office/powerpoint/2010/main" val="3043588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03C91C-01B4-4274-9411-287B2C3F3BD8}"/>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8CC976CF-5624-40FF-9EF6-23206D5AAAA4}"/>
              </a:ext>
            </a:extLst>
          </p:cNvPr>
          <p:cNvSpPr>
            <a:spLocks noGrp="1"/>
          </p:cNvSpPr>
          <p:nvPr>
            <p:ph idx="1"/>
          </p:nvPr>
        </p:nvSpPr>
        <p:spPr/>
        <p:txBody>
          <a:bodyPr>
            <a:normAutofit/>
          </a:bodyPr>
          <a:lstStyle/>
          <a:p>
            <a:r>
              <a:rPr lang="en-US" altLang="zh-CN" sz="3200" dirty="0">
                <a:solidFill>
                  <a:srgbClr val="00B050"/>
                </a:solidFill>
                <a:latin typeface="Bahnschrift SemiBold" panose="020B0502040204020203" pitchFamily="34" charset="0"/>
                <a:cs typeface="Aharoni" panose="020B0604020202020204" pitchFamily="2" charset="-79"/>
              </a:rPr>
              <a:t>01 </a:t>
            </a:r>
            <a:r>
              <a:rPr lang="zh-CN" altLang="en-US" sz="3200" dirty="0">
                <a:solidFill>
                  <a:srgbClr val="00B050"/>
                </a:solidFill>
                <a:latin typeface="Bahnschrift SemiBold" panose="020B0502040204020203" pitchFamily="34" charset="0"/>
                <a:cs typeface="Aharoni" panose="020B0604020202020204" pitchFamily="2" charset="-79"/>
              </a:rPr>
              <a:t>云计算的概念</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02 </a:t>
            </a:r>
            <a:r>
              <a:rPr lang="zh-CN" altLang="en-US" sz="3200" dirty="0">
                <a:solidFill>
                  <a:srgbClr val="00B050"/>
                </a:solidFill>
                <a:latin typeface="Bahnschrift SemiBold" panose="020B0502040204020203" pitchFamily="34" charset="0"/>
                <a:cs typeface="Aharoni" panose="020B0604020202020204" pitchFamily="2" charset="-79"/>
              </a:rPr>
              <a:t>云计算的内涵</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03 </a:t>
            </a:r>
            <a:r>
              <a:rPr lang="zh-CN" altLang="en-US" sz="3200" dirty="0">
                <a:solidFill>
                  <a:srgbClr val="00B050"/>
                </a:solidFill>
                <a:latin typeface="Bahnschrift SemiBold" panose="020B0502040204020203" pitchFamily="34" charset="0"/>
                <a:cs typeface="Aharoni" panose="020B0604020202020204" pitchFamily="2" charset="-79"/>
              </a:rPr>
              <a:t>云计算的发展历史</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04 </a:t>
            </a:r>
            <a:r>
              <a:rPr lang="zh-CN" altLang="en-US" sz="3200" dirty="0">
                <a:solidFill>
                  <a:srgbClr val="00B050"/>
                </a:solidFill>
                <a:latin typeface="Bahnschrift SemiBold" panose="020B0502040204020203" pitchFamily="34" charset="0"/>
                <a:cs typeface="Aharoni" panose="020B0604020202020204" pitchFamily="2" charset="-79"/>
              </a:rPr>
              <a:t>其他计算</a:t>
            </a:r>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05 </a:t>
            </a:r>
            <a:r>
              <a:rPr lang="zh-CN" altLang="en-US" sz="3200" dirty="0">
                <a:solidFill>
                  <a:srgbClr val="00B050"/>
                </a:solidFill>
                <a:latin typeface="Bahnschrift SemiBold" panose="020B0502040204020203" pitchFamily="34" charset="0"/>
                <a:cs typeface="Aharoni" panose="020B0604020202020204" pitchFamily="2" charset="-79"/>
              </a:rPr>
              <a:t>实战项目</a:t>
            </a:r>
            <a:r>
              <a:rPr lang="en-US" altLang="zh-CN" sz="3200" dirty="0">
                <a:solidFill>
                  <a:srgbClr val="00B050"/>
                </a:solidFill>
                <a:latin typeface="Bahnschrift SemiBold" panose="020B0502040204020203" pitchFamily="34" charset="0"/>
                <a:cs typeface="Aharoni" panose="020B0604020202020204" pitchFamily="2" charset="-79"/>
              </a:rPr>
              <a:t>--</a:t>
            </a:r>
            <a:r>
              <a:rPr lang="zh-CN" altLang="en-US" sz="3200" dirty="0">
                <a:solidFill>
                  <a:srgbClr val="00B050"/>
                </a:solidFill>
                <a:latin typeface="Bahnschrift SemiBold" panose="020B0502040204020203" pitchFamily="34" charset="0"/>
                <a:cs typeface="Aharoni" panose="020B0604020202020204" pitchFamily="2" charset="-79"/>
              </a:rPr>
              <a:t>多人共同使用云</a:t>
            </a:r>
            <a:r>
              <a:rPr lang="en-US" altLang="zh-CN" sz="3200" dirty="0">
                <a:solidFill>
                  <a:srgbClr val="00B050"/>
                </a:solidFill>
                <a:latin typeface="Bahnschrift SemiBold" panose="020B0502040204020203" pitchFamily="34" charset="0"/>
                <a:cs typeface="Aharoni" panose="020B0604020202020204" pitchFamily="2" charset="-79"/>
              </a:rPr>
              <a:t>Office</a:t>
            </a:r>
            <a:endParaRPr lang="zh-CN" altLang="en-US" sz="3200" dirty="0">
              <a:solidFill>
                <a:srgbClr val="00B050"/>
              </a:solidFill>
              <a:latin typeface="Bahnschrift SemiBold" panose="020B0502040204020203" pitchFamily="34" charset="0"/>
              <a:cs typeface="Aharoni" panose="020B0604020202020204" pitchFamily="2" charset="-79"/>
            </a:endParaRPr>
          </a:p>
        </p:txBody>
      </p:sp>
      <p:sp>
        <p:nvSpPr>
          <p:cNvPr id="4" name="TextBox 3"/>
          <p:cNvSpPr txBox="1"/>
          <p:nvPr/>
        </p:nvSpPr>
        <p:spPr>
          <a:xfrm>
            <a:off x="457200" y="5486400"/>
            <a:ext cx="11247120" cy="1005840"/>
          </a:xfrm>
          <a:prstGeom prst="rect">
            <a:avLst/>
          </a:prstGeom>
          <a:solidFill>
            <a:srgbClr val="FDF1E0"/>
          </a:solidFill>
          <a:ln w="19050">
            <a:solidFill>
              <a:srgbClr val="F38B00"/>
            </a:solidFill>
          </a:ln>
        </p:spPr>
        <p:txBody>
          <a:bodyPr wrap="square" lIns="152400" rIns="152400" tIns="76200" bIns="76200">
            <a:spAutoFit/>
          </a:bodyPr>
          <a:lstStyle/>
          <a:p>
            <a:pPr algn="l"/>
            <a:r>
              <a:rPr sz="1600" b="1">
                <a:solidFill>
                  <a:srgbClr val="F38B00"/>
                </a:solidFill>
              </a:rPr>
              <a:t>思考题  </a:t>
            </a:r>
            <a:r>
              <a:rPr sz="1600">
                <a:solidFill>
                  <a:srgbClr val="404040"/>
                </a:solidFill>
                <a:latin typeface="微软雅黑"/>
              </a:rPr>
              <a:t>学完这章你能回答：云计算到底是什么？它和我们用的网盘有什么区别？</a:t>
            </a:r>
          </a:p>
        </p:txBody>
      </p:sp>
    </p:spTree>
    <p:extLst>
      <p:ext uri="{BB962C8B-B14F-4D97-AF65-F5344CB8AC3E}">
        <p14:creationId xmlns:p14="http://schemas.microsoft.com/office/powerpoint/2010/main" val="3696824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2142150"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1.</a:t>
            </a:r>
            <a:r>
              <a:rPr lang="zh-CN" altLang="en-US" sz="7200" dirty="0">
                <a:latin typeface="华文琥珀" panose="02010800040101010101" pitchFamily="2" charset="-122"/>
                <a:ea typeface="华文琥珀" panose="02010800040101010101" pitchFamily="2" charset="-122"/>
              </a:rPr>
              <a:t>云计算的概念</a:t>
            </a:r>
          </a:p>
        </p:txBody>
      </p:sp>
      <p:sp>
        <p:nvSpPr>
          <p:cNvPr id="3" name="TextBox 2"/>
          <p:cNvSpPr txBox="1"/>
          <p:nvPr/>
        </p:nvSpPr>
        <p:spPr>
          <a:xfrm>
            <a:off x="457200" y="5486400"/>
            <a:ext cx="11247120" cy="1005840"/>
          </a:xfrm>
          <a:prstGeom prst="rect">
            <a:avLst/>
          </a:prstGeom>
          <a:solidFill>
            <a:srgbClr val="FDF1E0"/>
          </a:solidFill>
          <a:ln w="19050">
            <a:solidFill>
              <a:srgbClr val="F38B00"/>
            </a:solidFill>
          </a:ln>
        </p:spPr>
        <p:txBody>
          <a:bodyPr wrap="square" lIns="152400" rIns="152400" tIns="76200" bIns="76200">
            <a:spAutoFit/>
          </a:bodyPr>
          <a:lstStyle/>
          <a:p>
            <a:pPr algn="l"/>
            <a:r>
              <a:rPr sz="1600" b="1">
                <a:solidFill>
                  <a:srgbClr val="F38B00"/>
                </a:solidFill>
              </a:rPr>
              <a:t>思考题  </a:t>
            </a:r>
            <a:r>
              <a:rPr sz="1600">
                <a:solidFill>
                  <a:srgbClr val="404040"/>
                </a:solidFill>
                <a:latin typeface="微软雅黑"/>
              </a:rPr>
              <a:t>你心中的“云”是什么？说说你生活中用到的“云”服务。</a:t>
            </a:r>
          </a:p>
        </p:txBody>
      </p:sp>
    </p:spTree>
    <p:extLst>
      <p:ext uri="{BB962C8B-B14F-4D97-AF65-F5344CB8AC3E}">
        <p14:creationId xmlns:p14="http://schemas.microsoft.com/office/powerpoint/2010/main" val="3904115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云计算的概念</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774988" y="3066113"/>
            <a:ext cx="8596668" cy="2367022"/>
          </a:xfrm>
        </p:spPr>
        <p:txBody>
          <a:bodyPr>
            <a:normAutofit/>
          </a:bodyPr>
          <a:lstStyle/>
          <a:p>
            <a:r>
              <a:rPr lang="zh-CN" altLang="zh-CN" sz="2800" dirty="0"/>
              <a:t>云计算（</a:t>
            </a:r>
            <a:r>
              <a:rPr lang="en-US" altLang="zh-CN" sz="2800" dirty="0"/>
              <a:t>Cloud Computing</a:t>
            </a:r>
            <a:r>
              <a:rPr lang="zh-CN" altLang="zh-CN" sz="2800" dirty="0"/>
              <a:t>）是一个新概念，产生的历史并不长，但对云计算的定义有多种说法。</a:t>
            </a:r>
          </a:p>
        </p:txBody>
      </p:sp>
    </p:spTree>
    <p:extLst>
      <p:ext uri="{BB962C8B-B14F-4D97-AF65-F5344CB8AC3E}">
        <p14:creationId xmlns:p14="http://schemas.microsoft.com/office/powerpoint/2010/main" val="212837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04E134-9CE1-4A03-97AF-696DDE56E1BA}"/>
              </a:ext>
            </a:extLst>
          </p:cNvPr>
          <p:cNvSpPr>
            <a:spLocks noGrp="1"/>
          </p:cNvSpPr>
          <p:nvPr>
            <p:ph type="title"/>
          </p:nvPr>
        </p:nvSpPr>
        <p:spPr/>
        <p:txBody>
          <a:bodyPr/>
          <a:lstStyle/>
          <a:p>
            <a:r>
              <a:rPr lang="zh-CN" altLang="en-US" dirty="0"/>
              <a:t>云计算的概念</a:t>
            </a:r>
          </a:p>
        </p:txBody>
      </p:sp>
      <p:sp>
        <p:nvSpPr>
          <p:cNvPr id="3" name="内容占位符 2">
            <a:extLst>
              <a:ext uri="{FF2B5EF4-FFF2-40B4-BE49-F238E27FC236}">
                <a16:creationId xmlns:a16="http://schemas.microsoft.com/office/drawing/2014/main" id="{1870AE20-2604-4A77-83E3-5BA5736877DA}"/>
              </a:ext>
            </a:extLst>
          </p:cNvPr>
          <p:cNvSpPr>
            <a:spLocks noGrp="1"/>
          </p:cNvSpPr>
          <p:nvPr>
            <p:ph idx="1"/>
          </p:nvPr>
        </p:nvSpPr>
        <p:spPr/>
        <p:txBody>
          <a:bodyPr>
            <a:normAutofit/>
          </a:bodyPr>
          <a:lstStyle/>
          <a:p>
            <a:r>
              <a:rPr lang="zh-CN" altLang="zh-CN" sz="2400" dirty="0"/>
              <a:t>（</a:t>
            </a:r>
            <a:r>
              <a:rPr lang="en-US" altLang="zh-CN" sz="2400" dirty="0"/>
              <a:t>1</a:t>
            </a:r>
            <a:r>
              <a:rPr lang="zh-CN" altLang="zh-CN" sz="2400" dirty="0"/>
              <a:t>）厂商角度：云计算的“云”是存在于互联网服务器集群上的资源，它包括硬件资源（如</a:t>
            </a:r>
            <a:r>
              <a:rPr lang="en-US" altLang="zh-CN" sz="2400" dirty="0"/>
              <a:t>CPU</a:t>
            </a:r>
            <a:r>
              <a:rPr lang="zh-CN" altLang="zh-CN" sz="2400" dirty="0"/>
              <a:t>处理器、内存储器、外存储器、显卡、网络设备、输入输出设备等）和软件资源（如操作系统、数据库、集成开发环境等），所有的计算都在云计算服务提供商所提供的计算机集群上完成。</a:t>
            </a:r>
          </a:p>
          <a:p>
            <a:r>
              <a:rPr lang="zh-CN" altLang="zh-CN" sz="2400" dirty="0"/>
              <a:t>（</a:t>
            </a:r>
            <a:r>
              <a:rPr lang="en-US" altLang="zh-CN" sz="2400" dirty="0"/>
              <a:t>2</a:t>
            </a:r>
            <a:r>
              <a:rPr lang="zh-CN" altLang="zh-CN" sz="2400" dirty="0"/>
              <a:t>）用户角度：云计算是指技术开发者或者企业用户以免费或按需租用方式，利用云计算服务提供商基于分布式计算和虚拟化技术搭建的计算中心或超级计算机，使用数据存储、分析以及科学计算等服务。</a:t>
            </a:r>
          </a:p>
          <a:p>
            <a:endParaRPr lang="zh-CN" altLang="en-US" dirty="0"/>
          </a:p>
        </p:txBody>
      </p:sp>
    </p:spTree>
    <p:extLst>
      <p:ext uri="{BB962C8B-B14F-4D97-AF65-F5344CB8AC3E}">
        <p14:creationId xmlns:p14="http://schemas.microsoft.com/office/powerpoint/2010/main" val="2041449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04E134-9CE1-4A03-97AF-696DDE56E1BA}"/>
              </a:ext>
            </a:extLst>
          </p:cNvPr>
          <p:cNvSpPr>
            <a:spLocks noGrp="1"/>
          </p:cNvSpPr>
          <p:nvPr>
            <p:ph type="title"/>
          </p:nvPr>
        </p:nvSpPr>
        <p:spPr/>
        <p:txBody>
          <a:bodyPr/>
          <a:lstStyle/>
          <a:p>
            <a:r>
              <a:rPr lang="zh-CN" altLang="en-US" dirty="0"/>
              <a:t>云计算的概念</a:t>
            </a:r>
          </a:p>
        </p:txBody>
      </p:sp>
      <p:sp>
        <p:nvSpPr>
          <p:cNvPr id="3" name="内容占位符 2">
            <a:extLst>
              <a:ext uri="{FF2B5EF4-FFF2-40B4-BE49-F238E27FC236}">
                <a16:creationId xmlns:a16="http://schemas.microsoft.com/office/drawing/2014/main" id="{1870AE20-2604-4A77-83E3-5BA5736877DA}"/>
              </a:ext>
            </a:extLst>
          </p:cNvPr>
          <p:cNvSpPr>
            <a:spLocks noGrp="1"/>
          </p:cNvSpPr>
          <p:nvPr>
            <p:ph idx="1"/>
          </p:nvPr>
        </p:nvSpPr>
        <p:spPr/>
        <p:txBody>
          <a:bodyPr>
            <a:normAutofit lnSpcReduction="10000"/>
          </a:bodyPr>
          <a:lstStyle/>
          <a:p>
            <a:r>
              <a:rPr lang="zh-CN" altLang="zh-CN" sz="2400" dirty="0"/>
              <a:t>（</a:t>
            </a:r>
            <a:r>
              <a:rPr lang="en-US" altLang="zh-CN" sz="2400" dirty="0"/>
              <a:t>3</a:t>
            </a:r>
            <a:r>
              <a:rPr lang="zh-CN" altLang="zh-CN" sz="2400" dirty="0"/>
              <a:t>）抽象角度：云计算是指一种商业计算模型，它将计算任务分布在大量计算机构成的资源池上，使各种应用系统能够根据需要获取计算力、存储空间和信息服务。</a:t>
            </a:r>
          </a:p>
          <a:p>
            <a:r>
              <a:rPr lang="zh-CN" altLang="zh-CN" sz="2400" dirty="0"/>
              <a:t>（</a:t>
            </a:r>
            <a:r>
              <a:rPr lang="en-US" altLang="zh-CN" sz="2400" dirty="0"/>
              <a:t>4</a:t>
            </a:r>
            <a:r>
              <a:rPr lang="zh-CN" altLang="zh-CN" sz="2400" dirty="0"/>
              <a:t>）正式的定义：云计算是一种按使用量付费的模式，这种模式提供可用的、便捷的、按需的网络访问，进入可配置的计算资源共享池（资源包括网络、服务器、存储、应用软件、服务），这些资源能够被快速提供，只需投入很少的管理工作，或与服务供应商进行很少的交互。这是美国国家标准与技术研究院（</a:t>
            </a:r>
            <a:r>
              <a:rPr lang="en-US" altLang="zh-CN" sz="2400" dirty="0"/>
              <a:t>Commerce Department’s National Institute of Standards and Technology </a:t>
            </a:r>
            <a:r>
              <a:rPr lang="zh-CN" altLang="zh-CN" sz="2400" dirty="0"/>
              <a:t>，</a:t>
            </a:r>
            <a:r>
              <a:rPr lang="en-US" altLang="zh-CN" sz="2400" dirty="0"/>
              <a:t> NIST</a:t>
            </a:r>
            <a:r>
              <a:rPr lang="zh-CN" altLang="zh-CN" sz="2400" dirty="0"/>
              <a:t>）对云计算的定义，是被大众广泛接受的定义。</a:t>
            </a:r>
          </a:p>
          <a:p>
            <a:endParaRPr lang="zh-CN" altLang="en-US" sz="2400" dirty="0"/>
          </a:p>
        </p:txBody>
      </p:sp>
    </p:spTree>
    <p:extLst>
      <p:ext uri="{BB962C8B-B14F-4D97-AF65-F5344CB8AC3E}">
        <p14:creationId xmlns:p14="http://schemas.microsoft.com/office/powerpoint/2010/main" val="2991766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2142150"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2.</a:t>
            </a:r>
            <a:r>
              <a:rPr lang="zh-CN" altLang="en-US" sz="7200" dirty="0">
                <a:latin typeface="华文琥珀" panose="02010800040101010101" pitchFamily="2" charset="-122"/>
                <a:ea typeface="华文琥珀" panose="02010800040101010101" pitchFamily="2" charset="-122"/>
              </a:rPr>
              <a:t>云计算的内涵</a:t>
            </a:r>
          </a:p>
        </p:txBody>
      </p:sp>
    </p:spTree>
    <p:extLst>
      <p:ext uri="{BB962C8B-B14F-4D97-AF65-F5344CB8AC3E}">
        <p14:creationId xmlns:p14="http://schemas.microsoft.com/office/powerpoint/2010/main" val="1208245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云计算的内涵</a:t>
            </a:r>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zh-CN" altLang="zh-CN" sz="2400" dirty="0"/>
              <a:t>对云计算概念的定义虽然很多，但脱离不开一个名词，即互联网。</a:t>
            </a:r>
            <a:endParaRPr lang="en-US" altLang="zh-CN" sz="2400" dirty="0"/>
          </a:p>
          <a:p>
            <a:r>
              <a:rPr lang="zh-CN" altLang="zh-CN" sz="2400" dirty="0"/>
              <a:t>可以说，</a:t>
            </a:r>
            <a:r>
              <a:rPr lang="en-US" altLang="zh-CN" sz="2400" dirty="0"/>
              <a:t>“</a:t>
            </a:r>
            <a:r>
              <a:rPr lang="zh-CN" altLang="zh-CN" sz="2400" dirty="0"/>
              <a:t>云</a:t>
            </a:r>
            <a:r>
              <a:rPr lang="en-US" altLang="zh-CN" sz="2400" dirty="0"/>
              <a:t>”</a:t>
            </a:r>
            <a:r>
              <a:rPr lang="zh-CN" altLang="zh-CN" sz="2400" dirty="0"/>
              <a:t>是互联网的一种比喻说法。而云计算可以被认为是基于互联网的相关服务的增加、使用和交付模式，通常涉及通过互联网来提供动态易扩展的资源。</a:t>
            </a:r>
            <a:endParaRPr lang="en-US" altLang="zh-CN" sz="2400" dirty="0"/>
          </a:p>
          <a:p>
            <a:r>
              <a:rPr lang="zh-CN" altLang="zh-CN" sz="2400" dirty="0"/>
              <a:t>云计算的兴起代表着计算和数据资源正在逐渐迁移至互联网，所以有的人认为云计算就是</a:t>
            </a:r>
            <a:r>
              <a:rPr lang="en-US" altLang="zh-CN" sz="2400" dirty="0"/>
              <a:t>“</a:t>
            </a:r>
            <a:r>
              <a:rPr lang="zh-CN" altLang="zh-CN" sz="2400" dirty="0"/>
              <a:t>互联网</a:t>
            </a:r>
            <a:r>
              <a:rPr lang="en-US" altLang="zh-CN" sz="2400" dirty="0"/>
              <a:t>+</a:t>
            </a:r>
            <a:r>
              <a:rPr lang="zh-CN" altLang="zh-CN" sz="2400" dirty="0"/>
              <a:t>计算</a:t>
            </a:r>
            <a:r>
              <a:rPr lang="en-US" altLang="zh-CN" sz="2400" dirty="0"/>
              <a:t>”</a:t>
            </a:r>
            <a:r>
              <a:rPr lang="zh-CN" altLang="zh-CN" sz="2400" dirty="0"/>
              <a:t>。</a:t>
            </a:r>
            <a:endParaRPr lang="en-US" altLang="zh-CN" sz="2400" dirty="0"/>
          </a:p>
          <a:p>
            <a:r>
              <a:rPr lang="zh-CN" altLang="zh-CN" sz="2400" dirty="0"/>
              <a:t>云计算和互联网应用正在日益结合，不断推动互联网应用和云计算的发展。</a:t>
            </a:r>
            <a:endParaRPr lang="zh-CN" altLang="en-US" sz="2400" dirty="0"/>
          </a:p>
        </p:txBody>
      </p:sp>
    </p:spTree>
    <p:extLst>
      <p:ext uri="{BB962C8B-B14F-4D97-AF65-F5344CB8AC3E}">
        <p14:creationId xmlns:p14="http://schemas.microsoft.com/office/powerpoint/2010/main" val="2552207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11854-FD99-40A9-BC16-199CCAB4FC12}"/>
              </a:ext>
            </a:extLst>
          </p:cNvPr>
          <p:cNvSpPr>
            <a:spLocks noGrp="1"/>
          </p:cNvSpPr>
          <p:nvPr>
            <p:ph type="title"/>
          </p:nvPr>
        </p:nvSpPr>
        <p:spPr/>
        <p:txBody>
          <a:bodyPr/>
          <a:lstStyle/>
          <a:p>
            <a:r>
              <a:rPr lang="zh-CN" altLang="en-US" dirty="0"/>
              <a:t>云计算的内涵</a:t>
            </a:r>
          </a:p>
        </p:txBody>
      </p:sp>
      <p:sp>
        <p:nvSpPr>
          <p:cNvPr id="3" name="内容占位符 2">
            <a:extLst>
              <a:ext uri="{FF2B5EF4-FFF2-40B4-BE49-F238E27FC236}">
                <a16:creationId xmlns:a16="http://schemas.microsoft.com/office/drawing/2014/main" id="{3E16C0EA-CE88-4C6B-A474-2D83E92E5DAB}"/>
              </a:ext>
            </a:extLst>
          </p:cNvPr>
          <p:cNvSpPr>
            <a:spLocks noGrp="1"/>
          </p:cNvSpPr>
          <p:nvPr>
            <p:ph idx="1"/>
          </p:nvPr>
        </p:nvSpPr>
        <p:spPr/>
        <p:txBody>
          <a:bodyPr>
            <a:normAutofit lnSpcReduction="10000"/>
          </a:bodyPr>
          <a:lstStyle/>
          <a:p>
            <a:r>
              <a:rPr lang="zh-CN" altLang="zh-CN" sz="2400" dirty="0"/>
              <a:t>一方面，大规模互联网的应用（如搜索引擎、网络媒体、社交网络、网上购物等网络应用）使得服务提供商拥有了大型数据中心来支撑自身业务的发展</a:t>
            </a:r>
            <a:r>
              <a:rPr lang="zh-CN" altLang="en-US" sz="2400" dirty="0"/>
              <a:t>。</a:t>
            </a:r>
            <a:endParaRPr lang="en-US" altLang="zh-CN" sz="2400" dirty="0"/>
          </a:p>
          <a:p>
            <a:r>
              <a:rPr lang="zh-CN" altLang="zh-CN" sz="2400" dirty="0"/>
              <a:t>这些服务商如美国网络电子商务公司亚马逊（</a:t>
            </a:r>
            <a:r>
              <a:rPr lang="en-US" altLang="zh-CN" sz="2400" dirty="0"/>
              <a:t>Amazon</a:t>
            </a:r>
            <a:r>
              <a:rPr lang="zh-CN" altLang="zh-CN" sz="2400" dirty="0"/>
              <a:t>）、美国搜索引擎公司谷歌（</a:t>
            </a:r>
            <a:r>
              <a:rPr lang="en-US" altLang="zh-CN" sz="2400" dirty="0"/>
              <a:t>Google</a:t>
            </a:r>
            <a:r>
              <a:rPr lang="zh-CN" altLang="zh-CN" sz="2400" dirty="0"/>
              <a:t>）、美国系统软件公司微软（</a:t>
            </a:r>
            <a:r>
              <a:rPr lang="en-US" altLang="zh-CN" sz="2400" dirty="0"/>
              <a:t>Microsoft</a:t>
            </a:r>
            <a:r>
              <a:rPr lang="zh-CN" altLang="zh-CN" sz="2400" dirty="0"/>
              <a:t>）等大型公司都计划或已经在自己庞大的基础设施上面提供更多的服务。</a:t>
            </a:r>
            <a:endParaRPr lang="en-US" altLang="zh-CN" sz="2400" dirty="0"/>
          </a:p>
          <a:p>
            <a:r>
              <a:rPr lang="zh-CN" altLang="zh-CN" sz="2400" dirty="0"/>
              <a:t>这一趋势使用户可以采取租用基础设施的服务方式完成自身业务，避免了自建机房和维护系统，使云计算服务成为可能，从而推动互联网应用的进一步发展。</a:t>
            </a:r>
            <a:endParaRPr lang="zh-CN" altLang="en-US" sz="2400" dirty="0"/>
          </a:p>
        </p:txBody>
      </p:sp>
    </p:spTree>
    <p:extLst>
      <p:ext uri="{BB962C8B-B14F-4D97-AF65-F5344CB8AC3E}">
        <p14:creationId xmlns:p14="http://schemas.microsoft.com/office/powerpoint/2010/main" val="1943278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11854-FD99-40A9-BC16-199CCAB4FC12}"/>
              </a:ext>
            </a:extLst>
          </p:cNvPr>
          <p:cNvSpPr>
            <a:spLocks noGrp="1"/>
          </p:cNvSpPr>
          <p:nvPr>
            <p:ph type="title"/>
          </p:nvPr>
        </p:nvSpPr>
        <p:spPr/>
        <p:txBody>
          <a:bodyPr/>
          <a:lstStyle/>
          <a:p>
            <a:r>
              <a:rPr lang="zh-CN" altLang="en-US" dirty="0"/>
              <a:t>云计算的内涵</a:t>
            </a:r>
          </a:p>
        </p:txBody>
      </p:sp>
      <p:sp>
        <p:nvSpPr>
          <p:cNvPr id="3" name="内容占位符 2">
            <a:extLst>
              <a:ext uri="{FF2B5EF4-FFF2-40B4-BE49-F238E27FC236}">
                <a16:creationId xmlns:a16="http://schemas.microsoft.com/office/drawing/2014/main" id="{3E16C0EA-CE88-4C6B-A474-2D83E92E5DAB}"/>
              </a:ext>
            </a:extLst>
          </p:cNvPr>
          <p:cNvSpPr>
            <a:spLocks noGrp="1"/>
          </p:cNvSpPr>
          <p:nvPr>
            <p:ph idx="1"/>
          </p:nvPr>
        </p:nvSpPr>
        <p:spPr/>
        <p:txBody>
          <a:bodyPr>
            <a:normAutofit/>
          </a:bodyPr>
          <a:lstStyle/>
          <a:p>
            <a:r>
              <a:rPr lang="zh-CN" altLang="zh-CN" sz="2400" dirty="0"/>
              <a:t>另一方面，不同类型的互联网应用，使用户越来越多地将数据（如文字、图片、音频、视频等个人数据）存储到互联网上。</a:t>
            </a:r>
            <a:endParaRPr lang="en-US" altLang="zh-CN" sz="2400" dirty="0"/>
          </a:p>
          <a:p>
            <a:r>
              <a:rPr lang="zh-CN" altLang="zh-CN" sz="2400" dirty="0"/>
              <a:t>与此同时，智能手机和平板计算机等移动终端在近年来快速发展，不仅提供了随时随地接入互联网的能力，还可以运行各种互联网应用，使用户可以方便地通过这些轻量级的设备访问存储在互联网上的数据。</a:t>
            </a:r>
            <a:endParaRPr lang="en-US" altLang="zh-CN" sz="2400" dirty="0"/>
          </a:p>
          <a:p>
            <a:r>
              <a:rPr lang="zh-CN" altLang="zh-CN" sz="2400" dirty="0"/>
              <a:t>这样，大量的数据存储和计算功能都需要通过网络来实现，进一步推动了云计算的发展。</a:t>
            </a:r>
          </a:p>
        </p:txBody>
      </p:sp>
    </p:spTree>
    <p:extLst>
      <p:ext uri="{BB962C8B-B14F-4D97-AF65-F5344CB8AC3E}">
        <p14:creationId xmlns:p14="http://schemas.microsoft.com/office/powerpoint/2010/main" val="3883744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11854-FD99-40A9-BC16-199CCAB4FC12}"/>
              </a:ext>
            </a:extLst>
          </p:cNvPr>
          <p:cNvSpPr>
            <a:spLocks noGrp="1"/>
          </p:cNvSpPr>
          <p:nvPr>
            <p:ph type="title"/>
          </p:nvPr>
        </p:nvSpPr>
        <p:spPr/>
        <p:txBody>
          <a:bodyPr/>
          <a:lstStyle/>
          <a:p>
            <a:r>
              <a:rPr lang="zh-CN" altLang="en-US" dirty="0"/>
              <a:t>云计算的内涵</a:t>
            </a:r>
          </a:p>
        </p:txBody>
      </p:sp>
      <p:sp>
        <p:nvSpPr>
          <p:cNvPr id="3" name="内容占位符 2">
            <a:extLst>
              <a:ext uri="{FF2B5EF4-FFF2-40B4-BE49-F238E27FC236}">
                <a16:creationId xmlns:a16="http://schemas.microsoft.com/office/drawing/2014/main" id="{3E16C0EA-CE88-4C6B-A474-2D83E92E5DAB}"/>
              </a:ext>
            </a:extLst>
          </p:cNvPr>
          <p:cNvSpPr>
            <a:spLocks noGrp="1"/>
          </p:cNvSpPr>
          <p:nvPr>
            <p:ph idx="1"/>
          </p:nvPr>
        </p:nvSpPr>
        <p:spPr/>
        <p:txBody>
          <a:bodyPr>
            <a:normAutofit/>
          </a:bodyPr>
          <a:lstStyle/>
          <a:p>
            <a:r>
              <a:rPr lang="zh-CN" altLang="zh-CN" sz="2000" dirty="0"/>
              <a:t>除了“互联网”，云计算与另一个名字紧密相关，即“虚拟化”。</a:t>
            </a:r>
            <a:endParaRPr lang="en-US" altLang="zh-CN" sz="2000" dirty="0"/>
          </a:p>
          <a:p>
            <a:r>
              <a:rPr lang="zh-CN" altLang="zh-CN" sz="2000" dirty="0"/>
              <a:t>虚拟化是指通过虚拟化技术将一台计算机虚拟为多台逻辑计算机。</a:t>
            </a:r>
            <a:endParaRPr lang="en-US" altLang="zh-CN" sz="2000" dirty="0"/>
          </a:p>
          <a:p>
            <a:r>
              <a:rPr lang="zh-CN" altLang="zh-CN" sz="2000" dirty="0"/>
              <a:t>云计算通过虚拟化实现了有弹性可扩展的资源和服务，虚拟化技术是云计算的一个重要基础。</a:t>
            </a:r>
            <a:endParaRPr lang="en-US" altLang="zh-CN" sz="2000" dirty="0"/>
          </a:p>
          <a:p>
            <a:r>
              <a:rPr lang="zh-CN" altLang="zh-CN" sz="2000" dirty="0"/>
              <a:t>云计算服务商通过对软硬件资源的虚拟化，将基础资源变成了可以自由调度的资源池，从而实现资源的按需配给，向用户提供按使用付费的服务。</a:t>
            </a:r>
            <a:endParaRPr lang="en-US" altLang="zh-CN" sz="2000" dirty="0"/>
          </a:p>
          <a:p>
            <a:r>
              <a:rPr lang="zh-CN" altLang="zh-CN" sz="2000" dirty="0"/>
              <a:t>用户可以根据业务的需要动态调整所需的资源，而云计算服务提供商也可以提高自己的资源使用效率，降低服务成本，通过多种不同类型的服务方式为用户提供计算、存储和数据业务的支持。</a:t>
            </a:r>
          </a:p>
          <a:p>
            <a:endParaRPr lang="zh-CN" altLang="en-US" sz="2000" dirty="0"/>
          </a:p>
        </p:txBody>
      </p:sp>
    </p:spTree>
    <p:extLst>
      <p:ext uri="{BB962C8B-B14F-4D97-AF65-F5344CB8AC3E}">
        <p14:creationId xmlns:p14="http://schemas.microsoft.com/office/powerpoint/2010/main" val="3631438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0" y="2768600"/>
            <a:ext cx="10191565" cy="1320800"/>
          </a:xfrm>
        </p:spPr>
        <p:txBody>
          <a:bodyPr>
            <a:normAutofit/>
          </a:bodyPr>
          <a:lstStyle/>
          <a:p>
            <a:pPr algn="ctr"/>
            <a:r>
              <a:rPr lang="en-US" altLang="zh-CN" sz="7200" dirty="0">
                <a:latin typeface="华文琥珀" panose="02010800040101010101" pitchFamily="2" charset="-122"/>
                <a:ea typeface="华文琥珀" panose="02010800040101010101" pitchFamily="2" charset="-122"/>
              </a:rPr>
              <a:t>3.</a:t>
            </a:r>
            <a:r>
              <a:rPr lang="zh-CN" altLang="en-US" sz="7200" dirty="0">
                <a:latin typeface="华文琥珀" panose="02010800040101010101" pitchFamily="2" charset="-122"/>
                <a:ea typeface="华文琥珀" panose="02010800040101010101" pitchFamily="2" charset="-122"/>
              </a:rPr>
              <a:t>云计算的发展历史</a:t>
            </a:r>
          </a:p>
        </p:txBody>
      </p:sp>
    </p:spTree>
    <p:extLst>
      <p:ext uri="{BB962C8B-B14F-4D97-AF65-F5344CB8AC3E}">
        <p14:creationId xmlns:p14="http://schemas.microsoft.com/office/powerpoint/2010/main" val="2092152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B9CFE-8EC8-4D88-A104-C0B140CC7640}"/>
              </a:ext>
            </a:extLst>
          </p:cNvPr>
          <p:cNvSpPr>
            <a:spLocks noGrp="1"/>
          </p:cNvSpPr>
          <p:nvPr>
            <p:ph type="title"/>
          </p:nvPr>
        </p:nvSpPr>
        <p:spPr/>
        <p:txBody>
          <a:bodyPr/>
          <a:lstStyle/>
          <a:p>
            <a:r>
              <a:rPr lang="zh-CN" altLang="en-US" dirty="0"/>
              <a:t>云计算的发展历史</a:t>
            </a:r>
          </a:p>
        </p:txBody>
      </p:sp>
      <p:sp>
        <p:nvSpPr>
          <p:cNvPr id="3" name="内容占位符 2">
            <a:extLst>
              <a:ext uri="{FF2B5EF4-FFF2-40B4-BE49-F238E27FC236}">
                <a16:creationId xmlns:a16="http://schemas.microsoft.com/office/drawing/2014/main" id="{CBB02511-D824-4DFB-8DC9-4C947209B50F}"/>
              </a:ext>
            </a:extLst>
          </p:cNvPr>
          <p:cNvSpPr>
            <a:spLocks noGrp="1"/>
          </p:cNvSpPr>
          <p:nvPr>
            <p:ph idx="1"/>
          </p:nvPr>
        </p:nvSpPr>
        <p:spPr>
          <a:xfrm>
            <a:off x="588558" y="2977227"/>
            <a:ext cx="8596668" cy="3880773"/>
          </a:xfrm>
        </p:spPr>
        <p:txBody>
          <a:bodyPr>
            <a:normAutofit/>
          </a:bodyPr>
          <a:lstStyle/>
          <a:p>
            <a:r>
              <a:rPr lang="zh-CN" altLang="zh-CN" sz="3200" dirty="0"/>
              <a:t>云计算的概念产生的历史并不长，但云计算技术在近年来得到了飞速的发展。</a:t>
            </a:r>
            <a:endParaRPr lang="zh-CN" altLang="en-US" sz="3200" dirty="0"/>
          </a:p>
        </p:txBody>
      </p:sp>
    </p:spTree>
    <p:extLst>
      <p:ext uri="{BB962C8B-B14F-4D97-AF65-F5344CB8AC3E}">
        <p14:creationId xmlns:p14="http://schemas.microsoft.com/office/powerpoint/2010/main" val="4163849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CD79-C495-4C88-9C12-2AF71FA0BDD1}"/>
              </a:ext>
            </a:extLst>
          </p:cNvPr>
          <p:cNvSpPr>
            <a:spLocks noGrp="1"/>
          </p:cNvSpPr>
          <p:nvPr>
            <p:ph type="title"/>
          </p:nvPr>
        </p:nvSpPr>
        <p:spPr/>
        <p:txBody>
          <a:bodyPr/>
          <a:lstStyle/>
          <a:p>
            <a:r>
              <a:rPr lang="zh-CN" altLang="en-US" dirty="0"/>
              <a:t>云计算的发展历史</a:t>
            </a:r>
          </a:p>
        </p:txBody>
      </p:sp>
      <p:sp>
        <p:nvSpPr>
          <p:cNvPr id="3" name="内容占位符 2">
            <a:extLst>
              <a:ext uri="{FF2B5EF4-FFF2-40B4-BE49-F238E27FC236}">
                <a16:creationId xmlns:a16="http://schemas.microsoft.com/office/drawing/2014/main" id="{01B91FF7-1710-42DE-8AA2-837D110E905C}"/>
              </a:ext>
            </a:extLst>
          </p:cNvPr>
          <p:cNvSpPr>
            <a:spLocks noGrp="1"/>
          </p:cNvSpPr>
          <p:nvPr>
            <p:ph idx="1"/>
          </p:nvPr>
        </p:nvSpPr>
        <p:spPr/>
        <p:txBody>
          <a:bodyPr>
            <a:normAutofit lnSpcReduction="10000"/>
          </a:bodyPr>
          <a:lstStyle/>
          <a:p>
            <a:r>
              <a:rPr lang="zh-CN" altLang="zh-CN" sz="2000" dirty="0"/>
              <a:t>真正意义上的云计算服务是在</a:t>
            </a:r>
            <a:r>
              <a:rPr lang="en-US" altLang="zh-CN" sz="2000" dirty="0"/>
              <a:t>2000</a:t>
            </a:r>
            <a:r>
              <a:rPr lang="zh-CN" altLang="zh-CN" sz="2000" dirty="0"/>
              <a:t>年以后出现的，即</a:t>
            </a:r>
            <a:r>
              <a:rPr lang="en-US" altLang="zh-CN" sz="2000" dirty="0"/>
              <a:t>Amazon</a:t>
            </a:r>
            <a:r>
              <a:rPr lang="zh-CN" altLang="zh-CN" sz="2000" dirty="0"/>
              <a:t>公司于</a:t>
            </a:r>
            <a:r>
              <a:rPr lang="en-US" altLang="zh-CN" sz="2000" dirty="0"/>
              <a:t>2006</a:t>
            </a:r>
            <a:r>
              <a:rPr lang="zh-CN" altLang="zh-CN" sz="2000" dirty="0"/>
              <a:t>年</a:t>
            </a:r>
            <a:r>
              <a:rPr lang="en-US" altLang="zh-CN" sz="2000" dirty="0"/>
              <a:t>3</a:t>
            </a:r>
            <a:r>
              <a:rPr lang="zh-CN" altLang="zh-CN" sz="2000" dirty="0"/>
              <a:t>月推出弹性计算云（</a:t>
            </a:r>
            <a:r>
              <a:rPr lang="en-US" altLang="zh-CN" sz="2000" dirty="0"/>
              <a:t>Elastic Compute Cloud</a:t>
            </a:r>
            <a:r>
              <a:rPr lang="zh-CN" altLang="zh-CN" sz="2000" dirty="0"/>
              <a:t>）服务。</a:t>
            </a:r>
            <a:endParaRPr lang="en-US" altLang="zh-CN" sz="2000" dirty="0"/>
          </a:p>
          <a:p>
            <a:r>
              <a:rPr lang="zh-CN" altLang="zh-CN" sz="2000" dirty="0"/>
              <a:t>同年</a:t>
            </a:r>
            <a:r>
              <a:rPr lang="en-US" altLang="zh-CN" sz="2000" dirty="0"/>
              <a:t>8</a:t>
            </a:r>
            <a:r>
              <a:rPr lang="zh-CN" altLang="zh-CN" sz="2000" dirty="0"/>
              <a:t>月，</a:t>
            </a:r>
            <a:r>
              <a:rPr lang="en-US" altLang="zh-CN" sz="2000" dirty="0"/>
              <a:t>Google</a:t>
            </a:r>
            <a:r>
              <a:rPr lang="zh-CN" altLang="zh-CN" sz="2000" dirty="0"/>
              <a:t>公司的首席执行官埃里克</a:t>
            </a:r>
            <a:r>
              <a:rPr lang="en-US" altLang="zh-CN" sz="2000" dirty="0"/>
              <a:t>·</a:t>
            </a:r>
            <a:r>
              <a:rPr lang="zh-CN" altLang="zh-CN" sz="2000" dirty="0"/>
              <a:t>施密特（</a:t>
            </a:r>
            <a:r>
              <a:rPr lang="en-US" altLang="zh-CN" sz="2000" dirty="0"/>
              <a:t>Eric Schmidt</a:t>
            </a:r>
            <a:r>
              <a:rPr lang="zh-CN" altLang="zh-CN" sz="2000" dirty="0"/>
              <a:t>）在美国加利福尼亚州圣何塞（</a:t>
            </a:r>
            <a:r>
              <a:rPr lang="en-US" altLang="zh-CN" sz="2000" dirty="0"/>
              <a:t>San Jose</a:t>
            </a:r>
            <a:r>
              <a:rPr lang="zh-CN" altLang="zh-CN" sz="2000" dirty="0"/>
              <a:t>）举行的搜索引擎大会（</a:t>
            </a:r>
            <a:r>
              <a:rPr lang="en-US" altLang="zh-CN" sz="2000" dirty="0"/>
              <a:t>SES 2006</a:t>
            </a:r>
            <a:r>
              <a:rPr lang="zh-CN" altLang="zh-CN" sz="2000" dirty="0"/>
              <a:t>）介绍的</a:t>
            </a:r>
            <a:r>
              <a:rPr lang="en-US" altLang="zh-CN" sz="2000" dirty="0"/>
              <a:t>“Google 101”</a:t>
            </a:r>
            <a:r>
              <a:rPr lang="zh-CN" altLang="zh-CN" sz="2000" dirty="0"/>
              <a:t>项目中使用了</a:t>
            </a:r>
            <a:r>
              <a:rPr lang="en-US" altLang="zh-CN" sz="2000" dirty="0"/>
              <a:t>“</a:t>
            </a:r>
            <a:r>
              <a:rPr lang="zh-CN" altLang="zh-CN" sz="2000" dirty="0"/>
              <a:t>云计算</a:t>
            </a:r>
            <a:r>
              <a:rPr lang="en-US" altLang="zh-CN" sz="2000" dirty="0"/>
              <a:t>”</a:t>
            </a:r>
            <a:r>
              <a:rPr lang="zh-CN" altLang="zh-CN" sz="2000" dirty="0"/>
              <a:t>的名词，云计算概念第一次出现在公众视野中。</a:t>
            </a:r>
            <a:endParaRPr lang="en-US" altLang="zh-CN" sz="2000" dirty="0"/>
          </a:p>
          <a:p>
            <a:r>
              <a:rPr lang="en-US" altLang="zh-CN" sz="2000" dirty="0"/>
              <a:t>2007</a:t>
            </a:r>
            <a:r>
              <a:rPr lang="zh-CN" altLang="zh-CN" sz="2000" dirty="0"/>
              <a:t>年</a:t>
            </a:r>
            <a:r>
              <a:rPr lang="en-US" altLang="zh-CN" sz="2000" dirty="0"/>
              <a:t>10</a:t>
            </a:r>
            <a:r>
              <a:rPr lang="zh-CN" altLang="zh-CN" sz="2000" dirty="0"/>
              <a:t>月，</a:t>
            </a:r>
            <a:r>
              <a:rPr lang="en-US" altLang="zh-CN" sz="2000" dirty="0"/>
              <a:t>Google</a:t>
            </a:r>
            <a:r>
              <a:rPr lang="zh-CN" altLang="zh-CN" sz="2000" dirty="0"/>
              <a:t>公司与美国国际商业机器公司（</a:t>
            </a:r>
            <a:r>
              <a:rPr lang="en-US" altLang="zh-CN" sz="2000" dirty="0"/>
              <a:t>IBM</a:t>
            </a:r>
            <a:r>
              <a:rPr lang="zh-CN" altLang="zh-CN" sz="2000" dirty="0"/>
              <a:t>）开始在美国的大学中推广</a:t>
            </a:r>
            <a:r>
              <a:rPr lang="en-US" altLang="zh-CN" sz="2000" dirty="0"/>
              <a:t>“</a:t>
            </a:r>
            <a:r>
              <a:rPr lang="zh-CN" altLang="zh-CN" sz="2000" dirty="0"/>
              <a:t>云计算</a:t>
            </a:r>
            <a:r>
              <a:rPr lang="en-US" altLang="zh-CN" sz="2000" dirty="0"/>
              <a:t>”</a:t>
            </a:r>
            <a:r>
              <a:rPr lang="zh-CN" altLang="zh-CN" sz="2000" dirty="0"/>
              <a:t>计划，为这些大学提供相关的云计算软硬件设备及技术支持，旨在降低云计算技术在学术研究方面的成本。</a:t>
            </a:r>
            <a:endParaRPr lang="en-US" altLang="zh-CN" sz="2000" dirty="0"/>
          </a:p>
          <a:p>
            <a:r>
              <a:rPr lang="en-US" altLang="zh-CN" sz="2000" dirty="0"/>
              <a:t>2008</a:t>
            </a:r>
            <a:r>
              <a:rPr lang="zh-CN" altLang="zh-CN" sz="2000" dirty="0"/>
              <a:t>年</a:t>
            </a:r>
            <a:r>
              <a:rPr lang="en-US" altLang="zh-CN" sz="2000" dirty="0"/>
              <a:t>2</a:t>
            </a:r>
            <a:r>
              <a:rPr lang="zh-CN" altLang="zh-CN" sz="2000" dirty="0"/>
              <a:t>月，</a:t>
            </a:r>
            <a:r>
              <a:rPr lang="en-US" altLang="zh-CN" sz="2000" dirty="0"/>
              <a:t>IBM</a:t>
            </a:r>
            <a:r>
              <a:rPr lang="zh-CN" altLang="zh-CN" sz="2000" dirty="0"/>
              <a:t>公司在中国无锡太湖新城科教产业园启动</a:t>
            </a:r>
            <a:r>
              <a:rPr lang="en-US" altLang="zh-CN" sz="2000" dirty="0"/>
              <a:t>“IBM-</a:t>
            </a:r>
            <a:r>
              <a:rPr lang="zh-CN" altLang="zh-CN" sz="2000" dirty="0"/>
              <a:t>中国云计算中心</a:t>
            </a:r>
            <a:r>
              <a:rPr lang="en-US" altLang="zh-CN" sz="2000" dirty="0"/>
              <a:t>”</a:t>
            </a:r>
            <a:r>
              <a:rPr lang="zh-CN" altLang="zh-CN" sz="2000" dirty="0"/>
              <a:t>的建设，这被认为是全球第一个云计算中心（</a:t>
            </a:r>
            <a:r>
              <a:rPr lang="en-US" altLang="zh-CN" sz="2000" dirty="0"/>
              <a:t>Cloud Computing Center</a:t>
            </a:r>
            <a:r>
              <a:rPr lang="zh-CN" altLang="zh-CN" sz="2000" dirty="0"/>
              <a:t>）。</a:t>
            </a:r>
            <a:endParaRPr lang="zh-CN" altLang="en-US" sz="2000" dirty="0"/>
          </a:p>
        </p:txBody>
      </p:sp>
    </p:spTree>
    <p:extLst>
      <p:ext uri="{BB962C8B-B14F-4D97-AF65-F5344CB8AC3E}">
        <p14:creationId xmlns:p14="http://schemas.microsoft.com/office/powerpoint/2010/main" val="3963514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CD79-C495-4C88-9C12-2AF71FA0BDD1}"/>
              </a:ext>
            </a:extLst>
          </p:cNvPr>
          <p:cNvSpPr>
            <a:spLocks noGrp="1"/>
          </p:cNvSpPr>
          <p:nvPr>
            <p:ph type="title"/>
          </p:nvPr>
        </p:nvSpPr>
        <p:spPr/>
        <p:txBody>
          <a:bodyPr/>
          <a:lstStyle/>
          <a:p>
            <a:r>
              <a:rPr lang="zh-CN" altLang="en-US" dirty="0"/>
              <a:t>云计算的发展历史</a:t>
            </a:r>
          </a:p>
        </p:txBody>
      </p:sp>
      <p:sp>
        <p:nvSpPr>
          <p:cNvPr id="3" name="内容占位符 2">
            <a:extLst>
              <a:ext uri="{FF2B5EF4-FFF2-40B4-BE49-F238E27FC236}">
                <a16:creationId xmlns:a16="http://schemas.microsoft.com/office/drawing/2014/main" id="{01B91FF7-1710-42DE-8AA2-837D110E905C}"/>
              </a:ext>
            </a:extLst>
          </p:cNvPr>
          <p:cNvSpPr>
            <a:spLocks noGrp="1"/>
          </p:cNvSpPr>
          <p:nvPr>
            <p:ph idx="1"/>
          </p:nvPr>
        </p:nvSpPr>
        <p:spPr/>
        <p:txBody>
          <a:bodyPr>
            <a:normAutofit/>
          </a:bodyPr>
          <a:lstStyle/>
          <a:p>
            <a:r>
              <a:rPr lang="en-US" altLang="zh-CN" sz="2000" dirty="0"/>
              <a:t>2010</a:t>
            </a:r>
            <a:r>
              <a:rPr lang="zh-CN" altLang="zh-CN" sz="2000" dirty="0"/>
              <a:t>年</a:t>
            </a:r>
            <a:r>
              <a:rPr lang="en-US" altLang="zh-CN" sz="2000" dirty="0"/>
              <a:t>7</a:t>
            </a:r>
            <a:r>
              <a:rPr lang="zh-CN" altLang="zh-CN" sz="2000" dirty="0"/>
              <a:t>月，美国国家航空航天局（</a:t>
            </a:r>
            <a:r>
              <a:rPr lang="en-US" altLang="zh-CN" sz="2000" dirty="0"/>
              <a:t>National Aeronautics and Space Administration</a:t>
            </a:r>
            <a:r>
              <a:rPr lang="zh-CN" altLang="zh-CN" sz="2000" dirty="0"/>
              <a:t>，</a:t>
            </a:r>
            <a:r>
              <a:rPr lang="en-US" altLang="zh-CN" sz="2000" dirty="0"/>
              <a:t>NASA</a:t>
            </a:r>
            <a:r>
              <a:rPr lang="zh-CN" altLang="zh-CN" sz="2000" dirty="0"/>
              <a:t>）和美国云计算公司</a:t>
            </a:r>
            <a:r>
              <a:rPr lang="en-US" altLang="zh-CN" sz="2000" dirty="0"/>
              <a:t>Rackspace</a:t>
            </a:r>
            <a:r>
              <a:rPr lang="zh-CN" altLang="zh-CN" sz="2000" dirty="0"/>
              <a:t>、美国超威半导体公司（</a:t>
            </a:r>
            <a:r>
              <a:rPr lang="en-US" altLang="zh-CN" sz="2000" dirty="0"/>
              <a:t>AMD</a:t>
            </a:r>
            <a:r>
              <a:rPr lang="zh-CN" altLang="zh-CN" sz="2000" dirty="0"/>
              <a:t>）、美国英特尔公司（</a:t>
            </a:r>
            <a:r>
              <a:rPr lang="en-US" altLang="zh-CN" sz="2000" dirty="0"/>
              <a:t>Intel</a:t>
            </a:r>
            <a:r>
              <a:rPr lang="zh-CN" altLang="zh-CN" sz="2000" dirty="0"/>
              <a:t>）、美国戴尔公司（</a:t>
            </a:r>
            <a:r>
              <a:rPr lang="en-US" altLang="zh-CN" sz="2000" dirty="0"/>
              <a:t>Dell</a:t>
            </a:r>
            <a:r>
              <a:rPr lang="zh-CN" altLang="zh-CN" sz="2000" dirty="0"/>
              <a:t>）等计算机硬件设备公司共同宣布</a:t>
            </a:r>
            <a:r>
              <a:rPr lang="en-US" altLang="zh-CN" sz="2000" dirty="0"/>
              <a:t>“OpenStack”</a:t>
            </a:r>
            <a:r>
              <a:rPr lang="zh-CN" altLang="zh-CN" sz="2000" dirty="0"/>
              <a:t>开放源代码计划，持续推动开源的云计算管理平台项目的发展。</a:t>
            </a:r>
            <a:endParaRPr lang="en-US" altLang="zh-CN" sz="2000" dirty="0"/>
          </a:p>
          <a:p>
            <a:endParaRPr lang="en-US" altLang="zh-CN" sz="2000" dirty="0"/>
          </a:p>
          <a:p>
            <a:endParaRPr lang="en-US" altLang="zh-CN" sz="2000" dirty="0"/>
          </a:p>
          <a:p>
            <a:r>
              <a:rPr lang="en-US" altLang="zh-CN" sz="2000" dirty="0"/>
              <a:t>2013</a:t>
            </a:r>
            <a:r>
              <a:rPr lang="zh-CN" altLang="zh-CN" sz="2000" dirty="0"/>
              <a:t>年</a:t>
            </a:r>
            <a:r>
              <a:rPr lang="en-US" altLang="zh-CN" sz="2000" dirty="0"/>
              <a:t>12</a:t>
            </a:r>
            <a:r>
              <a:rPr lang="zh-CN" altLang="zh-CN" sz="2000" dirty="0"/>
              <a:t>月，</a:t>
            </a:r>
            <a:r>
              <a:rPr lang="en-US" altLang="zh-CN" sz="2000" dirty="0"/>
              <a:t>IBM</a:t>
            </a:r>
            <a:r>
              <a:rPr lang="zh-CN" altLang="zh-CN" sz="2000" dirty="0"/>
              <a:t>公司首次宣布将</a:t>
            </a:r>
            <a:r>
              <a:rPr lang="en-US" altLang="zh-CN" sz="2000" dirty="0"/>
              <a:t>IBM</a:t>
            </a:r>
            <a:r>
              <a:rPr lang="zh-CN" altLang="zh-CN" sz="2000" dirty="0"/>
              <a:t>的顶级计算基础结构服务引入中国大陆，随后</a:t>
            </a:r>
            <a:r>
              <a:rPr lang="en-US" altLang="zh-CN" sz="2000" dirty="0"/>
              <a:t>Amazon</a:t>
            </a:r>
            <a:r>
              <a:rPr lang="zh-CN" altLang="zh-CN" sz="2000" dirty="0"/>
              <a:t>公司也将</a:t>
            </a:r>
            <a:r>
              <a:rPr lang="en-US" altLang="zh-CN" sz="2000" dirty="0"/>
              <a:t>Amazon</a:t>
            </a:r>
            <a:r>
              <a:rPr lang="zh-CN" altLang="zh-CN" sz="2000" dirty="0"/>
              <a:t>的公有云计算服务引入中国。</a:t>
            </a:r>
          </a:p>
          <a:p>
            <a:endParaRPr lang="zh-CN" altLang="en-US" sz="2000" dirty="0"/>
          </a:p>
        </p:txBody>
      </p:sp>
    </p:spTree>
    <p:extLst>
      <p:ext uri="{BB962C8B-B14F-4D97-AF65-F5344CB8AC3E}">
        <p14:creationId xmlns:p14="http://schemas.microsoft.com/office/powerpoint/2010/main" val="3519418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CD79-C495-4C88-9C12-2AF71FA0BDD1}"/>
              </a:ext>
            </a:extLst>
          </p:cNvPr>
          <p:cNvSpPr>
            <a:spLocks noGrp="1"/>
          </p:cNvSpPr>
          <p:nvPr>
            <p:ph type="title"/>
          </p:nvPr>
        </p:nvSpPr>
        <p:spPr/>
        <p:txBody>
          <a:bodyPr/>
          <a:lstStyle/>
          <a:p>
            <a:r>
              <a:rPr lang="zh-CN" altLang="en-US" dirty="0"/>
              <a:t>云计算的发展历史</a:t>
            </a:r>
          </a:p>
        </p:txBody>
      </p:sp>
      <p:sp>
        <p:nvSpPr>
          <p:cNvPr id="3" name="内容占位符 2">
            <a:extLst>
              <a:ext uri="{FF2B5EF4-FFF2-40B4-BE49-F238E27FC236}">
                <a16:creationId xmlns:a16="http://schemas.microsoft.com/office/drawing/2014/main" id="{01B91FF7-1710-42DE-8AA2-837D110E905C}"/>
              </a:ext>
            </a:extLst>
          </p:cNvPr>
          <p:cNvSpPr>
            <a:spLocks noGrp="1"/>
          </p:cNvSpPr>
          <p:nvPr>
            <p:ph idx="1"/>
          </p:nvPr>
        </p:nvSpPr>
        <p:spPr>
          <a:xfrm>
            <a:off x="677334" y="2861925"/>
            <a:ext cx="8596668" cy="3880773"/>
          </a:xfrm>
        </p:spPr>
        <p:txBody>
          <a:bodyPr>
            <a:normAutofit/>
          </a:bodyPr>
          <a:lstStyle/>
          <a:p>
            <a:r>
              <a:rPr lang="zh-CN" altLang="zh-CN" sz="2400" dirty="0"/>
              <a:t>云计算的兴起和发展顺应了当前全球范围内整合计算资源和服务能力的需求，满足了高速处理海量数据的需求，为高效、可扩展和易用的软件开发和使用提供了支持和保障。</a:t>
            </a:r>
          </a:p>
          <a:p>
            <a:endParaRPr lang="zh-CN" altLang="en-US" sz="2400" dirty="0"/>
          </a:p>
        </p:txBody>
      </p:sp>
    </p:spTree>
    <p:extLst>
      <p:ext uri="{BB962C8B-B14F-4D97-AF65-F5344CB8AC3E}">
        <p14:creationId xmlns:p14="http://schemas.microsoft.com/office/powerpoint/2010/main" val="550414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3145327"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4.</a:t>
            </a:r>
            <a:r>
              <a:rPr lang="zh-CN" altLang="en-US" sz="7200" dirty="0">
                <a:latin typeface="华文琥珀" panose="02010800040101010101" pitchFamily="2" charset="-122"/>
                <a:ea typeface="华文琥珀" panose="02010800040101010101" pitchFamily="2" charset="-122"/>
              </a:rPr>
              <a:t>其他计算</a:t>
            </a:r>
          </a:p>
        </p:txBody>
      </p:sp>
    </p:spTree>
    <p:extLst>
      <p:ext uri="{BB962C8B-B14F-4D97-AF65-F5344CB8AC3E}">
        <p14:creationId xmlns:p14="http://schemas.microsoft.com/office/powerpoint/2010/main" val="2124693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3D9590-1DE0-4D3D-BC75-4AEA4E02067D}"/>
              </a:ext>
            </a:extLst>
          </p:cNvPr>
          <p:cNvSpPr>
            <a:spLocks noGrp="1"/>
          </p:cNvSpPr>
          <p:nvPr>
            <p:ph type="title"/>
          </p:nvPr>
        </p:nvSpPr>
        <p:spPr/>
        <p:txBody>
          <a:bodyPr/>
          <a:lstStyle/>
          <a:p>
            <a:r>
              <a:rPr lang="zh-CN" altLang="en-US" dirty="0"/>
              <a:t>其他计算</a:t>
            </a:r>
          </a:p>
        </p:txBody>
      </p:sp>
      <p:sp>
        <p:nvSpPr>
          <p:cNvPr id="3" name="内容占位符 2">
            <a:extLst>
              <a:ext uri="{FF2B5EF4-FFF2-40B4-BE49-F238E27FC236}">
                <a16:creationId xmlns:a16="http://schemas.microsoft.com/office/drawing/2014/main" id="{D0B369D7-4D50-4DF1-89E4-E381115568DC}"/>
              </a:ext>
            </a:extLst>
          </p:cNvPr>
          <p:cNvSpPr>
            <a:spLocks noGrp="1"/>
          </p:cNvSpPr>
          <p:nvPr>
            <p:ph idx="1"/>
          </p:nvPr>
        </p:nvSpPr>
        <p:spPr/>
        <p:txBody>
          <a:bodyPr>
            <a:normAutofit/>
          </a:bodyPr>
          <a:lstStyle/>
          <a:p>
            <a:r>
              <a:rPr lang="en-US" altLang="zh-CN" sz="3200" dirty="0">
                <a:solidFill>
                  <a:srgbClr val="00B050"/>
                </a:solidFill>
              </a:rPr>
              <a:t>01 </a:t>
            </a:r>
            <a:r>
              <a:rPr lang="zh-CN" altLang="en-US" sz="3200" dirty="0">
                <a:solidFill>
                  <a:srgbClr val="00B050"/>
                </a:solidFill>
              </a:rPr>
              <a:t>并行计算</a:t>
            </a:r>
            <a:endParaRPr lang="en-US" altLang="zh-CN" sz="3200" dirty="0">
              <a:solidFill>
                <a:srgbClr val="00B050"/>
              </a:solidFill>
            </a:endParaRPr>
          </a:p>
          <a:p>
            <a:r>
              <a:rPr lang="en-US" altLang="zh-CN" sz="3200" dirty="0">
                <a:solidFill>
                  <a:srgbClr val="00B050"/>
                </a:solidFill>
              </a:rPr>
              <a:t>02 </a:t>
            </a:r>
            <a:r>
              <a:rPr lang="zh-CN" altLang="en-US" sz="3200" dirty="0">
                <a:solidFill>
                  <a:srgbClr val="00B050"/>
                </a:solidFill>
              </a:rPr>
              <a:t>分布式计算</a:t>
            </a:r>
            <a:endParaRPr lang="en-US" altLang="zh-CN" sz="3200" dirty="0">
              <a:solidFill>
                <a:srgbClr val="00B050"/>
              </a:solidFill>
            </a:endParaRPr>
          </a:p>
          <a:p>
            <a:r>
              <a:rPr lang="en-US" altLang="zh-CN" sz="3200" dirty="0">
                <a:solidFill>
                  <a:srgbClr val="00B050"/>
                </a:solidFill>
              </a:rPr>
              <a:t>03 </a:t>
            </a:r>
            <a:r>
              <a:rPr lang="zh-CN" altLang="en-US" sz="3200" dirty="0">
                <a:solidFill>
                  <a:srgbClr val="00B050"/>
                </a:solidFill>
              </a:rPr>
              <a:t>集群计算</a:t>
            </a:r>
            <a:endParaRPr lang="en-US" altLang="zh-CN" sz="3200" dirty="0">
              <a:solidFill>
                <a:srgbClr val="00B050"/>
              </a:solidFill>
            </a:endParaRPr>
          </a:p>
          <a:p>
            <a:r>
              <a:rPr lang="en-US" altLang="zh-CN" sz="3200" dirty="0">
                <a:solidFill>
                  <a:srgbClr val="00B050"/>
                </a:solidFill>
              </a:rPr>
              <a:t>04 </a:t>
            </a:r>
            <a:r>
              <a:rPr lang="zh-CN" altLang="en-US" sz="3200" dirty="0">
                <a:solidFill>
                  <a:srgbClr val="00B050"/>
                </a:solidFill>
              </a:rPr>
              <a:t>网格计算</a:t>
            </a:r>
            <a:endParaRPr lang="en-US" altLang="zh-CN" sz="3200" dirty="0">
              <a:solidFill>
                <a:srgbClr val="00B050"/>
              </a:solidFill>
            </a:endParaRPr>
          </a:p>
          <a:p>
            <a:r>
              <a:rPr lang="en-US" altLang="zh-CN" sz="3200" dirty="0">
                <a:solidFill>
                  <a:srgbClr val="00B050"/>
                </a:solidFill>
              </a:rPr>
              <a:t>05 </a:t>
            </a:r>
            <a:r>
              <a:rPr lang="zh-CN" altLang="en-US" sz="3200" dirty="0">
                <a:solidFill>
                  <a:srgbClr val="00B050"/>
                </a:solidFill>
              </a:rPr>
              <a:t>效用计算</a:t>
            </a:r>
            <a:endParaRPr lang="en-US" altLang="zh-CN" sz="3200" dirty="0">
              <a:solidFill>
                <a:srgbClr val="00B050"/>
              </a:solidFill>
            </a:endParaRPr>
          </a:p>
        </p:txBody>
      </p:sp>
    </p:spTree>
    <p:extLst>
      <p:ext uri="{BB962C8B-B14F-4D97-AF65-F5344CB8AC3E}">
        <p14:creationId xmlns:p14="http://schemas.microsoft.com/office/powerpoint/2010/main" val="4148333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C41E96-6A8F-49D2-B684-B8AD38458AEF}"/>
              </a:ext>
            </a:extLst>
          </p:cNvPr>
          <p:cNvSpPr>
            <a:spLocks noGrp="1"/>
          </p:cNvSpPr>
          <p:nvPr>
            <p:ph type="title"/>
          </p:nvPr>
        </p:nvSpPr>
        <p:spPr/>
        <p:txBody>
          <a:bodyPr/>
          <a:lstStyle/>
          <a:p>
            <a:r>
              <a:rPr lang="zh-CN" altLang="en-US" dirty="0"/>
              <a:t>并行计算</a:t>
            </a:r>
          </a:p>
        </p:txBody>
      </p:sp>
      <p:sp>
        <p:nvSpPr>
          <p:cNvPr id="3" name="内容占位符 2">
            <a:extLst>
              <a:ext uri="{FF2B5EF4-FFF2-40B4-BE49-F238E27FC236}">
                <a16:creationId xmlns:a16="http://schemas.microsoft.com/office/drawing/2014/main" id="{A3EFEDF5-82CB-457A-B77A-05183AC0EFEE}"/>
              </a:ext>
            </a:extLst>
          </p:cNvPr>
          <p:cNvSpPr>
            <a:spLocks noGrp="1"/>
          </p:cNvSpPr>
          <p:nvPr>
            <p:ph idx="1"/>
          </p:nvPr>
        </p:nvSpPr>
        <p:spPr/>
        <p:txBody>
          <a:bodyPr>
            <a:normAutofit/>
          </a:bodyPr>
          <a:lstStyle/>
          <a:p>
            <a:r>
              <a:rPr lang="zh-CN" altLang="zh-CN" sz="2000" dirty="0"/>
              <a:t>并行计算（</a:t>
            </a:r>
            <a:r>
              <a:rPr lang="en-US" altLang="zh-CN" sz="2000" dirty="0"/>
              <a:t>Parallel Computing</a:t>
            </a:r>
            <a:r>
              <a:rPr lang="zh-CN" altLang="zh-CN" sz="2000" dirty="0"/>
              <a:t>）或称平行计算，是相对串行计算提出的概念，是指同时使用多种计算资源解决计算问题的过程，其主要目的是快速解决大型且复杂的计算问题。</a:t>
            </a:r>
            <a:endParaRPr lang="en-US" altLang="zh-CN" sz="2000" dirty="0"/>
          </a:p>
          <a:p>
            <a:endParaRPr lang="en-US" altLang="zh-CN" sz="2000" dirty="0"/>
          </a:p>
          <a:p>
            <a:r>
              <a:rPr lang="zh-CN" altLang="zh-CN" sz="2000" dirty="0"/>
              <a:t>并行计算的特点是将任务分解成离散的多个部分，通过执行多个程序指令来完成计算。</a:t>
            </a:r>
            <a:endParaRPr lang="en-US" altLang="zh-CN" sz="2000" dirty="0"/>
          </a:p>
          <a:p>
            <a:endParaRPr lang="en-US" altLang="zh-CN" sz="2000" dirty="0"/>
          </a:p>
          <a:p>
            <a:r>
              <a:rPr lang="zh-CN" altLang="zh-CN" sz="2000" dirty="0"/>
              <a:t>在多计算资源下解决问题的耗时要明显少于单个计算资源下的耗时。</a:t>
            </a:r>
          </a:p>
          <a:p>
            <a:endParaRPr lang="zh-CN" altLang="en-US" sz="2000" dirty="0"/>
          </a:p>
        </p:txBody>
      </p:sp>
    </p:spTree>
    <p:extLst>
      <p:ext uri="{BB962C8B-B14F-4D97-AF65-F5344CB8AC3E}">
        <p14:creationId xmlns:p14="http://schemas.microsoft.com/office/powerpoint/2010/main" val="1106228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201218-DFE5-47B9-A29E-03EA3BC7B8A0}"/>
              </a:ext>
            </a:extLst>
          </p:cNvPr>
          <p:cNvSpPr>
            <a:spLocks noGrp="1"/>
          </p:cNvSpPr>
          <p:nvPr>
            <p:ph type="title"/>
          </p:nvPr>
        </p:nvSpPr>
        <p:spPr/>
        <p:txBody>
          <a:bodyPr/>
          <a:lstStyle/>
          <a:p>
            <a:r>
              <a:rPr lang="zh-CN" altLang="en-US" dirty="0"/>
              <a:t>并行计算</a:t>
            </a:r>
          </a:p>
        </p:txBody>
      </p:sp>
      <p:sp>
        <p:nvSpPr>
          <p:cNvPr id="3" name="内容占位符 2">
            <a:extLst>
              <a:ext uri="{FF2B5EF4-FFF2-40B4-BE49-F238E27FC236}">
                <a16:creationId xmlns:a16="http://schemas.microsoft.com/office/drawing/2014/main" id="{29AF79AE-F33B-444A-9FE1-4B918D082C06}"/>
              </a:ext>
            </a:extLst>
          </p:cNvPr>
          <p:cNvSpPr>
            <a:spLocks noGrp="1"/>
          </p:cNvSpPr>
          <p:nvPr>
            <p:ph idx="1"/>
          </p:nvPr>
        </p:nvSpPr>
        <p:spPr>
          <a:xfrm>
            <a:off x="677334" y="2160589"/>
            <a:ext cx="8596668" cy="3880773"/>
          </a:xfrm>
        </p:spPr>
        <p:txBody>
          <a:bodyPr/>
          <a:lstStyle/>
          <a:p>
            <a:endParaRPr lang="zh-CN" altLang="en-US" dirty="0"/>
          </a:p>
        </p:txBody>
      </p:sp>
      <p:sp>
        <p:nvSpPr>
          <p:cNvPr id="4" name="Rectangle 2">
            <a:extLst>
              <a:ext uri="{FF2B5EF4-FFF2-40B4-BE49-F238E27FC236}">
                <a16:creationId xmlns:a16="http://schemas.microsoft.com/office/drawing/2014/main" id="{6495F4B6-A212-41ED-B309-413E6163262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375A2A3E-3052-4C0A-9664-6757527ABD5F}"/>
              </a:ext>
            </a:extLst>
          </p:cNvPr>
          <p:cNvGraphicFramePr>
            <a:graphicFrameLocks noChangeAspect="1"/>
          </p:cNvGraphicFramePr>
          <p:nvPr>
            <p:extLst>
              <p:ext uri="{D42A27DB-BD31-4B8C-83A1-F6EECF244321}">
                <p14:modId xmlns:p14="http://schemas.microsoft.com/office/powerpoint/2010/main" val="1450335235"/>
              </p:ext>
            </p:extLst>
          </p:nvPr>
        </p:nvGraphicFramePr>
        <p:xfrm>
          <a:off x="1426464" y="1930400"/>
          <a:ext cx="7257216" cy="4221923"/>
        </p:xfrm>
        <a:graphic>
          <a:graphicData uri="http://schemas.openxmlformats.org/presentationml/2006/ole">
            <mc:AlternateContent xmlns:mc="http://schemas.openxmlformats.org/markup-compatibility/2006">
              <mc:Choice xmlns:v="urn:schemas-microsoft-com:vml" Requires="v">
                <p:oleObj spid="_x0000_s1063" name="Visio" r:id="rId3" imgW="8553570" imgH="4953114" progId="Visio.Drawing.15">
                  <p:embed/>
                </p:oleObj>
              </mc:Choice>
              <mc:Fallback>
                <p:oleObj name="Visio" r:id="rId3" imgW="8553570" imgH="495311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6464" y="1930400"/>
                        <a:ext cx="7257216" cy="4221923"/>
                      </a:xfrm>
                      <a:prstGeom prst="rect">
                        <a:avLst/>
                      </a:prstGeom>
                      <a:noFill/>
                    </p:spPr>
                  </p:pic>
                </p:oleObj>
              </mc:Fallback>
            </mc:AlternateContent>
          </a:graphicData>
        </a:graphic>
      </p:graphicFrame>
    </p:spTree>
    <p:extLst>
      <p:ext uri="{BB962C8B-B14F-4D97-AF65-F5344CB8AC3E}">
        <p14:creationId xmlns:p14="http://schemas.microsoft.com/office/powerpoint/2010/main" val="171932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201218-DFE5-47B9-A29E-03EA3BC7B8A0}"/>
              </a:ext>
            </a:extLst>
          </p:cNvPr>
          <p:cNvSpPr>
            <a:spLocks noGrp="1"/>
          </p:cNvSpPr>
          <p:nvPr>
            <p:ph type="title"/>
          </p:nvPr>
        </p:nvSpPr>
        <p:spPr/>
        <p:txBody>
          <a:bodyPr/>
          <a:lstStyle/>
          <a:p>
            <a:r>
              <a:rPr lang="zh-CN" altLang="zh-CN" dirty="0"/>
              <a:t>云计算</a:t>
            </a:r>
            <a:r>
              <a:rPr lang="zh-CN" altLang="en-US" dirty="0"/>
              <a:t>与并行计算的区别</a:t>
            </a:r>
          </a:p>
        </p:txBody>
      </p:sp>
      <p:sp>
        <p:nvSpPr>
          <p:cNvPr id="3" name="内容占位符 2">
            <a:extLst>
              <a:ext uri="{FF2B5EF4-FFF2-40B4-BE49-F238E27FC236}">
                <a16:creationId xmlns:a16="http://schemas.microsoft.com/office/drawing/2014/main" id="{29AF79AE-F33B-444A-9FE1-4B918D082C06}"/>
              </a:ext>
            </a:extLst>
          </p:cNvPr>
          <p:cNvSpPr>
            <a:spLocks noGrp="1"/>
          </p:cNvSpPr>
          <p:nvPr>
            <p:ph idx="1"/>
          </p:nvPr>
        </p:nvSpPr>
        <p:spPr>
          <a:xfrm>
            <a:off x="677334" y="2160589"/>
            <a:ext cx="8596668" cy="3880773"/>
          </a:xfrm>
        </p:spPr>
        <p:txBody>
          <a:bodyPr/>
          <a:lstStyle/>
          <a:p>
            <a:r>
              <a:rPr lang="en-US" altLang="zh-CN" sz="2800" dirty="0">
                <a:solidFill>
                  <a:srgbClr val="00B050"/>
                </a:solidFill>
              </a:rPr>
              <a:t>1.</a:t>
            </a:r>
            <a:r>
              <a:rPr lang="zh-CN" altLang="zh-CN" sz="2800" dirty="0">
                <a:solidFill>
                  <a:srgbClr val="00B050"/>
                </a:solidFill>
              </a:rPr>
              <a:t>云计算源于并行计算</a:t>
            </a:r>
            <a:endParaRPr lang="en-US" altLang="zh-CN" sz="2800" dirty="0">
              <a:solidFill>
                <a:srgbClr val="00B050"/>
              </a:solidFill>
            </a:endParaRPr>
          </a:p>
          <a:p>
            <a:endParaRPr lang="en-US" altLang="zh-CN" dirty="0">
              <a:solidFill>
                <a:srgbClr val="00B050"/>
              </a:solidFill>
            </a:endParaRPr>
          </a:p>
          <a:p>
            <a:r>
              <a:rPr lang="zh-CN" altLang="zh-CN" dirty="0"/>
              <a:t>并行计算的出现是人们不满足于</a:t>
            </a:r>
            <a:r>
              <a:rPr lang="en-US" altLang="zh-CN" dirty="0"/>
              <a:t>Intel</a:t>
            </a:r>
            <a:r>
              <a:rPr lang="zh-CN" altLang="zh-CN" dirty="0"/>
              <a:t>公司创始人戈登</a:t>
            </a:r>
            <a:r>
              <a:rPr lang="en-US" altLang="zh-CN" dirty="0"/>
              <a:t>·</a:t>
            </a:r>
            <a:r>
              <a:rPr lang="zh-CN" altLang="zh-CN" dirty="0"/>
              <a:t>摩尔（</a:t>
            </a:r>
            <a:r>
              <a:rPr lang="en-US" altLang="zh-CN" dirty="0"/>
              <a:t>Gordon Moore</a:t>
            </a:r>
            <a:r>
              <a:rPr lang="zh-CN" altLang="zh-CN" dirty="0"/>
              <a:t>）提出来</a:t>
            </a:r>
            <a:r>
              <a:rPr lang="en-US" altLang="zh-CN" dirty="0"/>
              <a:t>“</a:t>
            </a:r>
            <a:r>
              <a:rPr lang="zh-CN" altLang="zh-CN" dirty="0"/>
              <a:t>摩尔定律</a:t>
            </a:r>
            <a:r>
              <a:rPr lang="en-US" altLang="zh-CN" dirty="0"/>
              <a:t>”</a:t>
            </a:r>
            <a:r>
              <a:rPr lang="zh-CN" altLang="zh-CN" dirty="0"/>
              <a:t>（当价格不变时，集成电路上可容纳的元器件的数目，约每隔</a:t>
            </a:r>
            <a:r>
              <a:rPr lang="en-US" altLang="zh-CN" dirty="0"/>
              <a:t>18-24</a:t>
            </a:r>
            <a:r>
              <a:rPr lang="zh-CN" altLang="zh-CN" dirty="0"/>
              <a:t>个月便会增加一倍，性能也将提升一倍）的增长速度，希望将任务分解成离散的多个部分，随时并及时地执行多个离散部分，从而获得更快的计算速度。</a:t>
            </a:r>
            <a:endParaRPr lang="en-US" altLang="zh-CN" dirty="0"/>
          </a:p>
          <a:p>
            <a:endParaRPr lang="en-US" altLang="zh-CN" dirty="0"/>
          </a:p>
          <a:p>
            <a:r>
              <a:rPr lang="zh-CN" altLang="zh-CN" dirty="0"/>
              <a:t>这种很简单的实现高速计算的方法被证明相当成功，但由于并行计算可以达到的并行度有限，人们开始把提高计算速度的思想从一台计算机的并行转移到多台计算机协同并行上来，逐渐产生了云计算的概念。</a:t>
            </a:r>
          </a:p>
          <a:p>
            <a:endParaRPr lang="zh-CN" altLang="en-US" dirty="0"/>
          </a:p>
        </p:txBody>
      </p:sp>
      <p:sp>
        <p:nvSpPr>
          <p:cNvPr id="4" name="Rectangle 2">
            <a:extLst>
              <a:ext uri="{FF2B5EF4-FFF2-40B4-BE49-F238E27FC236}">
                <a16:creationId xmlns:a16="http://schemas.microsoft.com/office/drawing/2014/main" id="{6495F4B6-A212-41ED-B309-413E6163262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11850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201218-DFE5-47B9-A29E-03EA3BC7B8A0}"/>
              </a:ext>
            </a:extLst>
          </p:cNvPr>
          <p:cNvSpPr>
            <a:spLocks noGrp="1"/>
          </p:cNvSpPr>
          <p:nvPr>
            <p:ph type="title"/>
          </p:nvPr>
        </p:nvSpPr>
        <p:spPr/>
        <p:txBody>
          <a:bodyPr/>
          <a:lstStyle/>
          <a:p>
            <a:r>
              <a:rPr lang="zh-CN" altLang="zh-CN" dirty="0"/>
              <a:t>云计算</a:t>
            </a:r>
            <a:r>
              <a:rPr lang="zh-CN" altLang="en-US" dirty="0"/>
              <a:t>与并行计算的区别</a:t>
            </a:r>
          </a:p>
        </p:txBody>
      </p:sp>
      <p:sp>
        <p:nvSpPr>
          <p:cNvPr id="3" name="内容占位符 2">
            <a:extLst>
              <a:ext uri="{FF2B5EF4-FFF2-40B4-BE49-F238E27FC236}">
                <a16:creationId xmlns:a16="http://schemas.microsoft.com/office/drawing/2014/main" id="{29AF79AE-F33B-444A-9FE1-4B918D082C06}"/>
              </a:ext>
            </a:extLst>
          </p:cNvPr>
          <p:cNvSpPr>
            <a:spLocks noGrp="1"/>
          </p:cNvSpPr>
          <p:nvPr>
            <p:ph idx="1"/>
          </p:nvPr>
        </p:nvSpPr>
        <p:spPr>
          <a:xfrm>
            <a:off x="677334" y="2160589"/>
            <a:ext cx="8596668" cy="3880773"/>
          </a:xfrm>
        </p:spPr>
        <p:txBody>
          <a:bodyPr/>
          <a:lstStyle/>
          <a:p>
            <a:r>
              <a:rPr lang="en-US" altLang="zh-CN" sz="2800" dirty="0">
                <a:solidFill>
                  <a:srgbClr val="00B050"/>
                </a:solidFill>
              </a:rPr>
              <a:t>2.</a:t>
            </a:r>
            <a:r>
              <a:rPr lang="zh-CN" altLang="en-US" sz="2800" dirty="0">
                <a:solidFill>
                  <a:srgbClr val="00B050"/>
                </a:solidFill>
              </a:rPr>
              <a:t>用户群体不同</a:t>
            </a:r>
            <a:endParaRPr lang="en-US" altLang="zh-CN" sz="2800" dirty="0">
              <a:solidFill>
                <a:srgbClr val="00B050"/>
              </a:solidFill>
            </a:endParaRPr>
          </a:p>
          <a:p>
            <a:endParaRPr lang="en-US" altLang="zh-CN" dirty="0">
              <a:solidFill>
                <a:srgbClr val="00B050"/>
              </a:solidFill>
            </a:endParaRPr>
          </a:p>
          <a:p>
            <a:r>
              <a:rPr lang="zh-CN" altLang="zh-CN" dirty="0"/>
              <a:t>并行计算的提出最初主要是为了满足科学和技术领域的专业需要，利用并行计算的领域也基本局限于科学领域。</a:t>
            </a:r>
            <a:endParaRPr lang="en-US" altLang="zh-CN" dirty="0"/>
          </a:p>
          <a:p>
            <a:endParaRPr lang="en-US" altLang="zh-CN" dirty="0"/>
          </a:p>
          <a:p>
            <a:r>
              <a:rPr lang="zh-CN" altLang="zh-CN" dirty="0"/>
              <a:t>传统并行计算机的使用是一个相当专业的工作，需要使用者有较高的专业素质，而且并行计算绝大部分采用命令行的操作，这对普通用户要求非常高。</a:t>
            </a:r>
            <a:endParaRPr lang="en-US" altLang="zh-CN" dirty="0"/>
          </a:p>
          <a:p>
            <a:endParaRPr lang="en-US" altLang="zh-CN" dirty="0"/>
          </a:p>
          <a:p>
            <a:r>
              <a:rPr lang="zh-CN" altLang="zh-CN" dirty="0"/>
              <a:t>云计算面向的不仅仅是科学领域和专业用户，它将计算资源包装成易使用的服务，无须专业的操作知识，几乎所有的行业和用户都也可以很容易使用云计算。</a:t>
            </a:r>
            <a:endParaRPr lang="zh-CN" altLang="en-US" dirty="0"/>
          </a:p>
        </p:txBody>
      </p:sp>
      <p:sp>
        <p:nvSpPr>
          <p:cNvPr id="4" name="Rectangle 2">
            <a:extLst>
              <a:ext uri="{FF2B5EF4-FFF2-40B4-BE49-F238E27FC236}">
                <a16:creationId xmlns:a16="http://schemas.microsoft.com/office/drawing/2014/main" id="{6495F4B6-A212-41ED-B309-413E6163262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996374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201218-DFE5-47B9-A29E-03EA3BC7B8A0}"/>
              </a:ext>
            </a:extLst>
          </p:cNvPr>
          <p:cNvSpPr>
            <a:spLocks noGrp="1"/>
          </p:cNvSpPr>
          <p:nvPr>
            <p:ph type="title"/>
          </p:nvPr>
        </p:nvSpPr>
        <p:spPr/>
        <p:txBody>
          <a:bodyPr/>
          <a:lstStyle/>
          <a:p>
            <a:r>
              <a:rPr lang="zh-CN" altLang="zh-CN" dirty="0"/>
              <a:t>云计算</a:t>
            </a:r>
            <a:r>
              <a:rPr lang="zh-CN" altLang="en-US" dirty="0"/>
              <a:t>与并行计算的区别</a:t>
            </a:r>
          </a:p>
        </p:txBody>
      </p:sp>
      <p:sp>
        <p:nvSpPr>
          <p:cNvPr id="3" name="内容占位符 2">
            <a:extLst>
              <a:ext uri="{FF2B5EF4-FFF2-40B4-BE49-F238E27FC236}">
                <a16:creationId xmlns:a16="http://schemas.microsoft.com/office/drawing/2014/main" id="{29AF79AE-F33B-444A-9FE1-4B918D082C06}"/>
              </a:ext>
            </a:extLst>
          </p:cNvPr>
          <p:cNvSpPr>
            <a:spLocks noGrp="1"/>
          </p:cNvSpPr>
          <p:nvPr>
            <p:ph idx="1"/>
          </p:nvPr>
        </p:nvSpPr>
        <p:spPr>
          <a:xfrm>
            <a:off x="677334" y="2160589"/>
            <a:ext cx="8596668" cy="3880773"/>
          </a:xfrm>
        </p:spPr>
        <p:txBody>
          <a:bodyPr/>
          <a:lstStyle/>
          <a:p>
            <a:r>
              <a:rPr lang="en-US" altLang="zh-CN" sz="2800" dirty="0">
                <a:solidFill>
                  <a:srgbClr val="00B050"/>
                </a:solidFill>
              </a:rPr>
              <a:t>3.</a:t>
            </a:r>
            <a:r>
              <a:rPr lang="zh-CN" altLang="en-US" sz="2800" dirty="0">
                <a:solidFill>
                  <a:srgbClr val="00B050"/>
                </a:solidFill>
              </a:rPr>
              <a:t>高性能与低要求</a:t>
            </a:r>
            <a:endParaRPr lang="en-US" altLang="zh-CN" sz="2800" dirty="0">
              <a:solidFill>
                <a:srgbClr val="00B050"/>
              </a:solidFill>
            </a:endParaRPr>
          </a:p>
          <a:p>
            <a:endParaRPr lang="en-US" altLang="zh-CN" dirty="0">
              <a:solidFill>
                <a:srgbClr val="00B050"/>
              </a:solidFill>
            </a:endParaRPr>
          </a:p>
          <a:p>
            <a:r>
              <a:rPr lang="zh-CN" altLang="zh-CN" dirty="0"/>
              <a:t>为了提高并行计算的能力，人们采用昂贵的服务器，不惜代价地提高计算速度。为提高并行计算能力而设计和开发的高性能计算机在不断推陈出新，一台大型高性能计算机如果在</a:t>
            </a:r>
            <a:r>
              <a:rPr lang="en-US" altLang="zh-CN" dirty="0"/>
              <a:t>3</a:t>
            </a:r>
            <a:r>
              <a:rPr lang="zh-CN" altLang="zh-CN" dirty="0"/>
              <a:t>年内不能得到有效的利用就会逐渐被淘汰，巨额的投资将无法收回。</a:t>
            </a:r>
            <a:endParaRPr lang="en-US" altLang="zh-CN" dirty="0"/>
          </a:p>
          <a:p>
            <a:r>
              <a:rPr lang="zh-CN" altLang="zh-CN" dirty="0"/>
              <a:t>而云计算的最重要目的并不是追求高性能，而是将计算资源以服务的形式提供给更多的人使用。</a:t>
            </a:r>
            <a:endParaRPr lang="en-US" altLang="zh-CN" dirty="0"/>
          </a:p>
          <a:p>
            <a:r>
              <a:rPr lang="zh-CN" altLang="zh-CN" dirty="0"/>
              <a:t>云计算并不一定要求使用昂贵的服务器，云计算中心的计算力和存储力可随着需要逐步增加，云计算的基础架构支持这一动态增加的方式，每个节点可以是非常廉价的计算机。</a:t>
            </a:r>
          </a:p>
        </p:txBody>
      </p:sp>
      <p:sp>
        <p:nvSpPr>
          <p:cNvPr id="4" name="Rectangle 2">
            <a:extLst>
              <a:ext uri="{FF2B5EF4-FFF2-40B4-BE49-F238E27FC236}">
                <a16:creationId xmlns:a16="http://schemas.microsoft.com/office/drawing/2014/main" id="{6495F4B6-A212-41ED-B309-413E6163262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539991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71F684-93A1-4A80-AD53-85EB6F645081}"/>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3F0B898F-3514-4933-93CD-AA920E376B5A}"/>
              </a:ext>
            </a:extLst>
          </p:cNvPr>
          <p:cNvSpPr>
            <a:spLocks noGrp="1"/>
          </p:cNvSpPr>
          <p:nvPr>
            <p:ph idx="1"/>
          </p:nvPr>
        </p:nvSpPr>
        <p:spPr>
          <a:xfrm>
            <a:off x="677334" y="2799782"/>
            <a:ext cx="8596668" cy="3880773"/>
          </a:xfrm>
        </p:spPr>
        <p:txBody>
          <a:bodyPr>
            <a:normAutofit/>
          </a:bodyPr>
          <a:lstStyle/>
          <a:p>
            <a:r>
              <a:rPr lang="zh-CN" altLang="en-US" sz="2400" dirty="0"/>
              <a:t>分布式计算（</a:t>
            </a:r>
            <a:r>
              <a:rPr lang="en-US" altLang="zh-CN" sz="2400" dirty="0"/>
              <a:t>Distributed Computing</a:t>
            </a:r>
            <a:r>
              <a:rPr lang="zh-CN" altLang="en-US" sz="2400" dirty="0"/>
              <a:t>）是把需要进行大量计算的工程数据分区成小块，由多台计算机分别计算，在上传运算结果后，将结果统一合并得出数据结论的计算方法。</a:t>
            </a:r>
          </a:p>
        </p:txBody>
      </p:sp>
    </p:spTree>
    <p:extLst>
      <p:ext uri="{BB962C8B-B14F-4D97-AF65-F5344CB8AC3E}">
        <p14:creationId xmlns:p14="http://schemas.microsoft.com/office/powerpoint/2010/main" val="3375072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F5215D-8EA9-45E2-8878-9CD89C3BC743}"/>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5A1061FC-53FF-4009-BE3A-60B038BEA051}"/>
              </a:ext>
            </a:extLst>
          </p:cNvPr>
          <p:cNvSpPr>
            <a:spLocks noGrp="1"/>
          </p:cNvSpPr>
          <p:nvPr>
            <p:ph idx="1"/>
          </p:nvPr>
        </p:nvSpPr>
        <p:spPr/>
        <p:txBody>
          <a:bodyPr/>
          <a:lstStyle/>
          <a:p>
            <a:endParaRPr lang="zh-CN" altLang="en-US" dirty="0"/>
          </a:p>
        </p:txBody>
      </p:sp>
      <p:sp>
        <p:nvSpPr>
          <p:cNvPr id="4" name="Rectangle 2">
            <a:extLst>
              <a:ext uri="{FF2B5EF4-FFF2-40B4-BE49-F238E27FC236}">
                <a16:creationId xmlns:a16="http://schemas.microsoft.com/office/drawing/2014/main" id="{AA1C5F32-ECD5-47FB-8A4D-23C959BCA50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FC48B555-24D8-4568-9D76-AADB89625796}"/>
              </a:ext>
            </a:extLst>
          </p:cNvPr>
          <p:cNvGraphicFramePr>
            <a:graphicFrameLocks noChangeAspect="1"/>
          </p:cNvGraphicFramePr>
          <p:nvPr>
            <p:extLst>
              <p:ext uri="{D42A27DB-BD31-4B8C-83A1-F6EECF244321}">
                <p14:modId xmlns:p14="http://schemas.microsoft.com/office/powerpoint/2010/main" val="3646908102"/>
              </p:ext>
            </p:extLst>
          </p:nvPr>
        </p:nvGraphicFramePr>
        <p:xfrm>
          <a:off x="2510280" y="1643987"/>
          <a:ext cx="4930775" cy="4397375"/>
        </p:xfrm>
        <a:graphic>
          <a:graphicData uri="http://schemas.openxmlformats.org/presentationml/2006/ole">
            <mc:AlternateContent xmlns:mc="http://schemas.openxmlformats.org/markup-compatibility/2006">
              <mc:Choice xmlns:v="urn:schemas-microsoft-com:vml" Requires="v">
                <p:oleObj spid="_x0000_s2077" name="Visio" r:id="rId3" imgW="6867691" imgH="6143575" progId="Visio.Drawing.15">
                  <p:embed/>
                </p:oleObj>
              </mc:Choice>
              <mc:Fallback>
                <p:oleObj name="Visio" r:id="rId3" imgW="6867691" imgH="614357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280" y="1643987"/>
                        <a:ext cx="4930775" cy="439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11789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F5215D-8EA9-45E2-8878-9CD89C3BC743}"/>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5A1061FC-53FF-4009-BE3A-60B038BEA051}"/>
              </a:ext>
            </a:extLst>
          </p:cNvPr>
          <p:cNvSpPr>
            <a:spLocks noGrp="1"/>
          </p:cNvSpPr>
          <p:nvPr>
            <p:ph idx="1"/>
          </p:nvPr>
        </p:nvSpPr>
        <p:spPr/>
        <p:txBody>
          <a:bodyPr/>
          <a:lstStyle/>
          <a:p>
            <a:r>
              <a:rPr lang="zh-CN" altLang="zh-CN" dirty="0"/>
              <a:t>并行计算与分布式计算都是运用并行来获得更高性能，化大任务为小任务。简单说来，如果处理单元共享内存，就称为并行计算，反之就是分布式计算。</a:t>
            </a:r>
            <a:endParaRPr lang="en-US" altLang="zh-CN" dirty="0"/>
          </a:p>
          <a:p>
            <a:endParaRPr lang="en-US" altLang="zh-CN" dirty="0"/>
          </a:p>
          <a:p>
            <a:r>
              <a:rPr lang="zh-CN" altLang="zh-CN" dirty="0"/>
              <a:t>但是，分布式的任务包互相之间有独立性，上一个任务包的结果未返回或者是结果处理错误，对下一个任务包的处理几乎没有什么影响。</a:t>
            </a:r>
            <a:endParaRPr lang="en-US" altLang="zh-CN" dirty="0"/>
          </a:p>
          <a:p>
            <a:endParaRPr lang="en-US" altLang="zh-CN" dirty="0"/>
          </a:p>
          <a:p>
            <a:r>
              <a:rPr lang="zh-CN" altLang="zh-CN" dirty="0"/>
              <a:t>因此，分布式的实时性要求不高，而且允许存在计算错误。相比并行计算，分布式计算的资源利用率更高，计算效率也更高。</a:t>
            </a:r>
            <a:endParaRPr lang="en-US" altLang="zh-CN" dirty="0"/>
          </a:p>
          <a:p>
            <a:endParaRPr lang="zh-CN" altLang="zh-CN" dirty="0"/>
          </a:p>
          <a:p>
            <a:r>
              <a:rPr lang="zh-CN" altLang="zh-CN" dirty="0"/>
              <a:t>相比并行计算，分布式计算与云计算的理念更加接近。可以说，云计算是在分布式计算的基础上扩充和发展起来的。</a:t>
            </a:r>
            <a:endParaRPr lang="zh-CN" altLang="en-US" dirty="0"/>
          </a:p>
        </p:txBody>
      </p:sp>
    </p:spTree>
    <p:extLst>
      <p:ext uri="{BB962C8B-B14F-4D97-AF65-F5344CB8AC3E}">
        <p14:creationId xmlns:p14="http://schemas.microsoft.com/office/powerpoint/2010/main" val="2223954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F5215D-8EA9-45E2-8878-9CD89C3BC743}"/>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5A1061FC-53FF-4009-BE3A-60B038BEA051}"/>
              </a:ext>
            </a:extLst>
          </p:cNvPr>
          <p:cNvSpPr>
            <a:spLocks noGrp="1"/>
          </p:cNvSpPr>
          <p:nvPr>
            <p:ph idx="1"/>
          </p:nvPr>
        </p:nvSpPr>
        <p:spPr/>
        <p:txBody>
          <a:bodyPr/>
          <a:lstStyle/>
          <a:p>
            <a:r>
              <a:rPr lang="zh-CN" altLang="zh-CN" sz="2800" dirty="0"/>
              <a:t>分布式计算具有以下几个优点</a:t>
            </a:r>
            <a:r>
              <a:rPr lang="zh-CN" altLang="en-US" sz="2800" dirty="0"/>
              <a:t>：</a:t>
            </a:r>
            <a:endParaRPr lang="en-US" altLang="zh-CN" sz="2800" dirty="0"/>
          </a:p>
          <a:p>
            <a:endParaRPr lang="en-US" altLang="zh-CN" dirty="0"/>
          </a:p>
          <a:p>
            <a:r>
              <a:rPr lang="zh-CN" altLang="zh-CN" dirty="0"/>
              <a:t>（</a:t>
            </a:r>
            <a:r>
              <a:rPr lang="en-US" altLang="zh-CN" dirty="0"/>
              <a:t>1</a:t>
            </a:r>
            <a:r>
              <a:rPr lang="zh-CN" altLang="zh-CN" dirty="0"/>
              <a:t>）稀有的资源可以共享；</a:t>
            </a:r>
            <a:endParaRPr lang="en-US" altLang="zh-CN" dirty="0"/>
          </a:p>
          <a:p>
            <a:endParaRPr lang="zh-CN" altLang="zh-CN" dirty="0"/>
          </a:p>
          <a:p>
            <a:r>
              <a:rPr lang="zh-CN" altLang="zh-CN" dirty="0"/>
              <a:t>（</a:t>
            </a:r>
            <a:r>
              <a:rPr lang="en-US" altLang="zh-CN" dirty="0"/>
              <a:t>2</a:t>
            </a:r>
            <a:r>
              <a:rPr lang="zh-CN" altLang="zh-CN" dirty="0"/>
              <a:t>）通过分布式计算可以在多台计算机上平衡计算负载；</a:t>
            </a:r>
            <a:endParaRPr lang="en-US" altLang="zh-CN" dirty="0"/>
          </a:p>
          <a:p>
            <a:endParaRPr lang="zh-CN" altLang="zh-CN" dirty="0"/>
          </a:p>
          <a:p>
            <a:r>
              <a:rPr lang="zh-CN" altLang="zh-CN" dirty="0"/>
              <a:t>（</a:t>
            </a:r>
            <a:r>
              <a:rPr lang="en-US" altLang="zh-CN" dirty="0"/>
              <a:t>3</a:t>
            </a:r>
            <a:r>
              <a:rPr lang="zh-CN" altLang="zh-CN" dirty="0"/>
              <a:t>）可以把程序放在最适合运行的计算机上。</a:t>
            </a:r>
            <a:endParaRPr lang="zh-CN" altLang="en-US" dirty="0"/>
          </a:p>
        </p:txBody>
      </p:sp>
    </p:spTree>
    <p:extLst>
      <p:ext uri="{BB962C8B-B14F-4D97-AF65-F5344CB8AC3E}">
        <p14:creationId xmlns:p14="http://schemas.microsoft.com/office/powerpoint/2010/main" val="1234198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F5215D-8EA9-45E2-8878-9CD89C3BC743}"/>
              </a:ext>
            </a:extLst>
          </p:cNvPr>
          <p:cNvSpPr>
            <a:spLocks noGrp="1"/>
          </p:cNvSpPr>
          <p:nvPr>
            <p:ph type="title"/>
          </p:nvPr>
        </p:nvSpPr>
        <p:spPr/>
        <p:txBody>
          <a:bodyPr/>
          <a:lstStyle/>
          <a:p>
            <a:r>
              <a:rPr lang="zh-CN" altLang="en-US" dirty="0"/>
              <a:t>分布式计算</a:t>
            </a:r>
          </a:p>
        </p:txBody>
      </p:sp>
      <p:sp>
        <p:nvSpPr>
          <p:cNvPr id="3" name="内容占位符 2">
            <a:extLst>
              <a:ext uri="{FF2B5EF4-FFF2-40B4-BE49-F238E27FC236}">
                <a16:creationId xmlns:a16="http://schemas.microsoft.com/office/drawing/2014/main" id="{5A1061FC-53FF-4009-BE3A-60B038BEA051}"/>
              </a:ext>
            </a:extLst>
          </p:cNvPr>
          <p:cNvSpPr>
            <a:spLocks noGrp="1"/>
          </p:cNvSpPr>
          <p:nvPr>
            <p:ph idx="1"/>
          </p:nvPr>
        </p:nvSpPr>
        <p:spPr/>
        <p:txBody>
          <a:bodyPr>
            <a:normAutofit/>
          </a:bodyPr>
          <a:lstStyle/>
          <a:p>
            <a:r>
              <a:rPr lang="zh-CN" altLang="zh-CN" sz="2400" dirty="0"/>
              <a:t>目前常见的分布式计算项目通常使用世界各地上千万志愿者计算机的闲置计算能力，通过互联网进行数据传输。</a:t>
            </a:r>
            <a:endParaRPr lang="en-US" altLang="zh-CN" sz="2400" dirty="0"/>
          </a:p>
          <a:p>
            <a:endParaRPr lang="en-US" altLang="zh-CN" sz="2400" dirty="0"/>
          </a:p>
          <a:p>
            <a:r>
              <a:rPr lang="zh-CN" altLang="zh-CN" sz="2400" dirty="0"/>
              <a:t>例如，分析计算蛋白质的内部结构和相关药物的项目，该项目结构庞大，需要惊人的计算量，由一台计算机计算是不可能完成的。</a:t>
            </a:r>
            <a:endParaRPr lang="zh-CN" altLang="en-US" sz="2400" dirty="0"/>
          </a:p>
        </p:txBody>
      </p:sp>
    </p:spTree>
    <p:extLst>
      <p:ext uri="{BB962C8B-B14F-4D97-AF65-F5344CB8AC3E}">
        <p14:creationId xmlns:p14="http://schemas.microsoft.com/office/powerpoint/2010/main" val="650120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BD0DF-34AC-498A-A4E3-95F14C6E65FE}"/>
              </a:ext>
            </a:extLst>
          </p:cNvPr>
          <p:cNvSpPr>
            <a:spLocks noGrp="1"/>
          </p:cNvSpPr>
          <p:nvPr>
            <p:ph type="title"/>
          </p:nvPr>
        </p:nvSpPr>
        <p:spPr/>
        <p:txBody>
          <a:bodyPr/>
          <a:lstStyle/>
          <a:p>
            <a:r>
              <a:rPr lang="zh-CN" altLang="en-US" dirty="0"/>
              <a:t>集群计算</a:t>
            </a:r>
          </a:p>
        </p:txBody>
      </p:sp>
      <p:sp>
        <p:nvSpPr>
          <p:cNvPr id="3" name="内容占位符 2">
            <a:extLst>
              <a:ext uri="{FF2B5EF4-FFF2-40B4-BE49-F238E27FC236}">
                <a16:creationId xmlns:a16="http://schemas.microsoft.com/office/drawing/2014/main" id="{3ACF587B-870A-4E4C-8FA7-A7D2780DE9C9}"/>
              </a:ext>
            </a:extLst>
          </p:cNvPr>
          <p:cNvSpPr>
            <a:spLocks noGrp="1"/>
          </p:cNvSpPr>
          <p:nvPr>
            <p:ph idx="1"/>
          </p:nvPr>
        </p:nvSpPr>
        <p:spPr/>
        <p:txBody>
          <a:bodyPr/>
          <a:lstStyle/>
          <a:p>
            <a:r>
              <a:rPr lang="zh-CN" altLang="zh-CN" dirty="0"/>
              <a:t>集群计算（</a:t>
            </a:r>
            <a:r>
              <a:rPr lang="en-US" altLang="zh-CN" dirty="0"/>
              <a:t>Cluster Computing</a:t>
            </a:r>
            <a:r>
              <a:rPr lang="zh-CN" altLang="zh-CN" dirty="0"/>
              <a:t>）是指同时使用多台计算机（例如个人计算机、服务器、工作站等计算机）、多个存储设备和记忆冗余的互连线路来组成一个对用户来说单一的、高可用的系统，通过这个系统来实现计算的负载均衡。</a:t>
            </a:r>
            <a:endParaRPr lang="en-US" altLang="zh-CN" dirty="0"/>
          </a:p>
          <a:p>
            <a:endParaRPr lang="en-US" altLang="zh-CN" dirty="0"/>
          </a:p>
          <a:p>
            <a:r>
              <a:rPr lang="zh-CN" altLang="zh-CN" dirty="0"/>
              <a:t>集群系统中的单个计算机通常称为节点，通常通过局域网连接，但也有其他的可能连接方式。</a:t>
            </a:r>
            <a:endParaRPr lang="en-US" altLang="zh-CN" dirty="0"/>
          </a:p>
          <a:p>
            <a:endParaRPr lang="en-US" altLang="zh-CN" dirty="0"/>
          </a:p>
          <a:p>
            <a:r>
              <a:rPr lang="zh-CN" altLang="zh-CN" dirty="0"/>
              <a:t>集群计算机通常用来改进单个计算机的计算速度和可靠性。</a:t>
            </a:r>
            <a:endParaRPr lang="en-US" altLang="zh-CN" dirty="0"/>
          </a:p>
          <a:p>
            <a:endParaRPr lang="en-US" altLang="zh-CN" dirty="0"/>
          </a:p>
          <a:p>
            <a:r>
              <a:rPr lang="zh-CN" altLang="zh-CN" dirty="0"/>
              <a:t>一般情况下集群计算机比单个计算机，如工作站或超级计算机性价比要高得多。</a:t>
            </a:r>
            <a:endParaRPr lang="zh-CN" altLang="en-US" dirty="0"/>
          </a:p>
        </p:txBody>
      </p:sp>
    </p:spTree>
    <p:extLst>
      <p:ext uri="{BB962C8B-B14F-4D97-AF65-F5344CB8AC3E}">
        <p14:creationId xmlns:p14="http://schemas.microsoft.com/office/powerpoint/2010/main" val="11519065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集群计算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lstStyle/>
          <a:p>
            <a:endParaRPr lang="zh-CN" altLang="en-US" dirty="0"/>
          </a:p>
        </p:txBody>
      </p:sp>
      <p:sp>
        <p:nvSpPr>
          <p:cNvPr id="5" name="Rectangle 2">
            <a:extLst>
              <a:ext uri="{FF2B5EF4-FFF2-40B4-BE49-F238E27FC236}">
                <a16:creationId xmlns:a16="http://schemas.microsoft.com/office/drawing/2014/main" id="{E0B3D2AD-7A58-475B-9E41-B1A3CC3D4BF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922B398C-1C98-4A99-A2D4-EDA6CA6E757D}"/>
              </a:ext>
            </a:extLst>
          </p:cNvPr>
          <p:cNvGraphicFramePr>
            <a:graphicFrameLocks noChangeAspect="1"/>
          </p:cNvGraphicFramePr>
          <p:nvPr>
            <p:extLst>
              <p:ext uri="{D42A27DB-BD31-4B8C-83A1-F6EECF244321}">
                <p14:modId xmlns:p14="http://schemas.microsoft.com/office/powerpoint/2010/main" val="388272859"/>
              </p:ext>
            </p:extLst>
          </p:nvPr>
        </p:nvGraphicFramePr>
        <p:xfrm>
          <a:off x="2476870" y="1681825"/>
          <a:ext cx="5646198" cy="4464435"/>
        </p:xfrm>
        <a:graphic>
          <a:graphicData uri="http://schemas.openxmlformats.org/presentationml/2006/ole">
            <mc:AlternateContent xmlns:mc="http://schemas.openxmlformats.org/markup-compatibility/2006">
              <mc:Choice xmlns:v="urn:schemas-microsoft-com:vml" Requires="v">
                <p:oleObj spid="_x0000_s6168" name="Visio" r:id="rId3" imgW="6772084" imgH="5372299" progId="Visio.Drawing.15">
                  <p:embed/>
                </p:oleObj>
              </mc:Choice>
              <mc:Fallback>
                <p:oleObj name="Visio" r:id="rId3" imgW="6772084" imgH="5372299"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6870" y="1681825"/>
                        <a:ext cx="5646198" cy="4464435"/>
                      </a:xfrm>
                      <a:prstGeom prst="rect">
                        <a:avLst/>
                      </a:prstGeom>
                      <a:noFill/>
                    </p:spPr>
                  </p:pic>
                </p:oleObj>
              </mc:Fallback>
            </mc:AlternateContent>
          </a:graphicData>
        </a:graphic>
      </p:graphicFrame>
    </p:spTree>
    <p:extLst>
      <p:ext uri="{BB962C8B-B14F-4D97-AF65-F5344CB8AC3E}">
        <p14:creationId xmlns:p14="http://schemas.microsoft.com/office/powerpoint/2010/main" val="2297197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云计算与集群计算的异同</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a:bodyPr>
          <a:lstStyle/>
          <a:p>
            <a:r>
              <a:rPr lang="en-US" altLang="zh-CN" sz="2000" dirty="0"/>
              <a:t>1</a:t>
            </a:r>
            <a:r>
              <a:rPr lang="zh-CN" altLang="en-US" sz="2000" dirty="0"/>
              <a:t>．连接方式相同</a:t>
            </a:r>
            <a:endParaRPr lang="en-US" altLang="zh-CN" sz="2000" dirty="0"/>
          </a:p>
          <a:p>
            <a:pPr lvl="1"/>
            <a:r>
              <a:rPr lang="zh-CN" altLang="en-US" dirty="0"/>
              <a:t>集群计算将多台计算机、多个存储设备和记忆冗余的互连线路来组成一个对用户来说单一的、高可用的系统，而云计算也是将多个计算设备连接起来组成一个云计算平台，为用户提供服务。</a:t>
            </a:r>
            <a:endParaRPr lang="en-US" altLang="zh-CN" dirty="0"/>
          </a:p>
          <a:p>
            <a:r>
              <a:rPr lang="en-US" altLang="zh-CN" sz="2000" dirty="0"/>
              <a:t>2</a:t>
            </a:r>
            <a:r>
              <a:rPr lang="zh-CN" altLang="en-US" sz="2000" dirty="0"/>
              <a:t>．组织方式不同</a:t>
            </a:r>
            <a:endParaRPr lang="en-US" altLang="zh-CN" sz="2000" dirty="0"/>
          </a:p>
          <a:p>
            <a:pPr lvl="1"/>
            <a:r>
              <a:rPr lang="zh-CN" altLang="en-US" dirty="0"/>
              <a:t>集群计算连接的多台计算机一般是同构的，通常通过局域网连接，而云计算组成的计算设备不要求同构，甚至可以是不同配置、不同种类的设备。</a:t>
            </a:r>
            <a:endParaRPr lang="en-US" altLang="zh-CN" dirty="0"/>
          </a:p>
          <a:p>
            <a:r>
              <a:rPr lang="en-US" altLang="zh-CN" sz="2000" dirty="0"/>
              <a:t>3</a:t>
            </a:r>
            <a:r>
              <a:rPr lang="zh-CN" altLang="en-US" sz="2000" dirty="0"/>
              <a:t>．主要用途不同</a:t>
            </a:r>
            <a:endParaRPr lang="en-US" altLang="zh-CN" sz="2000" dirty="0"/>
          </a:p>
          <a:p>
            <a:pPr lvl="1"/>
            <a:r>
              <a:rPr lang="zh-CN" altLang="en-US" dirty="0"/>
              <a:t>集群计算的一个常用用途是在一个高流量的网站中实现负载均衡。而云计算的用途不仅限于负载均衡，它面向的用户更加广泛，可以为广大用户提供廉价、高性价比的计算服务。</a:t>
            </a:r>
          </a:p>
        </p:txBody>
      </p:sp>
    </p:spTree>
    <p:extLst>
      <p:ext uri="{BB962C8B-B14F-4D97-AF65-F5344CB8AC3E}">
        <p14:creationId xmlns:p14="http://schemas.microsoft.com/office/powerpoint/2010/main" val="3865534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网格计算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a:xfrm>
            <a:off x="677334" y="2648861"/>
            <a:ext cx="8596668" cy="3880773"/>
          </a:xfrm>
        </p:spPr>
        <p:txBody>
          <a:bodyPr>
            <a:normAutofit/>
          </a:bodyPr>
          <a:lstStyle/>
          <a:p>
            <a:r>
              <a:rPr lang="zh-CN" altLang="zh-CN" sz="2400" dirty="0"/>
              <a:t>网格计算（</a:t>
            </a:r>
            <a:r>
              <a:rPr lang="en-US" altLang="zh-CN" sz="2400" dirty="0"/>
              <a:t>Grid Computing</a:t>
            </a:r>
            <a:r>
              <a:rPr lang="zh-CN" altLang="zh-CN" sz="2400" dirty="0"/>
              <a:t>）是指利用互联网把地理上广泛分布的各种资源（例如，计算资源、存储资源、带宽资源、软件资源、数据资源、信息资源、知识资源等），连成一个逻辑整体，就像一台超级计算机一样，为用户提供一体化信息和应用服务（如计算、存储、访问等）。</a:t>
            </a:r>
            <a:endParaRPr lang="zh-CN" altLang="en-US" sz="2400" dirty="0"/>
          </a:p>
        </p:txBody>
      </p:sp>
    </p:spTree>
    <p:extLst>
      <p:ext uri="{BB962C8B-B14F-4D97-AF65-F5344CB8AC3E}">
        <p14:creationId xmlns:p14="http://schemas.microsoft.com/office/powerpoint/2010/main" val="41676401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网格计算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A2429AA9-11B1-4C65-80BB-CE1D0C4421E4}"/>
              </a:ext>
            </a:extLst>
          </p:cNvPr>
          <p:cNvPicPr/>
          <p:nvPr/>
        </p:nvPicPr>
        <p:blipFill>
          <a:blip r:embed="rId2">
            <a:extLst>
              <a:ext uri="{28A0092B-C50C-407E-A947-70E740481C1C}">
                <a14:useLocalDpi xmlns:a14="http://schemas.microsoft.com/office/drawing/2010/main" val="0"/>
              </a:ext>
            </a:extLst>
          </a:blip>
          <a:stretch>
            <a:fillRect/>
          </a:stretch>
        </p:blipFill>
        <p:spPr>
          <a:xfrm>
            <a:off x="2694372" y="1682938"/>
            <a:ext cx="5490839" cy="4836074"/>
          </a:xfrm>
          <a:prstGeom prst="rect">
            <a:avLst/>
          </a:prstGeom>
        </p:spPr>
      </p:pic>
    </p:spTree>
    <p:extLst>
      <p:ext uri="{BB962C8B-B14F-4D97-AF65-F5344CB8AC3E}">
        <p14:creationId xmlns:p14="http://schemas.microsoft.com/office/powerpoint/2010/main" val="4281972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网格计算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a:bodyPr>
          <a:lstStyle/>
          <a:p>
            <a:r>
              <a:rPr lang="zh-CN" altLang="zh-CN" sz="2400" dirty="0"/>
              <a:t>网格计算和集群计算是相对提出的，集群计算连接的是同构的计算机，网格计算是异构的，连接的是一组相关并不信任的计算机，它的运作更像一个计算公共设施而不是一个独立的计算机。</a:t>
            </a:r>
            <a:endParaRPr lang="en-US" altLang="zh-CN" sz="2400" dirty="0"/>
          </a:p>
          <a:p>
            <a:endParaRPr lang="en-US" altLang="zh-CN" sz="2400" dirty="0"/>
          </a:p>
          <a:p>
            <a:r>
              <a:rPr lang="zh-CN" altLang="zh-CN" sz="2400" dirty="0"/>
              <a:t>网格计算扩展包括用户桌面机，而集群计算一般局限于数据中心。</a:t>
            </a:r>
            <a:endParaRPr lang="zh-CN" altLang="en-US" sz="2400" dirty="0"/>
          </a:p>
        </p:txBody>
      </p:sp>
    </p:spTree>
    <p:extLst>
      <p:ext uri="{BB962C8B-B14F-4D97-AF65-F5344CB8AC3E}">
        <p14:creationId xmlns:p14="http://schemas.microsoft.com/office/powerpoint/2010/main" val="24535416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云计算与网格计算的异同</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fontScale="92500" lnSpcReduction="20000"/>
          </a:bodyPr>
          <a:lstStyle/>
          <a:p>
            <a:r>
              <a:rPr lang="en-US" altLang="zh-CN" sz="2400" dirty="0"/>
              <a:t>1</a:t>
            </a:r>
            <a:r>
              <a:rPr lang="zh-CN" altLang="en-US" sz="2400" dirty="0"/>
              <a:t>． 可以提高网络资源的利用率</a:t>
            </a:r>
            <a:endParaRPr lang="en-US" altLang="zh-CN" sz="2400" dirty="0"/>
          </a:p>
          <a:p>
            <a:pPr lvl="1"/>
            <a:r>
              <a:rPr lang="zh-CN" altLang="en-US" dirty="0"/>
              <a:t>网格计算和云计算都可以提高网络资源的利用率，特别是将闲置的计算资源、存储资源、带宽资源、软件资源、数据资源、信息资源、知识资源等连入互联网，连成一个逻辑整体，就像一台超级计算机一样，为用户提供一体化信息和应用服务。</a:t>
            </a:r>
            <a:endParaRPr lang="en-US" altLang="zh-CN" dirty="0"/>
          </a:p>
          <a:p>
            <a:r>
              <a:rPr lang="en-US" altLang="zh-CN" sz="2400" dirty="0"/>
              <a:t>2</a:t>
            </a:r>
            <a:r>
              <a:rPr lang="zh-CN" altLang="en-US" sz="2400" dirty="0"/>
              <a:t>．主要用途不同</a:t>
            </a:r>
            <a:endParaRPr lang="en-US" altLang="zh-CN" sz="2400" dirty="0"/>
          </a:p>
          <a:p>
            <a:pPr lvl="1"/>
            <a:r>
              <a:rPr lang="zh-CN" altLang="en-US" sz="1700" dirty="0"/>
              <a:t>网格计算和集群计算的主要用途一致，十把一个需要非常巨大的计算能力才能解决的问题分成许多小的部分，然后把这些部分分配给许多计算机进行处理，最后把这些计算结果综合起来得到最终结果。而云计算的主要用途不是为科研人员解决复杂运算，而是面向广大用户提供廉价、高性价比的计算服务。</a:t>
            </a:r>
            <a:endParaRPr lang="en-US" altLang="zh-CN" sz="1700" dirty="0"/>
          </a:p>
          <a:p>
            <a:r>
              <a:rPr lang="en-US" altLang="zh-CN" sz="2400" dirty="0"/>
              <a:t>3</a:t>
            </a:r>
            <a:r>
              <a:rPr lang="zh-CN" altLang="en-US" sz="2400" dirty="0"/>
              <a:t>．侧重点不同</a:t>
            </a:r>
            <a:endParaRPr lang="en-US" altLang="zh-CN" sz="2400" dirty="0"/>
          </a:p>
          <a:p>
            <a:pPr lvl="1"/>
            <a:r>
              <a:rPr lang="zh-CN" altLang="zh-CN" sz="1700" dirty="0"/>
              <a:t>云计算侧重于互联网资源的整合；网格计算侧重于不同组织间计算能力的连接。云计算依靠互联网资源供给的灵活性，革新了互联网产业的商业模式，是基础互联网资源外包商业模式的典型运用。网格计算是拥有计算能力的节点自发形成联盟，共同解决涉及大规模计算的问题，是基础互联网资源联合共享模式的运用。</a:t>
            </a:r>
            <a:endParaRPr lang="zh-CN" altLang="en-US" sz="2600" dirty="0"/>
          </a:p>
        </p:txBody>
      </p:sp>
    </p:spTree>
    <p:extLst>
      <p:ext uri="{BB962C8B-B14F-4D97-AF65-F5344CB8AC3E}">
        <p14:creationId xmlns:p14="http://schemas.microsoft.com/office/powerpoint/2010/main" val="3296938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效用计算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lstStyle/>
          <a:p>
            <a:r>
              <a:rPr lang="zh-CN" altLang="en-US" dirty="0"/>
              <a:t>效用计算（</a:t>
            </a:r>
            <a:r>
              <a:rPr lang="en-US" altLang="zh-CN" dirty="0"/>
              <a:t>Utility Computing</a:t>
            </a:r>
            <a:r>
              <a:rPr lang="zh-CN" altLang="en-US" dirty="0"/>
              <a:t>）用于为用户提供个性化的计算服务，以满足不断变化的用户需求，并且基于实际占用的资源进行收费，而不是仅仅按照时长或速率进行收费。</a:t>
            </a:r>
            <a:endParaRPr lang="en-US" altLang="zh-CN" dirty="0"/>
          </a:p>
          <a:p>
            <a:endParaRPr lang="en-US" altLang="zh-CN" dirty="0"/>
          </a:p>
          <a:p>
            <a:r>
              <a:rPr lang="zh-CN" altLang="en-US" dirty="0"/>
              <a:t>所以，效用计算也叫作使用收费或者配量服务。</a:t>
            </a:r>
            <a:endParaRPr lang="en-US" altLang="zh-CN" dirty="0"/>
          </a:p>
          <a:p>
            <a:endParaRPr lang="en-US" altLang="zh-CN" dirty="0"/>
          </a:p>
          <a:p>
            <a:r>
              <a:rPr lang="zh-CN" altLang="en-US" dirty="0"/>
              <a:t>效用计算利用互联网来实现企业用户的数据处理、存储和利用，企业不必再组建自己的数据中心。</a:t>
            </a:r>
            <a:endParaRPr lang="en-US" altLang="zh-CN" dirty="0"/>
          </a:p>
          <a:p>
            <a:endParaRPr lang="en-US" altLang="zh-CN" dirty="0"/>
          </a:p>
          <a:p>
            <a:r>
              <a:rPr lang="zh-CN" altLang="en-US" dirty="0"/>
              <a:t>效用计算把计算包装成一种服务，形成效用计算服务模型，它发展的进一步延伸就是云计算。效用计算和云计算在很多方面有着共性。</a:t>
            </a:r>
          </a:p>
        </p:txBody>
      </p:sp>
    </p:spTree>
    <p:extLst>
      <p:ext uri="{BB962C8B-B14F-4D97-AF65-F5344CB8AC3E}">
        <p14:creationId xmlns:p14="http://schemas.microsoft.com/office/powerpoint/2010/main" val="1546872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效用计算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0DB3742A-BCFC-4C3D-A4D1-2B079A09C34A}"/>
              </a:ext>
            </a:extLst>
          </p:cNvPr>
          <p:cNvPicPr/>
          <p:nvPr/>
        </p:nvPicPr>
        <p:blipFill>
          <a:blip r:embed="rId2">
            <a:extLst>
              <a:ext uri="{28A0092B-C50C-407E-A947-70E740481C1C}">
                <a14:useLocalDpi xmlns:a14="http://schemas.microsoft.com/office/drawing/2010/main" val="0"/>
              </a:ext>
            </a:extLst>
          </a:blip>
          <a:stretch>
            <a:fillRect/>
          </a:stretch>
        </p:blipFill>
        <p:spPr>
          <a:xfrm>
            <a:off x="2268244" y="1816223"/>
            <a:ext cx="6023499" cy="4432177"/>
          </a:xfrm>
          <a:prstGeom prst="rect">
            <a:avLst/>
          </a:prstGeom>
        </p:spPr>
      </p:pic>
    </p:spTree>
    <p:extLst>
      <p:ext uri="{BB962C8B-B14F-4D97-AF65-F5344CB8AC3E}">
        <p14:creationId xmlns:p14="http://schemas.microsoft.com/office/powerpoint/2010/main" val="523959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效用计算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a:bodyPr>
          <a:lstStyle/>
          <a:p>
            <a:r>
              <a:rPr lang="zh-CN" altLang="zh-CN" sz="2400" dirty="0"/>
              <a:t>效用计算是一种提供服务的模型，在这个模型里，服务提供商提供用户需要的计算资源和基础设施管理，并根据应用所占用的资源情况进行计费，而不是仅仅按照速率进行收费。</a:t>
            </a:r>
            <a:endParaRPr lang="en-US" altLang="zh-CN" sz="2400" dirty="0"/>
          </a:p>
          <a:p>
            <a:endParaRPr lang="en-US" altLang="zh-CN" sz="2400" dirty="0"/>
          </a:p>
          <a:p>
            <a:r>
              <a:rPr lang="zh-CN" altLang="zh-CN" sz="2400" dirty="0"/>
              <a:t>云计算也是一种服务模型，它使用互联网上大量的分布式计算机来代替本地计算机或远程服务器，帮助企业完成大量计算任务，为企业节省了大量时间和设备成本，从而能够将更多的资源放在自身业务的发展上，将数据业务外包给公用计算供应商来处理。</a:t>
            </a:r>
          </a:p>
          <a:p>
            <a:endParaRPr lang="zh-CN" altLang="en-US" sz="2400" dirty="0"/>
          </a:p>
        </p:txBody>
      </p:sp>
    </p:spTree>
    <p:extLst>
      <p:ext uri="{BB962C8B-B14F-4D97-AF65-F5344CB8AC3E}">
        <p14:creationId xmlns:p14="http://schemas.microsoft.com/office/powerpoint/2010/main" val="1997531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3D19C2-3418-47D4-9E14-AC098244690E}"/>
              </a:ext>
            </a:extLst>
          </p:cNvPr>
          <p:cNvSpPr>
            <a:spLocks noGrp="1"/>
          </p:cNvSpPr>
          <p:nvPr>
            <p:ph type="title"/>
          </p:nvPr>
        </p:nvSpPr>
        <p:spPr/>
        <p:txBody>
          <a:bodyPr/>
          <a:lstStyle/>
          <a:p>
            <a:r>
              <a:rPr lang="zh-CN" altLang="en-US" dirty="0"/>
              <a:t>效用计算</a:t>
            </a:r>
          </a:p>
        </p:txBody>
      </p:sp>
      <p:sp>
        <p:nvSpPr>
          <p:cNvPr id="3" name="内容占位符 2">
            <a:extLst>
              <a:ext uri="{FF2B5EF4-FFF2-40B4-BE49-F238E27FC236}">
                <a16:creationId xmlns:a16="http://schemas.microsoft.com/office/drawing/2014/main" id="{36D776C1-3348-4AA7-AEF7-66C5634FEFD1}"/>
              </a:ext>
            </a:extLst>
          </p:cNvPr>
          <p:cNvSpPr>
            <a:spLocks noGrp="1"/>
          </p:cNvSpPr>
          <p:nvPr>
            <p:ph idx="1"/>
          </p:nvPr>
        </p:nvSpPr>
        <p:spPr/>
        <p:txBody>
          <a:bodyPr>
            <a:normAutofit/>
          </a:bodyPr>
          <a:lstStyle/>
          <a:p>
            <a:r>
              <a:rPr lang="zh-CN" altLang="zh-CN" sz="2400" dirty="0"/>
              <a:t>云计算需要效用计算，需要对用户进行计费。</a:t>
            </a:r>
            <a:endParaRPr lang="en-US" altLang="zh-CN" sz="2400" dirty="0"/>
          </a:p>
          <a:p>
            <a:endParaRPr lang="en-US" altLang="zh-CN" sz="2400" dirty="0"/>
          </a:p>
          <a:p>
            <a:r>
              <a:rPr lang="zh-CN" altLang="zh-CN" sz="2400" dirty="0"/>
              <a:t>可以说，云计算是并行计算、分布式计算和网格计算的发展，或者说是这些计算科学概念的商业实现，并采用效用计算的商业模式，为广大用户提供服务。</a:t>
            </a:r>
            <a:endParaRPr lang="zh-CN" altLang="en-US" sz="2400" dirty="0"/>
          </a:p>
        </p:txBody>
      </p:sp>
    </p:spTree>
    <p:extLst>
      <p:ext uri="{BB962C8B-B14F-4D97-AF65-F5344CB8AC3E}">
        <p14:creationId xmlns:p14="http://schemas.microsoft.com/office/powerpoint/2010/main" val="38107970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3145327"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5</a:t>
            </a:r>
            <a:r>
              <a:rPr lang="en-US" altLang="zh-CN" sz="7200">
                <a:latin typeface="华文琥珀" panose="02010800040101010101" pitchFamily="2" charset="-122"/>
                <a:ea typeface="华文琥珀" panose="02010800040101010101" pitchFamily="2" charset="-122"/>
              </a:rPr>
              <a:t>.</a:t>
            </a:r>
            <a:r>
              <a:rPr lang="zh-CN" altLang="en-US" sz="7200" dirty="0">
                <a:latin typeface="华文琥珀" panose="02010800040101010101" pitchFamily="2" charset="-122"/>
                <a:ea typeface="华文琥珀" panose="02010800040101010101" pitchFamily="2" charset="-122"/>
              </a:rPr>
              <a:t> 实战项目</a:t>
            </a:r>
          </a:p>
        </p:txBody>
      </p:sp>
    </p:spTree>
    <p:extLst>
      <p:ext uri="{BB962C8B-B14F-4D97-AF65-F5344CB8AC3E}">
        <p14:creationId xmlns:p14="http://schemas.microsoft.com/office/powerpoint/2010/main" val="9339165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2803B5-6CE1-4F96-A390-C2F888DEC358}"/>
              </a:ext>
            </a:extLst>
          </p:cNvPr>
          <p:cNvSpPr>
            <a:spLocks noGrp="1"/>
          </p:cNvSpPr>
          <p:nvPr>
            <p:ph type="title"/>
          </p:nvPr>
        </p:nvSpPr>
        <p:spPr/>
        <p:txBody>
          <a:bodyPr/>
          <a:lstStyle/>
          <a:p>
            <a:r>
              <a:rPr lang="zh-CN" altLang="en-US" dirty="0"/>
              <a:t>实战项目</a:t>
            </a:r>
          </a:p>
        </p:txBody>
      </p:sp>
      <p:sp>
        <p:nvSpPr>
          <p:cNvPr id="3" name="内容占位符 2">
            <a:extLst>
              <a:ext uri="{FF2B5EF4-FFF2-40B4-BE49-F238E27FC236}">
                <a16:creationId xmlns:a16="http://schemas.microsoft.com/office/drawing/2014/main" id="{AC15624E-BF69-4861-AAF1-AA894FB1CF95}"/>
              </a:ext>
            </a:extLst>
          </p:cNvPr>
          <p:cNvSpPr>
            <a:spLocks noGrp="1"/>
          </p:cNvSpPr>
          <p:nvPr>
            <p:ph idx="1"/>
          </p:nvPr>
        </p:nvSpPr>
        <p:spPr>
          <a:xfrm>
            <a:off x="4095237" y="2604472"/>
            <a:ext cx="5270705" cy="3880773"/>
          </a:xfrm>
        </p:spPr>
        <p:txBody>
          <a:bodyPr>
            <a:normAutofit/>
          </a:bodyPr>
          <a:lstStyle/>
          <a:p>
            <a:r>
              <a:rPr lang="zh-CN" altLang="zh-CN" sz="2800" dirty="0"/>
              <a:t>能够在线使用云端的</a:t>
            </a:r>
            <a:r>
              <a:rPr lang="en-US" altLang="zh-CN" sz="2800" dirty="0"/>
              <a:t>Office</a:t>
            </a:r>
            <a:r>
              <a:rPr lang="zh-CN" altLang="zh-CN" sz="2800" dirty="0"/>
              <a:t>，并邀请其他人共同使用</a:t>
            </a:r>
            <a:r>
              <a:rPr lang="en-US" altLang="zh-CN" sz="2800" dirty="0"/>
              <a:t>Office</a:t>
            </a:r>
            <a:r>
              <a:rPr lang="zh-CN" altLang="zh-CN" sz="2800" dirty="0"/>
              <a:t>。</a:t>
            </a:r>
            <a:endParaRPr lang="zh-CN" altLang="en-US" sz="2800" dirty="0"/>
          </a:p>
        </p:txBody>
      </p:sp>
      <p:sp>
        <p:nvSpPr>
          <p:cNvPr id="4" name="文本框 3">
            <a:extLst>
              <a:ext uri="{FF2B5EF4-FFF2-40B4-BE49-F238E27FC236}">
                <a16:creationId xmlns:a16="http://schemas.microsoft.com/office/drawing/2014/main" id="{3E784A4F-5E0F-4298-858C-563CBE730B36}"/>
              </a:ext>
            </a:extLst>
          </p:cNvPr>
          <p:cNvSpPr txBox="1"/>
          <p:nvPr/>
        </p:nvSpPr>
        <p:spPr>
          <a:xfrm>
            <a:off x="1059074" y="2702127"/>
            <a:ext cx="2031325" cy="646331"/>
          </a:xfrm>
          <a:prstGeom prst="rect">
            <a:avLst/>
          </a:prstGeom>
          <a:noFill/>
        </p:spPr>
        <p:txBody>
          <a:bodyPr wrap="none" rtlCol="0">
            <a:spAutoFit/>
          </a:bodyPr>
          <a:lstStyle/>
          <a:p>
            <a:r>
              <a:rPr lang="zh-CN" altLang="en-US" sz="3600" dirty="0"/>
              <a:t>项目目标</a:t>
            </a:r>
          </a:p>
        </p:txBody>
      </p:sp>
    </p:spTree>
    <p:extLst>
      <p:ext uri="{BB962C8B-B14F-4D97-AF65-F5344CB8AC3E}">
        <p14:creationId xmlns:p14="http://schemas.microsoft.com/office/powerpoint/2010/main" val="3963909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2D394-387A-4F22-97BE-2FE657D93652}"/>
              </a:ext>
            </a:extLst>
          </p:cNvPr>
          <p:cNvSpPr>
            <a:spLocks noGrp="1"/>
          </p:cNvSpPr>
          <p:nvPr>
            <p:ph type="title"/>
          </p:nvPr>
        </p:nvSpPr>
        <p:spPr/>
        <p:txBody>
          <a:bodyPr/>
          <a:lstStyle/>
          <a:p>
            <a:r>
              <a:rPr lang="zh-CN" altLang="en-US" dirty="0"/>
              <a:t>实战项目</a:t>
            </a:r>
          </a:p>
        </p:txBody>
      </p:sp>
      <p:sp>
        <p:nvSpPr>
          <p:cNvPr id="3" name="内容占位符 2">
            <a:extLst>
              <a:ext uri="{FF2B5EF4-FFF2-40B4-BE49-F238E27FC236}">
                <a16:creationId xmlns:a16="http://schemas.microsoft.com/office/drawing/2014/main" id="{CE8A398E-F472-46D2-807B-2468FE97D049}"/>
              </a:ext>
            </a:extLst>
          </p:cNvPr>
          <p:cNvSpPr>
            <a:spLocks noGrp="1"/>
          </p:cNvSpPr>
          <p:nvPr>
            <p:ph idx="1"/>
          </p:nvPr>
        </p:nvSpPr>
        <p:spPr/>
        <p:txBody>
          <a:bodyPr/>
          <a:lstStyle/>
          <a:p>
            <a:endParaRPr lang="zh-CN" altLang="en-US" dirty="0"/>
          </a:p>
        </p:txBody>
      </p:sp>
      <p:sp>
        <p:nvSpPr>
          <p:cNvPr id="4" name="箭头: 右 3">
            <a:extLst>
              <a:ext uri="{FF2B5EF4-FFF2-40B4-BE49-F238E27FC236}">
                <a16:creationId xmlns:a16="http://schemas.microsoft.com/office/drawing/2014/main" id="{ECB2CD8F-8709-4492-88B7-BB6392DD24BC}"/>
              </a:ext>
            </a:extLst>
          </p:cNvPr>
          <p:cNvSpPr/>
          <p:nvPr/>
        </p:nvSpPr>
        <p:spPr>
          <a:xfrm>
            <a:off x="1109710" y="3284738"/>
            <a:ext cx="7998780" cy="736847"/>
          </a:xfrm>
          <a:prstGeom prst="rightArrow">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n w="0"/>
              <a:solidFill>
                <a:schemeClr val="accent1"/>
              </a:solidFill>
              <a:effectLst>
                <a:outerShdw blurRad="38100" dist="25400" dir="5400000" algn="ctr" rotWithShape="0">
                  <a:srgbClr val="6E747A">
                    <a:alpha val="43000"/>
                  </a:srgbClr>
                </a:outerShdw>
              </a:effectLst>
            </a:endParaRPr>
          </a:p>
        </p:txBody>
      </p:sp>
      <p:sp>
        <p:nvSpPr>
          <p:cNvPr id="5" name="矩形: 圆角 4">
            <a:extLst>
              <a:ext uri="{FF2B5EF4-FFF2-40B4-BE49-F238E27FC236}">
                <a16:creationId xmlns:a16="http://schemas.microsoft.com/office/drawing/2014/main" id="{BDCB660C-6181-4FCF-AB18-070E6F74F714}"/>
              </a:ext>
            </a:extLst>
          </p:cNvPr>
          <p:cNvSpPr/>
          <p:nvPr/>
        </p:nvSpPr>
        <p:spPr>
          <a:xfrm>
            <a:off x="1227751" y="2916314"/>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注册</a:t>
            </a:r>
          </a:p>
        </p:txBody>
      </p:sp>
      <p:sp>
        <p:nvSpPr>
          <p:cNvPr id="6" name="矩形: 圆角 5">
            <a:extLst>
              <a:ext uri="{FF2B5EF4-FFF2-40B4-BE49-F238E27FC236}">
                <a16:creationId xmlns:a16="http://schemas.microsoft.com/office/drawing/2014/main" id="{D0789EC4-1056-4711-8D4A-156D4AF3EED1}"/>
              </a:ext>
            </a:extLst>
          </p:cNvPr>
          <p:cNvSpPr/>
          <p:nvPr/>
        </p:nvSpPr>
        <p:spPr>
          <a:xfrm>
            <a:off x="3157696" y="2916314"/>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新建文档</a:t>
            </a:r>
          </a:p>
        </p:txBody>
      </p:sp>
      <p:sp>
        <p:nvSpPr>
          <p:cNvPr id="7" name="矩形: 圆角 6">
            <a:extLst>
              <a:ext uri="{FF2B5EF4-FFF2-40B4-BE49-F238E27FC236}">
                <a16:creationId xmlns:a16="http://schemas.microsoft.com/office/drawing/2014/main" id="{89557D3B-F67D-43B5-90E2-772B125B0E19}"/>
              </a:ext>
            </a:extLst>
          </p:cNvPr>
          <p:cNvSpPr/>
          <p:nvPr/>
        </p:nvSpPr>
        <p:spPr>
          <a:xfrm>
            <a:off x="5087641" y="2916313"/>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编辑文档</a:t>
            </a:r>
          </a:p>
        </p:txBody>
      </p:sp>
      <p:sp>
        <p:nvSpPr>
          <p:cNvPr id="8" name="矩形: 圆角 7">
            <a:extLst>
              <a:ext uri="{FF2B5EF4-FFF2-40B4-BE49-F238E27FC236}">
                <a16:creationId xmlns:a16="http://schemas.microsoft.com/office/drawing/2014/main" id="{9B6DDE60-6BEB-406F-A574-F36F4B8A0CF8}"/>
              </a:ext>
            </a:extLst>
          </p:cNvPr>
          <p:cNvSpPr/>
          <p:nvPr/>
        </p:nvSpPr>
        <p:spPr>
          <a:xfrm>
            <a:off x="7017586" y="2914093"/>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体验功能</a:t>
            </a:r>
          </a:p>
        </p:txBody>
      </p:sp>
    </p:spTree>
    <p:extLst>
      <p:ext uri="{BB962C8B-B14F-4D97-AF65-F5344CB8AC3E}">
        <p14:creationId xmlns:p14="http://schemas.microsoft.com/office/powerpoint/2010/main" val="1090295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6E2B17-EB42-49C9-A201-418E2853CD9A}"/>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951D0CC1-8ADE-47FE-BD4A-E4450D760A30}"/>
              </a:ext>
            </a:extLst>
          </p:cNvPr>
          <p:cNvSpPr>
            <a:spLocks noGrp="1"/>
          </p:cNvSpPr>
          <p:nvPr>
            <p:ph idx="1"/>
          </p:nvPr>
        </p:nvSpPr>
        <p:spPr>
          <a:xfrm>
            <a:off x="1797666" y="2648860"/>
            <a:ext cx="8596668" cy="3880773"/>
          </a:xfrm>
        </p:spPr>
        <p:txBody>
          <a:bodyPr>
            <a:normAutofit/>
          </a:bodyPr>
          <a:lstStyle/>
          <a:p>
            <a:pPr marL="0" indent="0">
              <a:buNone/>
            </a:pPr>
            <a:r>
              <a:rPr lang="en-US" altLang="zh-CN" sz="9600" dirty="0">
                <a:solidFill>
                  <a:srgbClr val="92D050"/>
                </a:solidFill>
              </a:rPr>
              <a:t>THANK  YOU</a:t>
            </a:r>
            <a:endParaRPr lang="zh-CN" altLang="en-US" sz="9600" dirty="0">
              <a:solidFill>
                <a:srgbClr val="92D050"/>
              </a:solidFill>
            </a:endParaRPr>
          </a:p>
        </p:txBody>
      </p:sp>
    </p:spTree>
    <p:extLst>
      <p:ext uri="{BB962C8B-B14F-4D97-AF65-F5344CB8AC3E}">
        <p14:creationId xmlns:p14="http://schemas.microsoft.com/office/powerpoint/2010/main" val="3984419624"/>
      </p:ext>
    </p:extLst>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61520"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457200"/>
            <a:ext cx="9418320" cy="914400"/>
          </a:xfrm>
          <a:prstGeom prst="rect">
            <a:avLst/>
          </a:prstGeom>
          <a:noFill/>
          <a:ln>
            <a:noFill/>
          </a:ln>
        </p:spPr>
        <p:txBody>
          <a:bodyPr wrap="square" lIns="101600" rIns="101600" tIns="50800" bIns="50800">
            <a:spAutoFit/>
          </a:bodyPr>
          <a:lstStyle/>
          <a:p>
            <a:pPr algn="ctr"/>
            <a:r>
              <a:rPr sz="3600" b="1">
                <a:solidFill>
                  <a:srgbClr val="FFFFFF"/>
                </a:solidFill>
                <a:latin typeface="微软雅黑"/>
              </a:rPr>
              <a:t>NIST 是什么？</a:t>
            </a:r>
          </a:p>
        </p:txBody>
      </p:sp>
      <p:sp>
        <p:nvSpPr>
          <p:cNvPr id="4" name="Rectangle 3"/>
          <p:cNvSpPr/>
          <p:nvPr/>
        </p:nvSpPr>
        <p:spPr>
          <a:xfrm>
            <a:off x="2743200" y="1371600"/>
            <a:ext cx="6675120" cy="54864"/>
          </a:xfrm>
          <a:prstGeom prst="rect">
            <a:avLst/>
          </a:prstGeom>
          <a:solidFill>
            <a:srgbClr val="F3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828800"/>
            <a:ext cx="9418320" cy="731520"/>
          </a:xfrm>
          <a:prstGeom prst="rect">
            <a:avLst/>
          </a:prstGeom>
          <a:noFill/>
          <a:ln>
            <a:noFill/>
          </a:ln>
        </p:spPr>
        <p:txBody>
          <a:bodyPr wrap="square" lIns="101600" rIns="101600" tIns="50800" bIns="50800">
            <a:spAutoFit/>
          </a:bodyPr>
          <a:lstStyle/>
          <a:p>
            <a:pPr algn="ctr"/>
            <a:r>
              <a:rPr sz="2200" b="1">
                <a:solidFill>
                  <a:srgbClr val="F38B00"/>
                </a:solidFill>
                <a:latin typeface="微软雅黑"/>
              </a:rPr>
              <a:t>NIST = National Institute of Standards and Technology</a:t>
            </a:r>
          </a:p>
        </p:txBody>
      </p:sp>
      <p:sp>
        <p:nvSpPr>
          <p:cNvPr id="6" name="TextBox 5"/>
          <p:cNvSpPr txBox="1"/>
          <p:nvPr/>
        </p:nvSpPr>
        <p:spPr>
          <a:xfrm>
            <a:off x="1371600" y="2468880"/>
            <a:ext cx="9418320" cy="548640"/>
          </a:xfrm>
          <a:prstGeom prst="rect">
            <a:avLst/>
          </a:prstGeom>
          <a:noFill/>
          <a:ln>
            <a:noFill/>
          </a:ln>
        </p:spPr>
        <p:txBody>
          <a:bodyPr wrap="square" lIns="101600" rIns="101600" tIns="50800" bIns="50800">
            <a:spAutoFit/>
          </a:bodyPr>
          <a:lstStyle/>
          <a:p>
            <a:pPr algn="ctr"/>
            <a:r>
              <a:rPr sz="2000" b="0">
                <a:solidFill>
                  <a:srgbClr val="E8F1FA"/>
                </a:solidFill>
                <a:latin typeface="微软雅黑"/>
              </a:rPr>
              <a:t>美国国家标准与技术研究院</a:t>
            </a:r>
          </a:p>
        </p:txBody>
      </p:sp>
      <p:sp>
        <p:nvSpPr>
          <p:cNvPr id="7" name="Rounded Rectangle 6"/>
          <p:cNvSpPr/>
          <p:nvPr/>
        </p:nvSpPr>
        <p:spPr>
          <a:xfrm>
            <a:off x="1371600" y="3291840"/>
            <a:ext cx="9418320" cy="86868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3337560"/>
            <a:ext cx="2560320" cy="777240"/>
          </a:xfrm>
          <a:prstGeom prst="rect">
            <a:avLst/>
          </a:prstGeom>
          <a:noFill/>
          <a:ln>
            <a:noFill/>
          </a:ln>
        </p:spPr>
        <p:txBody>
          <a:bodyPr wrap="square" lIns="101600" rIns="101600" tIns="50800" bIns="50800">
            <a:spAutoFit/>
          </a:bodyPr>
          <a:lstStyle/>
          <a:p>
            <a:pPr algn="l"/>
            <a:r>
              <a:rPr sz="1600" b="1">
                <a:solidFill>
                  <a:srgbClr val="F38B00"/>
                </a:solidFill>
                <a:latin typeface="微软雅黑"/>
              </a:rPr>
              <a:t>成立于1901年</a:t>
            </a:r>
          </a:p>
        </p:txBody>
      </p:sp>
      <p:sp>
        <p:nvSpPr>
          <p:cNvPr id="9" name="TextBox 8"/>
          <p:cNvSpPr txBox="1"/>
          <p:nvPr/>
        </p:nvSpPr>
        <p:spPr>
          <a:xfrm>
            <a:off x="4114800" y="3337560"/>
            <a:ext cx="6400800" cy="777240"/>
          </a:xfrm>
          <a:prstGeom prst="rect">
            <a:avLst/>
          </a:prstGeom>
          <a:noFill/>
          <a:ln>
            <a:noFill/>
          </a:ln>
        </p:spPr>
        <p:txBody>
          <a:bodyPr wrap="square" lIns="101600" rIns="101600" tIns="50800" bIns="50800">
            <a:spAutoFit/>
          </a:bodyPr>
          <a:lstStyle/>
          <a:p>
            <a:pPr algn="l"/>
            <a:r>
              <a:rPr sz="1500" b="0">
                <a:solidFill>
                  <a:srgbClr val="FFFFFF"/>
                </a:solidFill>
                <a:latin typeface="微软雅黑"/>
              </a:rPr>
              <a:t>隶属美国商务部，是全球权威的标准化机构</a:t>
            </a:r>
          </a:p>
        </p:txBody>
      </p:sp>
      <p:sp>
        <p:nvSpPr>
          <p:cNvPr id="10" name="Rounded Rectangle 9"/>
          <p:cNvSpPr/>
          <p:nvPr/>
        </p:nvSpPr>
        <p:spPr>
          <a:xfrm>
            <a:off x="1371600" y="4343400"/>
            <a:ext cx="9418320" cy="86868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4389120"/>
            <a:ext cx="2560320" cy="777240"/>
          </a:xfrm>
          <a:prstGeom prst="rect">
            <a:avLst/>
          </a:prstGeom>
          <a:noFill/>
          <a:ln>
            <a:noFill/>
          </a:ln>
        </p:spPr>
        <p:txBody>
          <a:bodyPr wrap="square" lIns="101600" rIns="101600" tIns="50800" bIns="50800">
            <a:spAutoFit/>
          </a:bodyPr>
          <a:lstStyle/>
          <a:p>
            <a:pPr algn="l"/>
            <a:r>
              <a:rPr sz="1600" b="1">
                <a:solidFill>
                  <a:srgbClr val="F38B00"/>
                </a:solidFill>
                <a:latin typeface="微软雅黑"/>
              </a:rPr>
              <a:t>SP 800-145文件</a:t>
            </a:r>
          </a:p>
        </p:txBody>
      </p:sp>
      <p:sp>
        <p:nvSpPr>
          <p:cNvPr id="12" name="TextBox 11"/>
          <p:cNvSpPr txBox="1"/>
          <p:nvPr/>
        </p:nvSpPr>
        <p:spPr>
          <a:xfrm>
            <a:off x="4114800" y="4389120"/>
            <a:ext cx="6400800" cy="777240"/>
          </a:xfrm>
          <a:prstGeom prst="rect">
            <a:avLst/>
          </a:prstGeom>
          <a:noFill/>
          <a:ln>
            <a:noFill/>
          </a:ln>
        </p:spPr>
        <p:txBody>
          <a:bodyPr wrap="square" lIns="101600" rIns="101600" tIns="50800" bIns="50800">
            <a:spAutoFit/>
          </a:bodyPr>
          <a:lstStyle/>
          <a:p>
            <a:pPr algn="l"/>
            <a:r>
              <a:rPr sz="1500" b="0">
                <a:solidFill>
                  <a:srgbClr val="FFFFFF"/>
                </a:solidFill>
                <a:latin typeface="微软雅黑"/>
              </a:rPr>
              <a:t>2011年9月发布云计算定义，被全球广泛引用</a:t>
            </a:r>
          </a:p>
        </p:txBody>
      </p:sp>
      <p:sp>
        <p:nvSpPr>
          <p:cNvPr id="13" name="Rounded Rectangle 12"/>
          <p:cNvSpPr/>
          <p:nvPr/>
        </p:nvSpPr>
        <p:spPr>
          <a:xfrm>
            <a:off x="1371600" y="5394960"/>
            <a:ext cx="9418320" cy="86868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45920" y="5440680"/>
            <a:ext cx="2560320" cy="777240"/>
          </a:xfrm>
          <a:prstGeom prst="rect">
            <a:avLst/>
          </a:prstGeom>
          <a:noFill/>
          <a:ln>
            <a:noFill/>
          </a:ln>
        </p:spPr>
        <p:txBody>
          <a:bodyPr wrap="square" lIns="101600" rIns="101600" tIns="50800" bIns="50800">
            <a:spAutoFit/>
          </a:bodyPr>
          <a:lstStyle/>
          <a:p>
            <a:pPr algn="l"/>
            <a:r>
              <a:rPr sz="1600" b="1">
                <a:solidFill>
                  <a:srgbClr val="F38B00"/>
                </a:solidFill>
                <a:latin typeface="微软雅黑"/>
              </a:rPr>
              <a:t>为什么重要？</a:t>
            </a:r>
          </a:p>
        </p:txBody>
      </p:sp>
      <p:sp>
        <p:nvSpPr>
          <p:cNvPr id="15" name="TextBox 14"/>
          <p:cNvSpPr txBox="1"/>
          <p:nvPr/>
        </p:nvSpPr>
        <p:spPr>
          <a:xfrm>
            <a:off x="4114800" y="5440680"/>
            <a:ext cx="6400800" cy="777240"/>
          </a:xfrm>
          <a:prstGeom prst="rect">
            <a:avLst/>
          </a:prstGeom>
          <a:noFill/>
          <a:ln>
            <a:noFill/>
          </a:ln>
        </p:spPr>
        <p:txBody>
          <a:bodyPr wrap="square" lIns="101600" rIns="101600" tIns="50800" bIns="50800">
            <a:spAutoFit/>
          </a:bodyPr>
          <a:lstStyle/>
          <a:p>
            <a:pPr algn="l"/>
            <a:r>
              <a:rPr sz="1500" b="0">
                <a:solidFill>
                  <a:srgbClr val="FFFFFF"/>
                </a:solidFill>
                <a:latin typeface="微软雅黑"/>
              </a:rPr>
              <a:t>NIST的定义是国际上最权威、被引用最多的云计算定义</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6152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61520"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47120" cy="731520"/>
          </a:xfrm>
          <a:prstGeom prst="rect">
            <a:avLst/>
          </a:prstGeom>
          <a:noFill/>
          <a:ln>
            <a:noFill/>
          </a:ln>
        </p:spPr>
        <p:txBody>
          <a:bodyPr wrap="square" lIns="101600" rIns="101600" tIns="50800" bIns="50800">
            <a:spAutoFit/>
          </a:bodyPr>
          <a:lstStyle/>
          <a:p>
            <a:pPr algn="ctr"/>
            <a:r>
              <a:rPr sz="3000" b="1">
                <a:solidFill>
                  <a:srgbClr val="FFFFFF"/>
                </a:solidFill>
                <a:latin typeface="微软雅黑"/>
              </a:rPr>
              <a:t>NIST 云计算定义</a:t>
            </a:r>
          </a:p>
        </p:txBody>
      </p:sp>
      <p:sp>
        <p:nvSpPr>
          <p:cNvPr id="5" name="Rounded Rectangle 4"/>
          <p:cNvSpPr/>
          <p:nvPr/>
        </p:nvSpPr>
        <p:spPr>
          <a:xfrm>
            <a:off x="457200" y="1371600"/>
            <a:ext cx="11247120" cy="1828800"/>
          </a:xfrm>
          <a:prstGeom prst="round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10698480" cy="1645920"/>
          </a:xfrm>
          <a:prstGeom prst="rect">
            <a:avLst/>
          </a:prstGeom>
          <a:noFill/>
          <a:ln>
            <a:noFill/>
          </a:ln>
        </p:spPr>
        <p:txBody>
          <a:bodyPr wrap="square" lIns="101600" rIns="101600" tIns="50800" bIns="50800">
            <a:spAutoFit/>
          </a:bodyPr>
          <a:lstStyle/>
          <a:p>
            <a:pPr algn="l"/>
            <a:r>
              <a:rPr sz="1400" b="0">
                <a:solidFill>
                  <a:srgbClr val="404040"/>
                </a:solidFill>
                <a:latin typeface="微软雅黑"/>
              </a:rPr>
              <a:t>Cloud computing is a model for enabling ubiquitous, convenient, on-demand network access to a shared pool of configurable computing resources that can be rapidly provisioned and released with minimal management effort or service provider interaction.</a:t>
            </a:r>
          </a:p>
        </p:txBody>
      </p:sp>
      <p:sp>
        <p:nvSpPr>
          <p:cNvPr id="7" name="TextBox 6"/>
          <p:cNvSpPr txBox="1"/>
          <p:nvPr/>
        </p:nvSpPr>
        <p:spPr>
          <a:xfrm>
            <a:off x="7772400" y="2926080"/>
            <a:ext cx="3657600" cy="365760"/>
          </a:xfrm>
          <a:prstGeom prst="rect">
            <a:avLst/>
          </a:prstGeom>
          <a:noFill/>
          <a:ln>
            <a:noFill/>
          </a:ln>
        </p:spPr>
        <p:txBody>
          <a:bodyPr wrap="square" lIns="101600" rIns="101600" tIns="50800" bIns="50800">
            <a:spAutoFit/>
          </a:bodyPr>
          <a:lstStyle/>
          <a:p>
            <a:pPr algn="r"/>
            <a:r>
              <a:rPr sz="1200" b="0">
                <a:solidFill>
                  <a:srgbClr val="F38B00"/>
                </a:solidFill>
                <a:latin typeface="微软雅黑"/>
              </a:rPr>
              <a:t>—— NIST SP 800-145 (2011.09)</a:t>
            </a:r>
          </a:p>
        </p:txBody>
      </p:sp>
      <p:sp>
        <p:nvSpPr>
          <p:cNvPr id="8" name="Rounded Rectangle 7"/>
          <p:cNvSpPr/>
          <p:nvPr/>
        </p:nvSpPr>
        <p:spPr>
          <a:xfrm>
            <a:off x="457200" y="3474720"/>
            <a:ext cx="11247120" cy="18288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566160"/>
            <a:ext cx="10698480" cy="1645920"/>
          </a:xfrm>
          <a:prstGeom prst="rect">
            <a:avLst/>
          </a:prstGeom>
          <a:noFill/>
          <a:ln>
            <a:noFill/>
          </a:ln>
        </p:spPr>
        <p:txBody>
          <a:bodyPr wrap="square" lIns="101600" rIns="101600" tIns="50800" bIns="50800">
            <a:spAutoFit/>
          </a:bodyPr>
          <a:lstStyle/>
          <a:p>
            <a:pPr algn="l"/>
            <a:r>
              <a:rPr sz="1500" b="0">
                <a:solidFill>
                  <a:srgbClr val="404040"/>
                </a:solidFill>
                <a:latin typeface="微软雅黑"/>
              </a:rPr>
              <a:t>云计算是一种模型，它允许通过无处不在的、便捷的、按需的网络访问，来获取一个可配置的计算资源共享池（如网络、服务器、存储、应用和服务），这些资源能够被快速分配和释放，且只需最少的管理精力或服务提供商交互。</a:t>
            </a:r>
          </a:p>
        </p:txBody>
      </p:sp>
      <p:sp>
        <p:nvSpPr>
          <p:cNvPr id="10" name="Rounded Rectangle 9"/>
          <p:cNvSpPr/>
          <p:nvPr/>
        </p:nvSpPr>
        <p:spPr>
          <a:xfrm>
            <a:off x="2743200" y="5577840"/>
            <a:ext cx="6675120" cy="822960"/>
          </a:xfrm>
          <a:prstGeom prst="roundRect">
            <a:avLst/>
          </a:prstGeom>
          <a:solidFill>
            <a:srgbClr val="F3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5623560"/>
            <a:ext cx="6309360" cy="731520"/>
          </a:xfrm>
          <a:prstGeom prst="rect">
            <a:avLst/>
          </a:prstGeom>
          <a:noFill/>
          <a:ln>
            <a:noFill/>
          </a:ln>
        </p:spPr>
        <p:txBody>
          <a:bodyPr wrap="square" lIns="101600" rIns="101600" tIns="50800" bIns="50800">
            <a:spAutoFit/>
          </a:bodyPr>
          <a:lstStyle/>
          <a:p>
            <a:pPr algn="ctr"/>
            <a:r>
              <a:rPr sz="1600" b="1">
                <a:solidFill>
                  <a:srgbClr val="FFFFFF"/>
                </a:solidFill>
                <a:latin typeface="微软雅黑"/>
              </a:rPr>
              <a:t>这个定义 = 3个服务模型 + 5个基本特征 + 4个部署模型</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6152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61520"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47120" cy="731520"/>
          </a:xfrm>
          <a:prstGeom prst="rect">
            <a:avLst/>
          </a:prstGeom>
          <a:noFill/>
          <a:ln>
            <a:noFill/>
          </a:ln>
        </p:spPr>
        <p:txBody>
          <a:bodyPr wrap="square" lIns="101600" rIns="101600" tIns="50800" bIns="50800">
            <a:spAutoFit/>
          </a:bodyPr>
          <a:lstStyle/>
          <a:p>
            <a:pPr algn="ctr"/>
            <a:r>
              <a:rPr sz="3000" b="1">
                <a:solidFill>
                  <a:srgbClr val="FFFFFF"/>
                </a:solidFill>
                <a:latin typeface="微软雅黑"/>
              </a:rPr>
              <a:t>NIST 3-5-4 框架总览</a:t>
            </a:r>
          </a:p>
        </p:txBody>
      </p:sp>
      <p:sp>
        <p:nvSpPr>
          <p:cNvPr id="5" name="TextBox 4"/>
          <p:cNvSpPr txBox="1"/>
          <p:nvPr/>
        </p:nvSpPr>
        <p:spPr>
          <a:xfrm>
            <a:off x="2743200" y="777240"/>
            <a:ext cx="6675120" cy="365760"/>
          </a:xfrm>
          <a:prstGeom prst="rect">
            <a:avLst/>
          </a:prstGeom>
          <a:noFill/>
          <a:ln>
            <a:noFill/>
          </a:ln>
        </p:spPr>
        <p:txBody>
          <a:bodyPr wrap="square" lIns="101600" rIns="101600" tIns="50800" bIns="50800">
            <a:spAutoFit/>
          </a:bodyPr>
          <a:lstStyle/>
          <a:p>
            <a:pPr algn="ctr"/>
            <a:r>
              <a:rPr sz="1400" b="0">
                <a:solidFill>
                  <a:srgbClr val="E8F1FA"/>
                </a:solidFill>
                <a:latin typeface="微软雅黑"/>
              </a:rPr>
              <a:t>记住 3-5-4，就记住了云计算的全貌</a:t>
            </a:r>
          </a:p>
        </p:txBody>
      </p:sp>
      <p:sp>
        <p:nvSpPr>
          <p:cNvPr id="6" name="Rounded Rectangle 5"/>
          <p:cNvSpPr/>
          <p:nvPr/>
        </p:nvSpPr>
        <p:spPr>
          <a:xfrm>
            <a:off x="914400" y="1828800"/>
            <a:ext cx="3017520" cy="32004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7200" b="1">
                <a:solidFill>
                  <a:srgbClr val="FFFFFF"/>
                </a:solidFill>
                <a:latin typeface="微软雅黑"/>
              </a:rPr>
              <a:t>3</a:t>
            </a:r>
          </a:p>
        </p:txBody>
      </p:sp>
      <p:sp>
        <p:nvSpPr>
          <p:cNvPr id="7" name="TextBox 6"/>
          <p:cNvSpPr txBox="1"/>
          <p:nvPr/>
        </p:nvSpPr>
        <p:spPr>
          <a:xfrm>
            <a:off x="914400" y="4572000"/>
            <a:ext cx="3017520" cy="457200"/>
          </a:xfrm>
          <a:prstGeom prst="rect">
            <a:avLst/>
          </a:prstGeom>
          <a:noFill/>
          <a:ln>
            <a:noFill/>
          </a:ln>
        </p:spPr>
        <p:txBody>
          <a:bodyPr wrap="square" lIns="101600" rIns="101600" tIns="50800" bIns="50800">
            <a:spAutoFit/>
          </a:bodyPr>
          <a:lstStyle/>
          <a:p>
            <a:pPr algn="ctr"/>
            <a:r>
              <a:rPr sz="2000" b="1">
                <a:solidFill>
                  <a:srgbClr val="0078D4"/>
                </a:solidFill>
                <a:latin typeface="微软雅黑"/>
              </a:rPr>
              <a:t>服务模型</a:t>
            </a:r>
          </a:p>
        </p:txBody>
      </p:sp>
      <p:sp>
        <p:nvSpPr>
          <p:cNvPr id="8" name="TextBox 7"/>
          <p:cNvSpPr txBox="1"/>
          <p:nvPr/>
        </p:nvSpPr>
        <p:spPr>
          <a:xfrm>
            <a:off x="914400" y="4937760"/>
            <a:ext cx="3017520" cy="365760"/>
          </a:xfrm>
          <a:prstGeom prst="rect">
            <a:avLst/>
          </a:prstGeom>
          <a:noFill/>
          <a:ln>
            <a:noFill/>
          </a:ln>
        </p:spPr>
        <p:txBody>
          <a:bodyPr wrap="square" lIns="101600" rIns="101600" tIns="50800" bIns="50800">
            <a:spAutoFit/>
          </a:bodyPr>
          <a:lstStyle/>
          <a:p>
            <a:pPr algn="ctr"/>
            <a:r>
              <a:rPr sz="1400" b="0">
                <a:solidFill>
                  <a:srgbClr val="404040"/>
                </a:solidFill>
                <a:latin typeface="微软雅黑"/>
              </a:rPr>
              <a:t>Service Models</a:t>
            </a:r>
          </a:p>
        </p:txBody>
      </p:sp>
      <p:sp>
        <p:nvSpPr>
          <p:cNvPr id="9" name="TextBox 8"/>
          <p:cNvSpPr txBox="1"/>
          <p:nvPr/>
        </p:nvSpPr>
        <p:spPr>
          <a:xfrm>
            <a:off x="914400" y="5303520"/>
            <a:ext cx="3017520" cy="36576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SaaS / PaaS / IaaS</a:t>
            </a:r>
          </a:p>
        </p:txBody>
      </p:sp>
      <p:sp>
        <p:nvSpPr>
          <p:cNvPr id="10" name="Rounded Rectangle 9"/>
          <p:cNvSpPr/>
          <p:nvPr/>
        </p:nvSpPr>
        <p:spPr>
          <a:xfrm>
            <a:off x="4572000" y="1828800"/>
            <a:ext cx="3017520" cy="32004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7200" b="1">
                <a:solidFill>
                  <a:srgbClr val="FFFFFF"/>
                </a:solidFill>
                <a:latin typeface="微软雅黑"/>
              </a:rPr>
              <a:t>5</a:t>
            </a:r>
          </a:p>
        </p:txBody>
      </p:sp>
      <p:sp>
        <p:nvSpPr>
          <p:cNvPr id="11" name="TextBox 10"/>
          <p:cNvSpPr txBox="1"/>
          <p:nvPr/>
        </p:nvSpPr>
        <p:spPr>
          <a:xfrm>
            <a:off x="4572000" y="4572000"/>
            <a:ext cx="3017520" cy="457200"/>
          </a:xfrm>
          <a:prstGeom prst="rect">
            <a:avLst/>
          </a:prstGeom>
          <a:noFill/>
          <a:ln>
            <a:noFill/>
          </a:ln>
        </p:spPr>
        <p:txBody>
          <a:bodyPr wrap="square" lIns="101600" rIns="101600" tIns="50800" bIns="50800">
            <a:spAutoFit/>
          </a:bodyPr>
          <a:lstStyle/>
          <a:p>
            <a:pPr algn="ctr"/>
            <a:r>
              <a:rPr sz="2000" b="1">
                <a:solidFill>
                  <a:srgbClr val="107C10"/>
                </a:solidFill>
                <a:latin typeface="微软雅黑"/>
              </a:rPr>
              <a:t>基本特征</a:t>
            </a:r>
          </a:p>
        </p:txBody>
      </p:sp>
      <p:sp>
        <p:nvSpPr>
          <p:cNvPr id="12" name="TextBox 11"/>
          <p:cNvSpPr txBox="1"/>
          <p:nvPr/>
        </p:nvSpPr>
        <p:spPr>
          <a:xfrm>
            <a:off x="4572000" y="4937760"/>
            <a:ext cx="3017520" cy="365760"/>
          </a:xfrm>
          <a:prstGeom prst="rect">
            <a:avLst/>
          </a:prstGeom>
          <a:noFill/>
          <a:ln>
            <a:noFill/>
          </a:ln>
        </p:spPr>
        <p:txBody>
          <a:bodyPr wrap="square" lIns="101600" rIns="101600" tIns="50800" bIns="50800">
            <a:spAutoFit/>
          </a:bodyPr>
          <a:lstStyle/>
          <a:p>
            <a:pPr algn="ctr"/>
            <a:r>
              <a:rPr sz="1400" b="0">
                <a:solidFill>
                  <a:srgbClr val="404040"/>
                </a:solidFill>
                <a:latin typeface="微软雅黑"/>
              </a:rPr>
              <a:t>Essential Characteristics</a:t>
            </a:r>
          </a:p>
        </p:txBody>
      </p:sp>
      <p:sp>
        <p:nvSpPr>
          <p:cNvPr id="13" name="TextBox 12"/>
          <p:cNvSpPr txBox="1"/>
          <p:nvPr/>
        </p:nvSpPr>
        <p:spPr>
          <a:xfrm>
            <a:off x="4114800" y="5303520"/>
            <a:ext cx="3931920" cy="365760"/>
          </a:xfrm>
          <a:prstGeom prst="rect">
            <a:avLst/>
          </a:prstGeom>
          <a:noFill/>
          <a:ln>
            <a:noFill/>
          </a:ln>
        </p:spPr>
        <p:txBody>
          <a:bodyPr wrap="square" lIns="101600" rIns="101600" tIns="50800" bIns="50800">
            <a:spAutoFit/>
          </a:bodyPr>
          <a:lstStyle/>
          <a:p>
            <a:pPr algn="ctr"/>
            <a:r>
              <a:rPr sz="1200" b="0">
                <a:solidFill>
                  <a:srgbClr val="404040"/>
                </a:solidFill>
                <a:latin typeface="微软雅黑"/>
              </a:rPr>
              <a:t>按需自助 / 网络访问 / 资源池化 / 快速弹性 / 可计量</a:t>
            </a:r>
          </a:p>
        </p:txBody>
      </p:sp>
      <p:sp>
        <p:nvSpPr>
          <p:cNvPr id="14" name="Rounded Rectangle 13"/>
          <p:cNvSpPr/>
          <p:nvPr/>
        </p:nvSpPr>
        <p:spPr>
          <a:xfrm>
            <a:off x="8229600" y="1828800"/>
            <a:ext cx="3017520" cy="3200400"/>
          </a:xfrm>
          <a:prstGeom prst="roundRect">
            <a:avLst/>
          </a:prstGeom>
          <a:solidFill>
            <a:srgbClr val="F38B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7200" b="1">
                <a:solidFill>
                  <a:srgbClr val="FFFFFF"/>
                </a:solidFill>
                <a:latin typeface="微软雅黑"/>
              </a:rPr>
              <a:t>4</a:t>
            </a:r>
          </a:p>
        </p:txBody>
      </p:sp>
      <p:sp>
        <p:nvSpPr>
          <p:cNvPr id="15" name="TextBox 14"/>
          <p:cNvSpPr txBox="1"/>
          <p:nvPr/>
        </p:nvSpPr>
        <p:spPr>
          <a:xfrm>
            <a:off x="8229600" y="4572000"/>
            <a:ext cx="3017520" cy="457200"/>
          </a:xfrm>
          <a:prstGeom prst="rect">
            <a:avLst/>
          </a:prstGeom>
          <a:noFill/>
          <a:ln>
            <a:noFill/>
          </a:ln>
        </p:spPr>
        <p:txBody>
          <a:bodyPr wrap="square" lIns="101600" rIns="101600" tIns="50800" bIns="50800">
            <a:spAutoFit/>
          </a:bodyPr>
          <a:lstStyle/>
          <a:p>
            <a:pPr algn="ctr"/>
            <a:r>
              <a:rPr sz="2000" b="1">
                <a:solidFill>
                  <a:srgbClr val="F38B00"/>
                </a:solidFill>
                <a:latin typeface="微软雅黑"/>
              </a:rPr>
              <a:t>部署模型</a:t>
            </a:r>
          </a:p>
        </p:txBody>
      </p:sp>
      <p:sp>
        <p:nvSpPr>
          <p:cNvPr id="16" name="TextBox 15"/>
          <p:cNvSpPr txBox="1"/>
          <p:nvPr/>
        </p:nvSpPr>
        <p:spPr>
          <a:xfrm>
            <a:off x="8229600" y="4937760"/>
            <a:ext cx="3017520" cy="365760"/>
          </a:xfrm>
          <a:prstGeom prst="rect">
            <a:avLst/>
          </a:prstGeom>
          <a:noFill/>
          <a:ln>
            <a:noFill/>
          </a:ln>
        </p:spPr>
        <p:txBody>
          <a:bodyPr wrap="square" lIns="101600" rIns="101600" tIns="50800" bIns="50800">
            <a:spAutoFit/>
          </a:bodyPr>
          <a:lstStyle/>
          <a:p>
            <a:pPr algn="ctr"/>
            <a:r>
              <a:rPr sz="1400" b="0">
                <a:solidFill>
                  <a:srgbClr val="404040"/>
                </a:solidFill>
                <a:latin typeface="微软雅黑"/>
              </a:rPr>
              <a:t>Deployment Models</a:t>
            </a:r>
          </a:p>
        </p:txBody>
      </p:sp>
      <p:sp>
        <p:nvSpPr>
          <p:cNvPr id="17" name="TextBox 16"/>
          <p:cNvSpPr txBox="1"/>
          <p:nvPr/>
        </p:nvSpPr>
        <p:spPr>
          <a:xfrm>
            <a:off x="8046720" y="5303520"/>
            <a:ext cx="3383280" cy="365760"/>
          </a:xfrm>
          <a:prstGeom prst="rect">
            <a:avLst/>
          </a:prstGeom>
          <a:noFill/>
          <a:ln>
            <a:noFill/>
          </a:ln>
        </p:spPr>
        <p:txBody>
          <a:bodyPr wrap="square" lIns="101600" rIns="101600" tIns="50800" bIns="50800">
            <a:spAutoFit/>
          </a:bodyPr>
          <a:lstStyle/>
          <a:p>
            <a:pPr algn="ctr"/>
            <a:r>
              <a:rPr sz="1200" b="0">
                <a:solidFill>
                  <a:srgbClr val="404040"/>
                </a:solidFill>
                <a:latin typeface="微软雅黑"/>
              </a:rPr>
              <a:t>公有云 / 私有云 / 社区云 / 混合云</a:t>
            </a:r>
          </a:p>
        </p:txBody>
      </p:sp>
      <p:sp>
        <p:nvSpPr>
          <p:cNvPr id="18" name="TextBox 17"/>
          <p:cNvSpPr txBox="1"/>
          <p:nvPr/>
        </p:nvSpPr>
        <p:spPr>
          <a:xfrm>
            <a:off x="8686800" y="6035040"/>
            <a:ext cx="3017520" cy="457200"/>
          </a:xfrm>
          <a:prstGeom prst="rect">
            <a:avLst/>
          </a:prstGeom>
          <a:noFill/>
          <a:ln>
            <a:noFill/>
          </a:ln>
        </p:spPr>
        <p:txBody>
          <a:bodyPr wrap="square" lIns="101600" rIns="101600" tIns="50800" bIns="50800">
            <a:spAutoFit/>
          </a:bodyPr>
          <a:lstStyle/>
          <a:p>
            <a:pPr algn="r"/>
            <a:r>
              <a:rPr sz="1400" b="1">
                <a:solidFill>
                  <a:srgbClr val="F38B00"/>
                </a:solidFill>
                <a:latin typeface="微软雅黑"/>
              </a:rPr>
              <a:t>接下来逐一拆解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6152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61520"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47120" cy="731520"/>
          </a:xfrm>
          <a:prstGeom prst="rect">
            <a:avLst/>
          </a:prstGeom>
          <a:noFill/>
          <a:ln>
            <a:noFill/>
          </a:ln>
        </p:spPr>
        <p:txBody>
          <a:bodyPr wrap="square" lIns="101600" rIns="101600" tIns="50800" bIns="50800">
            <a:spAutoFit/>
          </a:bodyPr>
          <a:lstStyle/>
          <a:p>
            <a:pPr algn="ctr"/>
            <a:r>
              <a:rPr sz="2800" b="1">
                <a:solidFill>
                  <a:srgbClr val="FFFFFF"/>
                </a:solidFill>
                <a:latin typeface="微软雅黑"/>
              </a:rPr>
              <a:t>3-5-4 之【3】三个服务模型</a:t>
            </a:r>
          </a:p>
        </p:txBody>
      </p:sp>
      <p:sp>
        <p:nvSpPr>
          <p:cNvPr id="5" name="Rounded Rectangle 4"/>
          <p:cNvSpPr/>
          <p:nvPr/>
        </p:nvSpPr>
        <p:spPr>
          <a:xfrm>
            <a:off x="457200" y="1371600"/>
            <a:ext cx="3474720" cy="9144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800" b="1">
                <a:solidFill>
                  <a:srgbClr val="FFFFFF"/>
                </a:solidFill>
                <a:latin typeface="微软雅黑"/>
              </a:rPr>
              <a:t>SaaS</a:t>
            </a:r>
          </a:p>
        </p:txBody>
      </p:sp>
      <p:sp>
        <p:nvSpPr>
          <p:cNvPr id="6" name="TextBox 5"/>
          <p:cNvSpPr txBox="1"/>
          <p:nvPr/>
        </p:nvSpPr>
        <p:spPr>
          <a:xfrm>
            <a:off x="457200" y="2377440"/>
            <a:ext cx="3474720" cy="457200"/>
          </a:xfrm>
          <a:prstGeom prst="rect">
            <a:avLst/>
          </a:prstGeom>
          <a:noFill/>
          <a:ln>
            <a:noFill/>
          </a:ln>
        </p:spPr>
        <p:txBody>
          <a:bodyPr wrap="square" lIns="101600" rIns="101600" tIns="50800" bIns="50800">
            <a:spAutoFit/>
          </a:bodyPr>
          <a:lstStyle/>
          <a:p>
            <a:pPr algn="ctr"/>
            <a:r>
              <a:rPr sz="1800" b="1">
                <a:solidFill>
                  <a:srgbClr val="0078D4"/>
                </a:solidFill>
                <a:latin typeface="微软雅黑"/>
              </a:rPr>
              <a:t>软件即服务</a:t>
            </a:r>
          </a:p>
        </p:txBody>
      </p:sp>
      <p:sp>
        <p:nvSpPr>
          <p:cNvPr id="7" name="TextBox 6"/>
          <p:cNvSpPr txBox="1"/>
          <p:nvPr/>
        </p:nvSpPr>
        <p:spPr>
          <a:xfrm>
            <a:off x="457200" y="2834640"/>
            <a:ext cx="3474720" cy="365760"/>
          </a:xfrm>
          <a:prstGeom prst="rect">
            <a:avLst/>
          </a:prstGeom>
          <a:noFill/>
          <a:ln>
            <a:noFill/>
          </a:ln>
        </p:spPr>
        <p:txBody>
          <a:bodyPr wrap="square" lIns="101600" rIns="101600" tIns="50800" bIns="50800">
            <a:spAutoFit/>
          </a:bodyPr>
          <a:lstStyle/>
          <a:p>
            <a:pPr algn="ctr"/>
            <a:r>
              <a:rPr sz="1200" b="0">
                <a:solidFill>
                  <a:srgbClr val="404040"/>
                </a:solidFill>
                <a:latin typeface="微软雅黑"/>
              </a:rPr>
              <a:t>Software as a Service</a:t>
            </a:r>
          </a:p>
        </p:txBody>
      </p:sp>
      <p:sp>
        <p:nvSpPr>
          <p:cNvPr id="8" name="Rounded Rectangle 7"/>
          <p:cNvSpPr/>
          <p:nvPr/>
        </p:nvSpPr>
        <p:spPr>
          <a:xfrm>
            <a:off x="457200" y="3383280"/>
            <a:ext cx="3474720" cy="914400"/>
          </a:xfrm>
          <a:prstGeom prst="round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429000"/>
            <a:ext cx="3291840" cy="822960"/>
          </a:xfrm>
          <a:prstGeom prst="rect">
            <a:avLst/>
          </a:prstGeom>
          <a:noFill/>
          <a:ln>
            <a:noFill/>
          </a:ln>
        </p:spPr>
        <p:txBody>
          <a:bodyPr wrap="square" lIns="101600" rIns="101600" tIns="50800" bIns="50800">
            <a:spAutoFit/>
          </a:bodyPr>
          <a:lstStyle/>
          <a:p>
            <a:pPr algn="ctr"/>
            <a:r>
              <a:rPr sz="1400" b="0">
                <a:solidFill>
                  <a:srgbClr val="404040"/>
                </a:solidFill>
                <a:latin typeface="微软雅黑"/>
              </a:rPr>
              <a:t>用户直接使用云端应用</a:t>
            </a:r>
          </a:p>
        </p:txBody>
      </p:sp>
      <p:sp>
        <p:nvSpPr>
          <p:cNvPr id="10" name="TextBox 9"/>
          <p:cNvSpPr txBox="1"/>
          <p:nvPr/>
        </p:nvSpPr>
        <p:spPr>
          <a:xfrm>
            <a:off x="457200" y="4389120"/>
            <a:ext cx="3474720" cy="365760"/>
          </a:xfrm>
          <a:prstGeom prst="rect">
            <a:avLst/>
          </a:prstGeom>
          <a:noFill/>
          <a:ln>
            <a:noFill/>
          </a:ln>
        </p:spPr>
        <p:txBody>
          <a:bodyPr wrap="square" lIns="101600" rIns="101600" tIns="50800" bIns="50800">
            <a:spAutoFit/>
          </a:bodyPr>
          <a:lstStyle/>
          <a:p>
            <a:pPr algn="ctr"/>
            <a:r>
              <a:rPr sz="1300" b="1">
                <a:solidFill>
                  <a:srgbClr val="0078D4"/>
                </a:solidFill>
                <a:latin typeface="微软雅黑"/>
              </a:rPr>
              <a:t>举例：</a:t>
            </a:r>
          </a:p>
        </p:txBody>
      </p:sp>
      <p:sp>
        <p:nvSpPr>
          <p:cNvPr id="11" name="TextBox 10"/>
          <p:cNvSpPr txBox="1"/>
          <p:nvPr/>
        </p:nvSpPr>
        <p:spPr>
          <a:xfrm>
            <a:off x="457200" y="4754880"/>
            <a:ext cx="3474720" cy="64008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在线Office、钉钉、企业微信</a:t>
            </a:r>
          </a:p>
        </p:txBody>
      </p:sp>
      <p:sp>
        <p:nvSpPr>
          <p:cNvPr id="12" name="Rounded Rectangle 11"/>
          <p:cNvSpPr/>
          <p:nvPr/>
        </p:nvSpPr>
        <p:spPr>
          <a:xfrm>
            <a:off x="4297680" y="1371600"/>
            <a:ext cx="3474720" cy="9144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800" b="1">
                <a:solidFill>
                  <a:srgbClr val="FFFFFF"/>
                </a:solidFill>
                <a:latin typeface="微软雅黑"/>
              </a:rPr>
              <a:t>PaaS</a:t>
            </a:r>
          </a:p>
        </p:txBody>
      </p:sp>
      <p:sp>
        <p:nvSpPr>
          <p:cNvPr id="13" name="TextBox 12"/>
          <p:cNvSpPr txBox="1"/>
          <p:nvPr/>
        </p:nvSpPr>
        <p:spPr>
          <a:xfrm>
            <a:off x="4297680" y="2377440"/>
            <a:ext cx="3474720" cy="457200"/>
          </a:xfrm>
          <a:prstGeom prst="rect">
            <a:avLst/>
          </a:prstGeom>
          <a:noFill/>
          <a:ln>
            <a:noFill/>
          </a:ln>
        </p:spPr>
        <p:txBody>
          <a:bodyPr wrap="square" lIns="101600" rIns="101600" tIns="50800" bIns="50800">
            <a:spAutoFit/>
          </a:bodyPr>
          <a:lstStyle/>
          <a:p>
            <a:pPr algn="ctr"/>
            <a:r>
              <a:rPr sz="1800" b="1">
                <a:solidFill>
                  <a:srgbClr val="107C10"/>
                </a:solidFill>
                <a:latin typeface="微软雅黑"/>
              </a:rPr>
              <a:t>平台即服务</a:t>
            </a:r>
          </a:p>
        </p:txBody>
      </p:sp>
      <p:sp>
        <p:nvSpPr>
          <p:cNvPr id="14" name="TextBox 13"/>
          <p:cNvSpPr txBox="1"/>
          <p:nvPr/>
        </p:nvSpPr>
        <p:spPr>
          <a:xfrm>
            <a:off x="4297680" y="2834640"/>
            <a:ext cx="3474720" cy="365760"/>
          </a:xfrm>
          <a:prstGeom prst="rect">
            <a:avLst/>
          </a:prstGeom>
          <a:noFill/>
          <a:ln>
            <a:noFill/>
          </a:ln>
        </p:spPr>
        <p:txBody>
          <a:bodyPr wrap="square" lIns="101600" rIns="101600" tIns="50800" bIns="50800">
            <a:spAutoFit/>
          </a:bodyPr>
          <a:lstStyle/>
          <a:p>
            <a:pPr algn="ctr"/>
            <a:r>
              <a:rPr sz="1200" b="0">
                <a:solidFill>
                  <a:srgbClr val="404040"/>
                </a:solidFill>
                <a:latin typeface="微软雅黑"/>
              </a:rPr>
              <a:t>Platform as a Service</a:t>
            </a:r>
          </a:p>
        </p:txBody>
      </p:sp>
      <p:sp>
        <p:nvSpPr>
          <p:cNvPr id="15" name="Rounded Rectangle 14"/>
          <p:cNvSpPr/>
          <p:nvPr/>
        </p:nvSpPr>
        <p:spPr>
          <a:xfrm>
            <a:off x="4297680" y="3383280"/>
            <a:ext cx="3474720" cy="9144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3429000"/>
            <a:ext cx="3291840" cy="822960"/>
          </a:xfrm>
          <a:prstGeom prst="rect">
            <a:avLst/>
          </a:prstGeom>
          <a:noFill/>
          <a:ln>
            <a:noFill/>
          </a:ln>
        </p:spPr>
        <p:txBody>
          <a:bodyPr wrap="square" lIns="101600" rIns="101600" tIns="50800" bIns="50800">
            <a:spAutoFit/>
          </a:bodyPr>
          <a:lstStyle/>
          <a:p>
            <a:pPr algn="ctr"/>
            <a:r>
              <a:rPr sz="1400" b="0">
                <a:solidFill>
                  <a:srgbClr val="404040"/>
                </a:solidFill>
                <a:latin typeface="微软雅黑"/>
              </a:rPr>
              <a:t>用户在云端开发部署应用</a:t>
            </a:r>
          </a:p>
        </p:txBody>
      </p:sp>
      <p:sp>
        <p:nvSpPr>
          <p:cNvPr id="17" name="TextBox 16"/>
          <p:cNvSpPr txBox="1"/>
          <p:nvPr/>
        </p:nvSpPr>
        <p:spPr>
          <a:xfrm>
            <a:off x="4297680" y="4389120"/>
            <a:ext cx="3474720" cy="365760"/>
          </a:xfrm>
          <a:prstGeom prst="rect">
            <a:avLst/>
          </a:prstGeom>
          <a:noFill/>
          <a:ln>
            <a:noFill/>
          </a:ln>
        </p:spPr>
        <p:txBody>
          <a:bodyPr wrap="square" lIns="101600" rIns="101600" tIns="50800" bIns="50800">
            <a:spAutoFit/>
          </a:bodyPr>
          <a:lstStyle/>
          <a:p>
            <a:pPr algn="ctr"/>
            <a:r>
              <a:rPr sz="1300" b="1">
                <a:solidFill>
                  <a:srgbClr val="107C10"/>
                </a:solidFill>
                <a:latin typeface="微软雅黑"/>
              </a:rPr>
              <a:t>举例：</a:t>
            </a:r>
          </a:p>
        </p:txBody>
      </p:sp>
      <p:sp>
        <p:nvSpPr>
          <p:cNvPr id="18" name="TextBox 17"/>
          <p:cNvSpPr txBox="1"/>
          <p:nvPr/>
        </p:nvSpPr>
        <p:spPr>
          <a:xfrm>
            <a:off x="4297680" y="4754880"/>
            <a:ext cx="3474720" cy="64008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Gitee代码仓库、微信小程序云开发</a:t>
            </a:r>
          </a:p>
        </p:txBody>
      </p:sp>
      <p:sp>
        <p:nvSpPr>
          <p:cNvPr id="19" name="Rounded Rectangle 18"/>
          <p:cNvSpPr/>
          <p:nvPr/>
        </p:nvSpPr>
        <p:spPr>
          <a:xfrm>
            <a:off x="8138160" y="1371600"/>
            <a:ext cx="3474720" cy="914400"/>
          </a:xfrm>
          <a:prstGeom prst="roundRect">
            <a:avLst/>
          </a:prstGeom>
          <a:solidFill>
            <a:srgbClr val="F38B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800" b="1">
                <a:solidFill>
                  <a:srgbClr val="FFFFFF"/>
                </a:solidFill>
                <a:latin typeface="微软雅黑"/>
              </a:rPr>
              <a:t>IaaS</a:t>
            </a:r>
          </a:p>
        </p:txBody>
      </p:sp>
      <p:sp>
        <p:nvSpPr>
          <p:cNvPr id="20" name="TextBox 19"/>
          <p:cNvSpPr txBox="1"/>
          <p:nvPr/>
        </p:nvSpPr>
        <p:spPr>
          <a:xfrm>
            <a:off x="8138160" y="2377440"/>
            <a:ext cx="3474720" cy="457200"/>
          </a:xfrm>
          <a:prstGeom prst="rect">
            <a:avLst/>
          </a:prstGeom>
          <a:noFill/>
          <a:ln>
            <a:noFill/>
          </a:ln>
        </p:spPr>
        <p:txBody>
          <a:bodyPr wrap="square" lIns="101600" rIns="101600" tIns="50800" bIns="50800">
            <a:spAutoFit/>
          </a:bodyPr>
          <a:lstStyle/>
          <a:p>
            <a:pPr algn="ctr"/>
            <a:r>
              <a:rPr sz="1800" b="1">
                <a:solidFill>
                  <a:srgbClr val="F38B00"/>
                </a:solidFill>
                <a:latin typeface="微软雅黑"/>
              </a:rPr>
              <a:t>基础设施即服务</a:t>
            </a:r>
          </a:p>
        </p:txBody>
      </p:sp>
      <p:sp>
        <p:nvSpPr>
          <p:cNvPr id="21" name="TextBox 20"/>
          <p:cNvSpPr txBox="1"/>
          <p:nvPr/>
        </p:nvSpPr>
        <p:spPr>
          <a:xfrm>
            <a:off x="8138160" y="2834640"/>
            <a:ext cx="3474720" cy="365760"/>
          </a:xfrm>
          <a:prstGeom prst="rect">
            <a:avLst/>
          </a:prstGeom>
          <a:noFill/>
          <a:ln>
            <a:noFill/>
          </a:ln>
        </p:spPr>
        <p:txBody>
          <a:bodyPr wrap="square" lIns="101600" rIns="101600" tIns="50800" bIns="50800">
            <a:spAutoFit/>
          </a:bodyPr>
          <a:lstStyle/>
          <a:p>
            <a:pPr algn="ctr"/>
            <a:r>
              <a:rPr sz="1200" b="0">
                <a:solidFill>
                  <a:srgbClr val="404040"/>
                </a:solidFill>
                <a:latin typeface="微软雅黑"/>
              </a:rPr>
              <a:t>Infrastructure as a Service</a:t>
            </a:r>
          </a:p>
        </p:txBody>
      </p:sp>
      <p:sp>
        <p:nvSpPr>
          <p:cNvPr id="22" name="Rounded Rectangle 21"/>
          <p:cNvSpPr/>
          <p:nvPr/>
        </p:nvSpPr>
        <p:spPr>
          <a:xfrm>
            <a:off x="8138160" y="3383280"/>
            <a:ext cx="3474720" cy="914400"/>
          </a:xfrm>
          <a:prstGeom prst="roundRect">
            <a:avLst/>
          </a:prstGeom>
          <a:solidFill>
            <a:srgbClr val="FDF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429000"/>
            <a:ext cx="3291840" cy="822960"/>
          </a:xfrm>
          <a:prstGeom prst="rect">
            <a:avLst/>
          </a:prstGeom>
          <a:noFill/>
          <a:ln>
            <a:noFill/>
          </a:ln>
        </p:spPr>
        <p:txBody>
          <a:bodyPr wrap="square" lIns="101600" rIns="101600" tIns="50800" bIns="50800">
            <a:spAutoFit/>
          </a:bodyPr>
          <a:lstStyle/>
          <a:p>
            <a:pPr algn="ctr"/>
            <a:r>
              <a:rPr sz="1400" b="0">
                <a:solidFill>
                  <a:srgbClr val="404040"/>
                </a:solidFill>
                <a:latin typeface="微软雅黑"/>
              </a:rPr>
              <a:t>用户租用虚拟机/存储/网络</a:t>
            </a:r>
          </a:p>
        </p:txBody>
      </p:sp>
      <p:sp>
        <p:nvSpPr>
          <p:cNvPr id="24" name="TextBox 23"/>
          <p:cNvSpPr txBox="1"/>
          <p:nvPr/>
        </p:nvSpPr>
        <p:spPr>
          <a:xfrm>
            <a:off x="8138160" y="4389120"/>
            <a:ext cx="3474720" cy="365760"/>
          </a:xfrm>
          <a:prstGeom prst="rect">
            <a:avLst/>
          </a:prstGeom>
          <a:noFill/>
          <a:ln>
            <a:noFill/>
          </a:ln>
        </p:spPr>
        <p:txBody>
          <a:bodyPr wrap="square" lIns="101600" rIns="101600" tIns="50800" bIns="50800">
            <a:spAutoFit/>
          </a:bodyPr>
          <a:lstStyle/>
          <a:p>
            <a:pPr algn="ctr"/>
            <a:r>
              <a:rPr sz="1300" b="1">
                <a:solidFill>
                  <a:srgbClr val="F38B00"/>
                </a:solidFill>
                <a:latin typeface="微软雅黑"/>
              </a:rPr>
              <a:t>举例：</a:t>
            </a:r>
          </a:p>
        </p:txBody>
      </p:sp>
      <p:sp>
        <p:nvSpPr>
          <p:cNvPr id="25" name="TextBox 24"/>
          <p:cNvSpPr txBox="1"/>
          <p:nvPr/>
        </p:nvSpPr>
        <p:spPr>
          <a:xfrm>
            <a:off x="8138160" y="4754880"/>
            <a:ext cx="3474720" cy="64008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阿里云ECS、腾讯云CVM</a:t>
            </a:r>
          </a:p>
        </p:txBody>
      </p:sp>
      <p:sp>
        <p:nvSpPr>
          <p:cNvPr id="26" name="Rounded Rectangle 25"/>
          <p:cNvSpPr/>
          <p:nvPr/>
        </p:nvSpPr>
        <p:spPr>
          <a:xfrm>
            <a:off x="457200" y="5577840"/>
            <a:ext cx="11247120" cy="914400"/>
          </a:xfrm>
          <a:prstGeom prst="roundRect">
            <a:avLst/>
          </a:prstGeom>
          <a:solidFill>
            <a:srgbClr val="FDF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623560"/>
            <a:ext cx="10881360" cy="822960"/>
          </a:xfrm>
          <a:prstGeom prst="rect">
            <a:avLst/>
          </a:prstGeom>
          <a:noFill/>
          <a:ln>
            <a:noFill/>
          </a:ln>
        </p:spPr>
        <p:txBody>
          <a:bodyPr wrap="square" lIns="101600" rIns="101600" tIns="50800" bIns="50800">
            <a:spAutoFit/>
          </a:bodyPr>
          <a:lstStyle/>
          <a:p>
            <a:pPr algn="l"/>
            <a:r>
              <a:rPr sz="1400" b="1">
                <a:solidFill>
                  <a:srgbClr val="404040"/>
                </a:solidFill>
                <a:latin typeface="微软雅黑"/>
              </a:rPr>
              <a:t>生活类比：  SaaS = 去饭店吃饭（菜做好直接吃）   PaaS = 叫外卖（半成品自己加热）   IaaS = 自己买菜做饭（给厨房和食材）</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6152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61520" cy="10972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47120" cy="731520"/>
          </a:xfrm>
          <a:prstGeom prst="rect">
            <a:avLst/>
          </a:prstGeom>
          <a:noFill/>
          <a:ln>
            <a:noFill/>
          </a:ln>
        </p:spPr>
        <p:txBody>
          <a:bodyPr wrap="square" lIns="101600" rIns="101600" tIns="50800" bIns="50800">
            <a:spAutoFit/>
          </a:bodyPr>
          <a:lstStyle/>
          <a:p>
            <a:pPr algn="ctr"/>
            <a:r>
              <a:rPr sz="2800" b="1">
                <a:solidFill>
                  <a:srgbClr val="FFFFFF"/>
                </a:solidFill>
                <a:latin typeface="微软雅黑"/>
              </a:rPr>
              <a:t>3-5-4 之【5】五个基本特征</a:t>
            </a:r>
          </a:p>
        </p:txBody>
      </p:sp>
      <p:sp>
        <p:nvSpPr>
          <p:cNvPr id="5" name="Rounded Rectangle 4"/>
          <p:cNvSpPr/>
          <p:nvPr/>
        </p:nvSpPr>
        <p:spPr>
          <a:xfrm>
            <a:off x="457200" y="1371600"/>
            <a:ext cx="731520" cy="8229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400" b="1">
                <a:solidFill>
                  <a:srgbClr val="FFFFFF"/>
                </a:solidFill>
                <a:latin typeface="微软雅黑"/>
              </a:rPr>
              <a:t>1</a:t>
            </a:r>
          </a:p>
        </p:txBody>
      </p:sp>
      <p:sp>
        <p:nvSpPr>
          <p:cNvPr id="6" name="Rounded Rectangle 5"/>
          <p:cNvSpPr/>
          <p:nvPr/>
        </p:nvSpPr>
        <p:spPr>
          <a:xfrm>
            <a:off x="1371600" y="1371600"/>
            <a:ext cx="2743200" cy="822960"/>
          </a:xfrm>
          <a:prstGeom prst="round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1417320"/>
            <a:ext cx="2560320" cy="411480"/>
          </a:xfrm>
          <a:prstGeom prst="rect">
            <a:avLst/>
          </a:prstGeom>
          <a:noFill/>
          <a:ln>
            <a:noFill/>
          </a:ln>
        </p:spPr>
        <p:txBody>
          <a:bodyPr wrap="square" lIns="101600" rIns="101600" tIns="50800" bIns="50800">
            <a:spAutoFit/>
          </a:bodyPr>
          <a:lstStyle/>
          <a:p>
            <a:pPr algn="l"/>
            <a:r>
              <a:rPr sz="1500" b="1">
                <a:solidFill>
                  <a:srgbClr val="0078D4"/>
                </a:solidFill>
                <a:latin typeface="微软雅黑"/>
              </a:rPr>
              <a:t>按需自助服务</a:t>
            </a:r>
          </a:p>
        </p:txBody>
      </p:sp>
      <p:sp>
        <p:nvSpPr>
          <p:cNvPr id="8" name="TextBox 7"/>
          <p:cNvSpPr txBox="1"/>
          <p:nvPr/>
        </p:nvSpPr>
        <p:spPr>
          <a:xfrm>
            <a:off x="1463040" y="1828800"/>
            <a:ext cx="2560320" cy="320040"/>
          </a:xfrm>
          <a:prstGeom prst="rect">
            <a:avLst/>
          </a:prstGeom>
          <a:noFill/>
          <a:ln>
            <a:noFill/>
          </a:ln>
        </p:spPr>
        <p:txBody>
          <a:bodyPr wrap="square" lIns="101600" rIns="101600" tIns="50800" bIns="50800">
            <a:spAutoFit/>
          </a:bodyPr>
          <a:lstStyle/>
          <a:p>
            <a:pPr algn="l"/>
            <a:r>
              <a:rPr sz="1000" b="0">
                <a:solidFill>
                  <a:srgbClr val="404040"/>
                </a:solidFill>
                <a:latin typeface="微软雅黑"/>
              </a:rPr>
              <a:t>On-demand Self-service</a:t>
            </a:r>
          </a:p>
        </p:txBody>
      </p:sp>
      <p:sp>
        <p:nvSpPr>
          <p:cNvPr id="9" name="TextBox 8"/>
          <p:cNvSpPr txBox="1"/>
          <p:nvPr/>
        </p:nvSpPr>
        <p:spPr>
          <a:xfrm>
            <a:off x="4297680" y="1417320"/>
            <a:ext cx="3657600" cy="777240"/>
          </a:xfrm>
          <a:prstGeom prst="rect">
            <a:avLst/>
          </a:prstGeom>
          <a:noFill/>
          <a:ln>
            <a:noFill/>
          </a:ln>
        </p:spPr>
        <p:txBody>
          <a:bodyPr wrap="square" lIns="101600" rIns="101600" tIns="50800" bIns="50800">
            <a:spAutoFit/>
          </a:bodyPr>
          <a:lstStyle/>
          <a:p>
            <a:pPr algn="l"/>
            <a:r>
              <a:rPr sz="1300" b="0">
                <a:solidFill>
                  <a:srgbClr val="404040"/>
                </a:solidFill>
                <a:latin typeface="微软雅黑"/>
              </a:rPr>
              <a:t>用户自行获取资源，不需人工干预</a:t>
            </a:r>
          </a:p>
        </p:txBody>
      </p:sp>
      <p:sp>
        <p:nvSpPr>
          <p:cNvPr id="10" name="Rounded Rectangle 9"/>
          <p:cNvSpPr/>
          <p:nvPr/>
        </p:nvSpPr>
        <p:spPr>
          <a:xfrm>
            <a:off x="8138160" y="1371600"/>
            <a:ext cx="3474720" cy="8229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417320"/>
            <a:ext cx="3291840" cy="777240"/>
          </a:xfrm>
          <a:prstGeom prst="rect">
            <a:avLst/>
          </a:prstGeom>
          <a:noFill/>
          <a:ln>
            <a:noFill/>
          </a:ln>
        </p:spPr>
        <p:txBody>
          <a:bodyPr wrap="square" lIns="101600" rIns="101600" tIns="50800" bIns="50800">
            <a:spAutoFit/>
          </a:bodyPr>
          <a:lstStyle/>
          <a:p>
            <a:pPr algn="l"/>
            <a:r>
              <a:rPr sz="1300" b="1">
                <a:solidFill>
                  <a:srgbClr val="0078D4"/>
                </a:solidFill>
                <a:latin typeface="微软雅黑"/>
              </a:rPr>
              <a:t>自助餐厅，想拿什么自己拿</a:t>
            </a:r>
          </a:p>
        </p:txBody>
      </p:sp>
      <p:sp>
        <p:nvSpPr>
          <p:cNvPr id="12" name="Rounded Rectangle 11"/>
          <p:cNvSpPr/>
          <p:nvPr/>
        </p:nvSpPr>
        <p:spPr>
          <a:xfrm>
            <a:off x="457200" y="2423160"/>
            <a:ext cx="731520" cy="82296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400" b="1">
                <a:solidFill>
                  <a:srgbClr val="FFFFFF"/>
                </a:solidFill>
                <a:latin typeface="微软雅黑"/>
              </a:rPr>
              <a:t>2</a:t>
            </a:r>
          </a:p>
        </p:txBody>
      </p:sp>
      <p:sp>
        <p:nvSpPr>
          <p:cNvPr id="13" name="Rounded Rectangle 12"/>
          <p:cNvSpPr/>
          <p:nvPr/>
        </p:nvSpPr>
        <p:spPr>
          <a:xfrm>
            <a:off x="1371600" y="2423160"/>
            <a:ext cx="2743200" cy="822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63040" y="2468879"/>
            <a:ext cx="2560320" cy="411480"/>
          </a:xfrm>
          <a:prstGeom prst="rect">
            <a:avLst/>
          </a:prstGeom>
          <a:noFill/>
          <a:ln>
            <a:noFill/>
          </a:ln>
        </p:spPr>
        <p:txBody>
          <a:bodyPr wrap="square" lIns="101600" rIns="101600" tIns="50800" bIns="50800">
            <a:spAutoFit/>
          </a:bodyPr>
          <a:lstStyle/>
          <a:p>
            <a:pPr algn="l"/>
            <a:r>
              <a:rPr sz="1500" b="1">
                <a:solidFill>
                  <a:srgbClr val="107C10"/>
                </a:solidFill>
                <a:latin typeface="微软雅黑"/>
              </a:rPr>
              <a:t>广泛网络访问</a:t>
            </a:r>
          </a:p>
        </p:txBody>
      </p:sp>
      <p:sp>
        <p:nvSpPr>
          <p:cNvPr id="15" name="TextBox 14"/>
          <p:cNvSpPr txBox="1"/>
          <p:nvPr/>
        </p:nvSpPr>
        <p:spPr>
          <a:xfrm>
            <a:off x="1463040" y="2880360"/>
            <a:ext cx="2560320" cy="320040"/>
          </a:xfrm>
          <a:prstGeom prst="rect">
            <a:avLst/>
          </a:prstGeom>
          <a:noFill/>
          <a:ln>
            <a:noFill/>
          </a:ln>
        </p:spPr>
        <p:txBody>
          <a:bodyPr wrap="square" lIns="101600" rIns="101600" tIns="50800" bIns="50800">
            <a:spAutoFit/>
          </a:bodyPr>
          <a:lstStyle/>
          <a:p>
            <a:pPr algn="l"/>
            <a:r>
              <a:rPr sz="1000" b="0">
                <a:solidFill>
                  <a:srgbClr val="404040"/>
                </a:solidFill>
                <a:latin typeface="微软雅黑"/>
              </a:rPr>
              <a:t>Broad Network Access</a:t>
            </a:r>
          </a:p>
        </p:txBody>
      </p:sp>
      <p:sp>
        <p:nvSpPr>
          <p:cNvPr id="16" name="TextBox 15"/>
          <p:cNvSpPr txBox="1"/>
          <p:nvPr/>
        </p:nvSpPr>
        <p:spPr>
          <a:xfrm>
            <a:off x="4297680" y="2468879"/>
            <a:ext cx="3657600" cy="777240"/>
          </a:xfrm>
          <a:prstGeom prst="rect">
            <a:avLst/>
          </a:prstGeom>
          <a:noFill/>
          <a:ln>
            <a:noFill/>
          </a:ln>
        </p:spPr>
        <p:txBody>
          <a:bodyPr wrap="square" lIns="101600" rIns="101600" tIns="50800" bIns="50800">
            <a:spAutoFit/>
          </a:bodyPr>
          <a:lstStyle/>
          <a:p>
            <a:pPr algn="l"/>
            <a:r>
              <a:rPr sz="1300" b="0">
                <a:solidFill>
                  <a:srgbClr val="404040"/>
                </a:solidFill>
                <a:latin typeface="微软雅黑"/>
              </a:rPr>
              <a:t>通过网络随时随地访问，支持各种终端</a:t>
            </a:r>
          </a:p>
        </p:txBody>
      </p:sp>
      <p:sp>
        <p:nvSpPr>
          <p:cNvPr id="17" name="Rounded Rectangle 16"/>
          <p:cNvSpPr/>
          <p:nvPr/>
        </p:nvSpPr>
        <p:spPr>
          <a:xfrm>
            <a:off x="8138160" y="2423160"/>
            <a:ext cx="3474720" cy="8229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468879"/>
            <a:ext cx="3291840" cy="777240"/>
          </a:xfrm>
          <a:prstGeom prst="rect">
            <a:avLst/>
          </a:prstGeom>
          <a:noFill/>
          <a:ln>
            <a:noFill/>
          </a:ln>
        </p:spPr>
        <p:txBody>
          <a:bodyPr wrap="square" lIns="101600" rIns="101600" tIns="50800" bIns="50800">
            <a:spAutoFit/>
          </a:bodyPr>
          <a:lstStyle/>
          <a:p>
            <a:pPr algn="l"/>
            <a:r>
              <a:rPr sz="1300" b="1">
                <a:solidFill>
                  <a:srgbClr val="107C10"/>
                </a:solidFill>
                <a:latin typeface="微软雅黑"/>
              </a:rPr>
              <a:t>有网就能用，手机电脑都行</a:t>
            </a:r>
          </a:p>
        </p:txBody>
      </p:sp>
      <p:sp>
        <p:nvSpPr>
          <p:cNvPr id="19" name="Rounded Rectangle 18"/>
          <p:cNvSpPr/>
          <p:nvPr/>
        </p:nvSpPr>
        <p:spPr>
          <a:xfrm>
            <a:off x="457200" y="3474720"/>
            <a:ext cx="731520" cy="822960"/>
          </a:xfrm>
          <a:prstGeom prst="roundRect">
            <a:avLst/>
          </a:prstGeom>
          <a:solidFill>
            <a:srgbClr val="F38B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400" b="1">
                <a:solidFill>
                  <a:srgbClr val="FFFFFF"/>
                </a:solidFill>
                <a:latin typeface="微软雅黑"/>
              </a:rPr>
              <a:t>3</a:t>
            </a:r>
          </a:p>
        </p:txBody>
      </p:sp>
      <p:sp>
        <p:nvSpPr>
          <p:cNvPr id="20" name="Rounded Rectangle 19"/>
          <p:cNvSpPr/>
          <p:nvPr/>
        </p:nvSpPr>
        <p:spPr>
          <a:xfrm>
            <a:off x="1371600" y="3474720"/>
            <a:ext cx="2743200" cy="822960"/>
          </a:xfrm>
          <a:prstGeom prst="roundRect">
            <a:avLst/>
          </a:prstGeom>
          <a:solidFill>
            <a:srgbClr val="FDF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3520439"/>
            <a:ext cx="2560320" cy="411480"/>
          </a:xfrm>
          <a:prstGeom prst="rect">
            <a:avLst/>
          </a:prstGeom>
          <a:noFill/>
          <a:ln>
            <a:noFill/>
          </a:ln>
        </p:spPr>
        <p:txBody>
          <a:bodyPr wrap="square" lIns="101600" rIns="101600" tIns="50800" bIns="50800">
            <a:spAutoFit/>
          </a:bodyPr>
          <a:lstStyle/>
          <a:p>
            <a:pPr algn="l"/>
            <a:r>
              <a:rPr sz="1500" b="1">
                <a:solidFill>
                  <a:srgbClr val="F38B00"/>
                </a:solidFill>
                <a:latin typeface="微软雅黑"/>
              </a:rPr>
              <a:t>资源池化</a:t>
            </a:r>
          </a:p>
        </p:txBody>
      </p:sp>
      <p:sp>
        <p:nvSpPr>
          <p:cNvPr id="22" name="TextBox 21"/>
          <p:cNvSpPr txBox="1"/>
          <p:nvPr/>
        </p:nvSpPr>
        <p:spPr>
          <a:xfrm>
            <a:off x="1463040" y="3931920"/>
            <a:ext cx="2560320" cy="320040"/>
          </a:xfrm>
          <a:prstGeom prst="rect">
            <a:avLst/>
          </a:prstGeom>
          <a:noFill/>
          <a:ln>
            <a:noFill/>
          </a:ln>
        </p:spPr>
        <p:txBody>
          <a:bodyPr wrap="square" lIns="101600" rIns="101600" tIns="50800" bIns="50800">
            <a:spAutoFit/>
          </a:bodyPr>
          <a:lstStyle/>
          <a:p>
            <a:pPr algn="l"/>
            <a:r>
              <a:rPr sz="1000" b="0">
                <a:solidFill>
                  <a:srgbClr val="404040"/>
                </a:solidFill>
                <a:latin typeface="微软雅黑"/>
              </a:rPr>
              <a:t>Resource Pooling</a:t>
            </a:r>
          </a:p>
        </p:txBody>
      </p:sp>
      <p:sp>
        <p:nvSpPr>
          <p:cNvPr id="23" name="TextBox 22"/>
          <p:cNvSpPr txBox="1"/>
          <p:nvPr/>
        </p:nvSpPr>
        <p:spPr>
          <a:xfrm>
            <a:off x="4297680" y="3520439"/>
            <a:ext cx="3657600" cy="777240"/>
          </a:xfrm>
          <a:prstGeom prst="rect">
            <a:avLst/>
          </a:prstGeom>
          <a:noFill/>
          <a:ln>
            <a:noFill/>
          </a:ln>
        </p:spPr>
        <p:txBody>
          <a:bodyPr wrap="square" lIns="101600" rIns="101600" tIns="50800" bIns="50800">
            <a:spAutoFit/>
          </a:bodyPr>
          <a:lstStyle/>
          <a:p>
            <a:pPr algn="l"/>
            <a:r>
              <a:rPr sz="1300" b="0">
                <a:solidFill>
                  <a:srgbClr val="404040"/>
                </a:solidFill>
                <a:latin typeface="微软雅黑"/>
              </a:rPr>
              <a:t>多用户共享物理资源，按需动态分配</a:t>
            </a:r>
          </a:p>
        </p:txBody>
      </p:sp>
      <p:sp>
        <p:nvSpPr>
          <p:cNvPr id="24" name="Rounded Rectangle 23"/>
          <p:cNvSpPr/>
          <p:nvPr/>
        </p:nvSpPr>
        <p:spPr>
          <a:xfrm>
            <a:off x="8138160" y="3474720"/>
            <a:ext cx="3474720" cy="8229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3520439"/>
            <a:ext cx="3291840" cy="777240"/>
          </a:xfrm>
          <a:prstGeom prst="rect">
            <a:avLst/>
          </a:prstGeom>
          <a:noFill/>
          <a:ln>
            <a:noFill/>
          </a:ln>
        </p:spPr>
        <p:txBody>
          <a:bodyPr wrap="square" lIns="101600" rIns="101600" tIns="50800" bIns="50800">
            <a:spAutoFit/>
          </a:bodyPr>
          <a:lstStyle/>
          <a:p>
            <a:pPr algn="l"/>
            <a:r>
              <a:rPr sz="1300" b="1">
                <a:solidFill>
                  <a:srgbClr val="F38B00"/>
                </a:solidFill>
                <a:latin typeface="微软雅黑"/>
              </a:rPr>
              <a:t>所有人共用一个大池子，按需分配</a:t>
            </a:r>
          </a:p>
        </p:txBody>
      </p:sp>
      <p:sp>
        <p:nvSpPr>
          <p:cNvPr id="26" name="Rounded Rectangle 25"/>
          <p:cNvSpPr/>
          <p:nvPr/>
        </p:nvSpPr>
        <p:spPr>
          <a:xfrm>
            <a:off x="457200" y="4526279"/>
            <a:ext cx="731520" cy="822960"/>
          </a:xfrm>
          <a:prstGeom prst="roundRect">
            <a:avLst/>
          </a:prstGeom>
          <a:solidFill>
            <a:srgbClr val="C43127"/>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400" b="1">
                <a:solidFill>
                  <a:srgbClr val="FFFFFF"/>
                </a:solidFill>
                <a:latin typeface="微软雅黑"/>
              </a:rPr>
              <a:t>4</a:t>
            </a:r>
          </a:p>
        </p:txBody>
      </p:sp>
      <p:sp>
        <p:nvSpPr>
          <p:cNvPr id="27" name="Rounded Rectangle 26"/>
          <p:cNvSpPr/>
          <p:nvPr/>
        </p:nvSpPr>
        <p:spPr>
          <a:xfrm>
            <a:off x="1371600" y="4526279"/>
            <a:ext cx="2743200" cy="822960"/>
          </a:xfrm>
          <a:prstGeom prst="roundRect">
            <a:avLst/>
          </a:prstGeom>
          <a:solidFill>
            <a:srgbClr val="FD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63040" y="4571999"/>
            <a:ext cx="2560320" cy="411480"/>
          </a:xfrm>
          <a:prstGeom prst="rect">
            <a:avLst/>
          </a:prstGeom>
          <a:noFill/>
          <a:ln>
            <a:noFill/>
          </a:ln>
        </p:spPr>
        <p:txBody>
          <a:bodyPr wrap="square" lIns="101600" rIns="101600" tIns="50800" bIns="50800">
            <a:spAutoFit/>
          </a:bodyPr>
          <a:lstStyle/>
          <a:p>
            <a:pPr algn="l"/>
            <a:r>
              <a:rPr sz="1500" b="1">
                <a:solidFill>
                  <a:srgbClr val="C43127"/>
                </a:solidFill>
                <a:latin typeface="微软雅黑"/>
              </a:rPr>
              <a:t>快速弹性</a:t>
            </a:r>
          </a:p>
        </p:txBody>
      </p:sp>
      <p:sp>
        <p:nvSpPr>
          <p:cNvPr id="29" name="TextBox 28"/>
          <p:cNvSpPr txBox="1"/>
          <p:nvPr/>
        </p:nvSpPr>
        <p:spPr>
          <a:xfrm>
            <a:off x="1463040" y="4983479"/>
            <a:ext cx="2560320" cy="320040"/>
          </a:xfrm>
          <a:prstGeom prst="rect">
            <a:avLst/>
          </a:prstGeom>
          <a:noFill/>
          <a:ln>
            <a:noFill/>
          </a:ln>
        </p:spPr>
        <p:txBody>
          <a:bodyPr wrap="square" lIns="101600" rIns="101600" tIns="50800" bIns="50800">
            <a:spAutoFit/>
          </a:bodyPr>
          <a:lstStyle/>
          <a:p>
            <a:pPr algn="l"/>
            <a:r>
              <a:rPr sz="1000" b="0">
                <a:solidFill>
                  <a:srgbClr val="404040"/>
                </a:solidFill>
                <a:latin typeface="微软雅黑"/>
              </a:rPr>
              <a:t>Rapid Elasticity</a:t>
            </a:r>
          </a:p>
        </p:txBody>
      </p:sp>
      <p:sp>
        <p:nvSpPr>
          <p:cNvPr id="30" name="TextBox 29"/>
          <p:cNvSpPr txBox="1"/>
          <p:nvPr/>
        </p:nvSpPr>
        <p:spPr>
          <a:xfrm>
            <a:off x="4297680" y="4571999"/>
            <a:ext cx="3657600" cy="777240"/>
          </a:xfrm>
          <a:prstGeom prst="rect">
            <a:avLst/>
          </a:prstGeom>
          <a:noFill/>
          <a:ln>
            <a:noFill/>
          </a:ln>
        </p:spPr>
        <p:txBody>
          <a:bodyPr wrap="square" lIns="101600" rIns="101600" tIns="50800" bIns="50800">
            <a:spAutoFit/>
          </a:bodyPr>
          <a:lstStyle/>
          <a:p>
            <a:pPr algn="l"/>
            <a:r>
              <a:rPr sz="1300" b="0">
                <a:solidFill>
                  <a:srgbClr val="404040"/>
                </a:solidFill>
                <a:latin typeface="微软雅黑"/>
              </a:rPr>
              <a:t>资源可快速扩容/缩容，看似无限</a:t>
            </a:r>
          </a:p>
        </p:txBody>
      </p:sp>
      <p:sp>
        <p:nvSpPr>
          <p:cNvPr id="31" name="Rounded Rectangle 30"/>
          <p:cNvSpPr/>
          <p:nvPr/>
        </p:nvSpPr>
        <p:spPr>
          <a:xfrm>
            <a:off x="8138160" y="4526279"/>
            <a:ext cx="3474720" cy="8229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4571999"/>
            <a:ext cx="3291840" cy="777240"/>
          </a:xfrm>
          <a:prstGeom prst="rect">
            <a:avLst/>
          </a:prstGeom>
          <a:noFill/>
          <a:ln>
            <a:noFill/>
          </a:ln>
        </p:spPr>
        <p:txBody>
          <a:bodyPr wrap="square" lIns="101600" rIns="101600" tIns="50800" bIns="50800">
            <a:spAutoFit/>
          </a:bodyPr>
          <a:lstStyle/>
          <a:p>
            <a:pPr algn="l"/>
            <a:r>
              <a:rPr sz="1300" b="1">
                <a:solidFill>
                  <a:srgbClr val="C43127"/>
                </a:solidFill>
                <a:latin typeface="微软雅黑"/>
              </a:rPr>
              <a:t>橡皮筋，能大能小能伸能缩</a:t>
            </a:r>
          </a:p>
        </p:txBody>
      </p:sp>
      <p:sp>
        <p:nvSpPr>
          <p:cNvPr id="33" name="Rounded Rectangle 32"/>
          <p:cNvSpPr/>
          <p:nvPr/>
        </p:nvSpPr>
        <p:spPr>
          <a:xfrm>
            <a:off x="457200" y="5577840"/>
            <a:ext cx="731520" cy="822960"/>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400" b="1">
                <a:solidFill>
                  <a:srgbClr val="FFFFFF"/>
                </a:solidFill>
                <a:latin typeface="微软雅黑"/>
              </a:rPr>
              <a:t>5</a:t>
            </a:r>
          </a:p>
        </p:txBody>
      </p:sp>
      <p:sp>
        <p:nvSpPr>
          <p:cNvPr id="34" name="Rounded Rectangle 33"/>
          <p:cNvSpPr/>
          <p:nvPr/>
        </p:nvSpPr>
        <p:spPr>
          <a:xfrm>
            <a:off x="1371600" y="5577840"/>
            <a:ext cx="2743200" cy="822960"/>
          </a:xfrm>
          <a:prstGeom prst="roundRect">
            <a:avLst/>
          </a:prstGeom>
          <a:solidFill>
            <a:srgbClr val="F3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63040" y="5623559"/>
            <a:ext cx="2560320" cy="411480"/>
          </a:xfrm>
          <a:prstGeom prst="rect">
            <a:avLst/>
          </a:prstGeom>
          <a:noFill/>
          <a:ln>
            <a:noFill/>
          </a:ln>
        </p:spPr>
        <p:txBody>
          <a:bodyPr wrap="square" lIns="101600" rIns="101600" tIns="50800" bIns="50800">
            <a:spAutoFit/>
          </a:bodyPr>
          <a:lstStyle/>
          <a:p>
            <a:pPr algn="l"/>
            <a:r>
              <a:rPr sz="1500" b="1">
                <a:solidFill>
                  <a:srgbClr val="5C2D91"/>
                </a:solidFill>
                <a:latin typeface="微软雅黑"/>
              </a:rPr>
              <a:t>可计量服务</a:t>
            </a:r>
          </a:p>
        </p:txBody>
      </p:sp>
      <p:sp>
        <p:nvSpPr>
          <p:cNvPr id="36" name="TextBox 35"/>
          <p:cNvSpPr txBox="1"/>
          <p:nvPr/>
        </p:nvSpPr>
        <p:spPr>
          <a:xfrm>
            <a:off x="1463040" y="6035040"/>
            <a:ext cx="2560320" cy="320040"/>
          </a:xfrm>
          <a:prstGeom prst="rect">
            <a:avLst/>
          </a:prstGeom>
          <a:noFill/>
          <a:ln>
            <a:noFill/>
          </a:ln>
        </p:spPr>
        <p:txBody>
          <a:bodyPr wrap="square" lIns="101600" rIns="101600" tIns="50800" bIns="50800">
            <a:spAutoFit/>
          </a:bodyPr>
          <a:lstStyle/>
          <a:p>
            <a:pPr algn="l"/>
            <a:r>
              <a:rPr sz="1000" b="0">
                <a:solidFill>
                  <a:srgbClr val="404040"/>
                </a:solidFill>
                <a:latin typeface="微软雅黑"/>
              </a:rPr>
              <a:t>Measured Service</a:t>
            </a:r>
          </a:p>
        </p:txBody>
      </p:sp>
      <p:sp>
        <p:nvSpPr>
          <p:cNvPr id="37" name="TextBox 36"/>
          <p:cNvSpPr txBox="1"/>
          <p:nvPr/>
        </p:nvSpPr>
        <p:spPr>
          <a:xfrm>
            <a:off x="4297680" y="5623559"/>
            <a:ext cx="3657600" cy="777240"/>
          </a:xfrm>
          <a:prstGeom prst="rect">
            <a:avLst/>
          </a:prstGeom>
          <a:noFill/>
          <a:ln>
            <a:noFill/>
          </a:ln>
        </p:spPr>
        <p:txBody>
          <a:bodyPr wrap="square" lIns="101600" rIns="101600" tIns="50800" bIns="50800">
            <a:spAutoFit/>
          </a:bodyPr>
          <a:lstStyle/>
          <a:p>
            <a:pPr algn="l"/>
            <a:r>
              <a:rPr sz="1300" b="0">
                <a:solidFill>
                  <a:srgbClr val="404040"/>
                </a:solidFill>
                <a:latin typeface="微软雅黑"/>
              </a:rPr>
              <a:t>按使用量计费，资源使用可监控和报告</a:t>
            </a:r>
          </a:p>
        </p:txBody>
      </p:sp>
      <p:sp>
        <p:nvSpPr>
          <p:cNvPr id="38" name="Rounded Rectangle 37"/>
          <p:cNvSpPr/>
          <p:nvPr/>
        </p:nvSpPr>
        <p:spPr>
          <a:xfrm>
            <a:off x="8138160" y="5577840"/>
            <a:ext cx="3474720" cy="82296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0" y="5623559"/>
            <a:ext cx="3291840" cy="777240"/>
          </a:xfrm>
          <a:prstGeom prst="rect">
            <a:avLst/>
          </a:prstGeom>
          <a:noFill/>
          <a:ln>
            <a:noFill/>
          </a:ln>
        </p:spPr>
        <p:txBody>
          <a:bodyPr wrap="square" lIns="101600" rIns="101600" tIns="50800" bIns="50800">
            <a:spAutoFit/>
          </a:bodyPr>
          <a:lstStyle/>
          <a:p>
            <a:pPr algn="l"/>
            <a:r>
              <a:rPr sz="1300" b="1">
                <a:solidFill>
                  <a:srgbClr val="5C2D91"/>
                </a:solidFill>
                <a:latin typeface="微软雅黑"/>
              </a:rPr>
              <a:t>水表电表，用多少算多少</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6152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61520" cy="1097280"/>
          </a:xfrm>
          <a:prstGeom prst="rect">
            <a:avLst/>
          </a:prstGeom>
          <a:solidFill>
            <a:srgbClr val="F3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47120" cy="731520"/>
          </a:xfrm>
          <a:prstGeom prst="rect">
            <a:avLst/>
          </a:prstGeom>
          <a:noFill/>
          <a:ln>
            <a:noFill/>
          </a:ln>
        </p:spPr>
        <p:txBody>
          <a:bodyPr wrap="square" lIns="101600" rIns="101600" tIns="50800" bIns="50800">
            <a:spAutoFit/>
          </a:bodyPr>
          <a:lstStyle/>
          <a:p>
            <a:pPr algn="ctr"/>
            <a:r>
              <a:rPr sz="2800" b="1">
                <a:solidFill>
                  <a:srgbClr val="FFFFFF"/>
                </a:solidFill>
                <a:latin typeface="微软雅黑"/>
              </a:rPr>
              <a:t>3-5-4 之【4】四个部署模型</a:t>
            </a:r>
          </a:p>
        </p:txBody>
      </p:sp>
      <p:sp>
        <p:nvSpPr>
          <p:cNvPr id="5" name="Rounded Rectangle 4"/>
          <p:cNvSpPr/>
          <p:nvPr/>
        </p:nvSpPr>
        <p:spPr>
          <a:xfrm>
            <a:off x="457200" y="1371600"/>
            <a:ext cx="2697480" cy="10058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200" b="1">
                <a:solidFill>
                  <a:srgbClr val="FFFFFF"/>
                </a:solidFill>
                <a:latin typeface="微软雅黑"/>
              </a:rPr>
              <a:t>公有云</a:t>
            </a:r>
          </a:p>
        </p:txBody>
      </p:sp>
      <p:sp>
        <p:nvSpPr>
          <p:cNvPr id="6" name="TextBox 5"/>
          <p:cNvSpPr txBox="1"/>
          <p:nvPr/>
        </p:nvSpPr>
        <p:spPr>
          <a:xfrm>
            <a:off x="457200" y="2468880"/>
            <a:ext cx="2697480" cy="36576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Public Cloud</a:t>
            </a:r>
          </a:p>
        </p:txBody>
      </p:sp>
      <p:sp>
        <p:nvSpPr>
          <p:cNvPr id="7" name="Rounded Rectangle 6"/>
          <p:cNvSpPr/>
          <p:nvPr/>
        </p:nvSpPr>
        <p:spPr>
          <a:xfrm>
            <a:off x="457200" y="2926080"/>
            <a:ext cx="2697480" cy="731520"/>
          </a:xfrm>
          <a:prstGeom prst="roundRect">
            <a:avLst/>
          </a:prstGeom>
          <a:solidFill>
            <a:srgbClr val="E8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971800"/>
            <a:ext cx="2514600" cy="640080"/>
          </a:xfrm>
          <a:prstGeom prst="rect">
            <a:avLst/>
          </a:prstGeom>
          <a:noFill/>
          <a:ln>
            <a:noFill/>
          </a:ln>
        </p:spPr>
        <p:txBody>
          <a:bodyPr wrap="square" lIns="101600" rIns="101600" tIns="50800" bIns="50800">
            <a:spAutoFit/>
          </a:bodyPr>
          <a:lstStyle/>
          <a:p>
            <a:pPr algn="ctr"/>
            <a:r>
              <a:rPr sz="1300" b="1">
                <a:solidFill>
                  <a:srgbClr val="0078D4"/>
                </a:solidFill>
                <a:latin typeface="微软雅黑"/>
              </a:rPr>
              <a:t>面向公众开放</a:t>
            </a:r>
          </a:p>
        </p:txBody>
      </p:sp>
      <p:sp>
        <p:nvSpPr>
          <p:cNvPr id="9" name="TextBox 8"/>
          <p:cNvSpPr txBox="1"/>
          <p:nvPr/>
        </p:nvSpPr>
        <p:spPr>
          <a:xfrm>
            <a:off x="548640" y="3840480"/>
            <a:ext cx="2514600" cy="137160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阿里云、腾讯云、AWS
任何人都可以购买使用</a:t>
            </a:r>
          </a:p>
        </p:txBody>
      </p:sp>
      <p:sp>
        <p:nvSpPr>
          <p:cNvPr id="10" name="Rounded Rectangle 9"/>
          <p:cNvSpPr/>
          <p:nvPr/>
        </p:nvSpPr>
        <p:spPr>
          <a:xfrm>
            <a:off x="3337560" y="1371600"/>
            <a:ext cx="2697480" cy="10058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200" b="1">
                <a:solidFill>
                  <a:srgbClr val="FFFFFF"/>
                </a:solidFill>
                <a:latin typeface="微软雅黑"/>
              </a:rPr>
              <a:t>私有云</a:t>
            </a:r>
          </a:p>
        </p:txBody>
      </p:sp>
      <p:sp>
        <p:nvSpPr>
          <p:cNvPr id="11" name="TextBox 10"/>
          <p:cNvSpPr txBox="1"/>
          <p:nvPr/>
        </p:nvSpPr>
        <p:spPr>
          <a:xfrm>
            <a:off x="3337560" y="2468880"/>
            <a:ext cx="2697480" cy="36576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Private Cloud</a:t>
            </a:r>
          </a:p>
        </p:txBody>
      </p:sp>
      <p:sp>
        <p:nvSpPr>
          <p:cNvPr id="12" name="Rounded Rectangle 11"/>
          <p:cNvSpPr/>
          <p:nvPr/>
        </p:nvSpPr>
        <p:spPr>
          <a:xfrm>
            <a:off x="3337560" y="2926080"/>
            <a:ext cx="2697480" cy="7315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2971800"/>
            <a:ext cx="2514600" cy="640080"/>
          </a:xfrm>
          <a:prstGeom prst="rect">
            <a:avLst/>
          </a:prstGeom>
          <a:noFill/>
          <a:ln>
            <a:noFill/>
          </a:ln>
        </p:spPr>
        <p:txBody>
          <a:bodyPr wrap="square" lIns="101600" rIns="101600" tIns="50800" bIns="50800">
            <a:spAutoFit/>
          </a:bodyPr>
          <a:lstStyle/>
          <a:p>
            <a:pPr algn="ctr"/>
            <a:r>
              <a:rPr sz="1300" b="1">
                <a:solidFill>
                  <a:srgbClr val="107C10"/>
                </a:solidFill>
                <a:latin typeface="微软雅黑"/>
              </a:rPr>
              <a:t>专为单一组织使用</a:t>
            </a:r>
          </a:p>
        </p:txBody>
      </p:sp>
      <p:sp>
        <p:nvSpPr>
          <p:cNvPr id="14" name="TextBox 13"/>
          <p:cNvSpPr txBox="1"/>
          <p:nvPr/>
        </p:nvSpPr>
        <p:spPr>
          <a:xfrm>
            <a:off x="3429000" y="3840480"/>
            <a:ext cx="2514600" cy="137160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企业自建云平台
如银行、政府的内部云</a:t>
            </a:r>
          </a:p>
        </p:txBody>
      </p:sp>
      <p:sp>
        <p:nvSpPr>
          <p:cNvPr id="15" name="Rounded Rectangle 14"/>
          <p:cNvSpPr/>
          <p:nvPr/>
        </p:nvSpPr>
        <p:spPr>
          <a:xfrm>
            <a:off x="6217920" y="1371600"/>
            <a:ext cx="2697480" cy="1005840"/>
          </a:xfrm>
          <a:prstGeom prst="roundRect">
            <a:avLst/>
          </a:prstGeom>
          <a:solidFill>
            <a:srgbClr val="5C2D91"/>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200" b="1">
                <a:solidFill>
                  <a:srgbClr val="FFFFFF"/>
                </a:solidFill>
                <a:latin typeface="微软雅黑"/>
              </a:rPr>
              <a:t>社区云</a:t>
            </a:r>
          </a:p>
        </p:txBody>
      </p:sp>
      <p:sp>
        <p:nvSpPr>
          <p:cNvPr id="16" name="TextBox 15"/>
          <p:cNvSpPr txBox="1"/>
          <p:nvPr/>
        </p:nvSpPr>
        <p:spPr>
          <a:xfrm>
            <a:off x="6217920" y="2468880"/>
            <a:ext cx="2697480" cy="36576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Community Cloud</a:t>
            </a:r>
          </a:p>
        </p:txBody>
      </p:sp>
      <p:sp>
        <p:nvSpPr>
          <p:cNvPr id="17" name="Rounded Rectangle 16"/>
          <p:cNvSpPr/>
          <p:nvPr/>
        </p:nvSpPr>
        <p:spPr>
          <a:xfrm>
            <a:off x="6217920" y="2926080"/>
            <a:ext cx="2697480" cy="731520"/>
          </a:xfrm>
          <a:prstGeom prst="roundRect">
            <a:avLst/>
          </a:prstGeom>
          <a:solidFill>
            <a:srgbClr val="F3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59" y="2971800"/>
            <a:ext cx="2514600" cy="640080"/>
          </a:xfrm>
          <a:prstGeom prst="rect">
            <a:avLst/>
          </a:prstGeom>
          <a:noFill/>
          <a:ln>
            <a:noFill/>
          </a:ln>
        </p:spPr>
        <p:txBody>
          <a:bodyPr wrap="square" lIns="101600" rIns="101600" tIns="50800" bIns="50800">
            <a:spAutoFit/>
          </a:bodyPr>
          <a:lstStyle/>
          <a:p>
            <a:pPr algn="ctr"/>
            <a:r>
              <a:rPr sz="1300" b="1">
                <a:solidFill>
                  <a:srgbClr val="5C2D91"/>
                </a:solidFill>
                <a:latin typeface="微软雅黑"/>
              </a:rPr>
              <a:t>多个有共同需求的组织共享</a:t>
            </a:r>
          </a:p>
        </p:txBody>
      </p:sp>
      <p:sp>
        <p:nvSpPr>
          <p:cNvPr id="19" name="TextBox 18"/>
          <p:cNvSpPr txBox="1"/>
          <p:nvPr/>
        </p:nvSpPr>
        <p:spPr>
          <a:xfrm>
            <a:off x="6309359" y="3840480"/>
            <a:ext cx="2514600" cy="137160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如教育云、医疗云
多个学校/医院共用</a:t>
            </a:r>
          </a:p>
        </p:txBody>
      </p:sp>
      <p:sp>
        <p:nvSpPr>
          <p:cNvPr id="20" name="Rounded Rectangle 19"/>
          <p:cNvSpPr/>
          <p:nvPr/>
        </p:nvSpPr>
        <p:spPr>
          <a:xfrm>
            <a:off x="9098280" y="1371600"/>
            <a:ext cx="2697480" cy="1005840"/>
          </a:xfrm>
          <a:prstGeom prst="roundRect">
            <a:avLst/>
          </a:prstGeom>
          <a:solidFill>
            <a:srgbClr val="F38B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2200" b="1">
                <a:solidFill>
                  <a:srgbClr val="FFFFFF"/>
                </a:solidFill>
                <a:latin typeface="微软雅黑"/>
              </a:rPr>
              <a:t>混合云</a:t>
            </a:r>
          </a:p>
        </p:txBody>
      </p:sp>
      <p:sp>
        <p:nvSpPr>
          <p:cNvPr id="21" name="TextBox 20"/>
          <p:cNvSpPr txBox="1"/>
          <p:nvPr/>
        </p:nvSpPr>
        <p:spPr>
          <a:xfrm>
            <a:off x="9098280" y="2468880"/>
            <a:ext cx="2697480" cy="36576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Hybrid Cloud</a:t>
            </a:r>
          </a:p>
        </p:txBody>
      </p:sp>
      <p:sp>
        <p:nvSpPr>
          <p:cNvPr id="22" name="Rounded Rectangle 21"/>
          <p:cNvSpPr/>
          <p:nvPr/>
        </p:nvSpPr>
        <p:spPr>
          <a:xfrm>
            <a:off x="9098280" y="2926080"/>
            <a:ext cx="2697480" cy="731520"/>
          </a:xfrm>
          <a:prstGeom prst="roundRect">
            <a:avLst/>
          </a:prstGeom>
          <a:solidFill>
            <a:srgbClr val="FDF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9719" y="2971800"/>
            <a:ext cx="2514600" cy="640080"/>
          </a:xfrm>
          <a:prstGeom prst="rect">
            <a:avLst/>
          </a:prstGeom>
          <a:noFill/>
          <a:ln>
            <a:noFill/>
          </a:ln>
        </p:spPr>
        <p:txBody>
          <a:bodyPr wrap="square" lIns="101600" rIns="101600" tIns="50800" bIns="50800">
            <a:spAutoFit/>
          </a:bodyPr>
          <a:lstStyle/>
          <a:p>
            <a:pPr algn="ctr"/>
            <a:r>
              <a:rPr sz="1300" b="1">
                <a:solidFill>
                  <a:srgbClr val="F38B00"/>
                </a:solidFill>
                <a:latin typeface="微软雅黑"/>
              </a:rPr>
              <a:t>以上两种或多种的组合</a:t>
            </a:r>
          </a:p>
        </p:txBody>
      </p:sp>
      <p:sp>
        <p:nvSpPr>
          <p:cNvPr id="24" name="TextBox 23"/>
          <p:cNvSpPr txBox="1"/>
          <p:nvPr/>
        </p:nvSpPr>
        <p:spPr>
          <a:xfrm>
            <a:off x="9189719" y="3840480"/>
            <a:ext cx="2514600" cy="1371600"/>
          </a:xfrm>
          <a:prstGeom prst="rect">
            <a:avLst/>
          </a:prstGeom>
          <a:noFill/>
          <a:ln>
            <a:noFill/>
          </a:ln>
        </p:spPr>
        <p:txBody>
          <a:bodyPr wrap="square" lIns="101600" rIns="101600" tIns="50800" bIns="50800">
            <a:spAutoFit/>
          </a:bodyPr>
          <a:lstStyle/>
          <a:p>
            <a:pPr algn="ctr"/>
            <a:r>
              <a:rPr sz="1300" b="0">
                <a:solidFill>
                  <a:srgbClr val="404040"/>
                </a:solidFill>
                <a:latin typeface="微软雅黑"/>
              </a:rPr>
              <a:t>核心数据放私有云
普通业务放公有云</a:t>
            </a:r>
          </a:p>
        </p:txBody>
      </p:sp>
      <p:sp>
        <p:nvSpPr>
          <p:cNvPr id="25" name="Rounded Rectangle 24"/>
          <p:cNvSpPr/>
          <p:nvPr/>
        </p:nvSpPr>
        <p:spPr>
          <a:xfrm>
            <a:off x="457200" y="5486400"/>
            <a:ext cx="11247120" cy="1005840"/>
          </a:xfrm>
          <a:prstGeom prst="round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532120"/>
            <a:ext cx="10881360" cy="914400"/>
          </a:xfrm>
          <a:prstGeom prst="rect">
            <a:avLst/>
          </a:prstGeom>
          <a:noFill/>
          <a:ln>
            <a:noFill/>
          </a:ln>
        </p:spPr>
        <p:txBody>
          <a:bodyPr wrap="square" lIns="101600" rIns="101600" tIns="50800" bIns="50800">
            <a:spAutoFit/>
          </a:bodyPr>
          <a:lstStyle/>
          <a:p>
            <a:pPr algn="l"/>
            <a:r>
              <a:rPr sz="1400" b="1">
                <a:solidFill>
                  <a:srgbClr val="404040"/>
                </a:solidFill>
                <a:latin typeface="微软雅黑"/>
              </a:rPr>
              <a:t>核心区别：公有云 = 租别人的房子住    私有云 = 自己建房子自己住    社区云 = 几家人合住一个大院    混合云 = 自己住一套+租一套</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61520"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74320"/>
            <a:ext cx="9418320" cy="822960"/>
          </a:xfrm>
          <a:prstGeom prst="rect">
            <a:avLst/>
          </a:prstGeom>
          <a:noFill/>
          <a:ln>
            <a:noFill/>
          </a:ln>
        </p:spPr>
        <p:txBody>
          <a:bodyPr wrap="square" lIns="101600" rIns="101600" tIns="50800" bIns="50800">
            <a:spAutoFit/>
          </a:bodyPr>
          <a:lstStyle/>
          <a:p>
            <a:pPr algn="ctr"/>
            <a:r>
              <a:rPr sz="3400" b="1">
                <a:solidFill>
                  <a:srgbClr val="FFFFFF"/>
                </a:solidFill>
                <a:latin typeface="微软雅黑"/>
              </a:rPr>
              <a:t>NIST 3-5-4 完整框架</a:t>
            </a:r>
          </a:p>
        </p:txBody>
      </p:sp>
      <p:sp>
        <p:nvSpPr>
          <p:cNvPr id="4" name="Rectangle 3"/>
          <p:cNvSpPr/>
          <p:nvPr/>
        </p:nvSpPr>
        <p:spPr>
          <a:xfrm>
            <a:off x="2743200" y="1097280"/>
            <a:ext cx="6675120" cy="54864"/>
          </a:xfrm>
          <a:prstGeom prst="rect">
            <a:avLst/>
          </a:prstGeom>
          <a:solidFill>
            <a:srgbClr val="F3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63040"/>
            <a:ext cx="347472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800" b="1">
                <a:solidFill>
                  <a:srgbClr val="FFFFFF"/>
                </a:solidFill>
                <a:latin typeface="微软雅黑"/>
              </a:rPr>
              <a:t>3 服务模型</a:t>
            </a:r>
          </a:p>
        </p:txBody>
      </p:sp>
      <p:sp>
        <p:nvSpPr>
          <p:cNvPr id="6" name="Rounded Rectangle 5"/>
          <p:cNvSpPr/>
          <p:nvPr/>
        </p:nvSpPr>
        <p:spPr>
          <a:xfrm>
            <a:off x="457200" y="2286000"/>
            <a:ext cx="3474720" cy="50292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313432"/>
            <a:ext cx="3108960" cy="457200"/>
          </a:xfrm>
          <a:prstGeom prst="rect">
            <a:avLst/>
          </a:prstGeom>
          <a:noFill/>
          <a:ln>
            <a:noFill/>
          </a:ln>
        </p:spPr>
        <p:txBody>
          <a:bodyPr wrap="square" lIns="101600" rIns="101600" tIns="50800" bIns="50800">
            <a:spAutoFit/>
          </a:bodyPr>
          <a:lstStyle/>
          <a:p>
            <a:pPr algn="l"/>
            <a:r>
              <a:rPr sz="1400" b="0">
                <a:solidFill>
                  <a:srgbClr val="FFFFFF"/>
                </a:solidFill>
                <a:latin typeface="微软雅黑"/>
              </a:rPr>
              <a:t>SaaS - 软件即服务</a:t>
            </a:r>
          </a:p>
        </p:txBody>
      </p:sp>
      <p:sp>
        <p:nvSpPr>
          <p:cNvPr id="8" name="Rounded Rectangle 7"/>
          <p:cNvSpPr/>
          <p:nvPr/>
        </p:nvSpPr>
        <p:spPr>
          <a:xfrm>
            <a:off x="457200" y="2926080"/>
            <a:ext cx="3474720" cy="50292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953511"/>
            <a:ext cx="3108960" cy="457200"/>
          </a:xfrm>
          <a:prstGeom prst="rect">
            <a:avLst/>
          </a:prstGeom>
          <a:noFill/>
          <a:ln>
            <a:noFill/>
          </a:ln>
        </p:spPr>
        <p:txBody>
          <a:bodyPr wrap="square" lIns="101600" rIns="101600" tIns="50800" bIns="50800">
            <a:spAutoFit/>
          </a:bodyPr>
          <a:lstStyle/>
          <a:p>
            <a:pPr algn="l"/>
            <a:r>
              <a:rPr sz="1400" b="0">
                <a:solidFill>
                  <a:srgbClr val="FFFFFF"/>
                </a:solidFill>
                <a:latin typeface="微软雅黑"/>
              </a:rPr>
              <a:t>PaaS - 平台即服务</a:t>
            </a:r>
          </a:p>
        </p:txBody>
      </p:sp>
      <p:sp>
        <p:nvSpPr>
          <p:cNvPr id="10" name="Rounded Rectangle 9"/>
          <p:cNvSpPr/>
          <p:nvPr/>
        </p:nvSpPr>
        <p:spPr>
          <a:xfrm>
            <a:off x="457200" y="3566160"/>
            <a:ext cx="3474720" cy="50292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593591"/>
            <a:ext cx="3108960" cy="457200"/>
          </a:xfrm>
          <a:prstGeom prst="rect">
            <a:avLst/>
          </a:prstGeom>
          <a:noFill/>
          <a:ln>
            <a:noFill/>
          </a:ln>
        </p:spPr>
        <p:txBody>
          <a:bodyPr wrap="square" lIns="101600" rIns="101600" tIns="50800" bIns="50800">
            <a:spAutoFit/>
          </a:bodyPr>
          <a:lstStyle/>
          <a:p>
            <a:pPr algn="l"/>
            <a:r>
              <a:rPr sz="1400" b="0">
                <a:solidFill>
                  <a:srgbClr val="FFFFFF"/>
                </a:solidFill>
                <a:latin typeface="微软雅黑"/>
              </a:rPr>
              <a:t>IaaS - 基础设施即服务</a:t>
            </a:r>
          </a:p>
        </p:txBody>
      </p:sp>
      <p:sp>
        <p:nvSpPr>
          <p:cNvPr id="12" name="Rounded Rectangle 11"/>
          <p:cNvSpPr/>
          <p:nvPr/>
        </p:nvSpPr>
        <p:spPr>
          <a:xfrm>
            <a:off x="4114800" y="1463040"/>
            <a:ext cx="3931920" cy="6400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800" b="1">
                <a:solidFill>
                  <a:srgbClr val="FFFFFF"/>
                </a:solidFill>
                <a:latin typeface="微软雅黑"/>
              </a:rPr>
              <a:t>5 基本特征</a:t>
            </a:r>
          </a:p>
        </p:txBody>
      </p:sp>
      <p:sp>
        <p:nvSpPr>
          <p:cNvPr id="13" name="Rounded Rectangle 12"/>
          <p:cNvSpPr/>
          <p:nvPr/>
        </p:nvSpPr>
        <p:spPr>
          <a:xfrm>
            <a:off x="4114800" y="2286000"/>
            <a:ext cx="3931920" cy="41148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2304288"/>
            <a:ext cx="3566160" cy="365760"/>
          </a:xfrm>
          <a:prstGeom prst="rect">
            <a:avLst/>
          </a:prstGeom>
          <a:noFill/>
          <a:ln>
            <a:noFill/>
          </a:ln>
        </p:spPr>
        <p:txBody>
          <a:bodyPr wrap="square" lIns="101600" rIns="101600" tIns="50800" bIns="50800">
            <a:spAutoFit/>
          </a:bodyPr>
          <a:lstStyle/>
          <a:p>
            <a:pPr algn="l"/>
            <a:r>
              <a:rPr sz="1300" b="0">
                <a:solidFill>
                  <a:srgbClr val="FFFFFF"/>
                </a:solidFill>
                <a:latin typeface="微软雅黑"/>
              </a:rPr>
              <a:t>按需自助服务</a:t>
            </a:r>
          </a:p>
        </p:txBody>
      </p:sp>
      <p:sp>
        <p:nvSpPr>
          <p:cNvPr id="15" name="Rounded Rectangle 14"/>
          <p:cNvSpPr/>
          <p:nvPr/>
        </p:nvSpPr>
        <p:spPr>
          <a:xfrm>
            <a:off x="4114800" y="2788920"/>
            <a:ext cx="3931920" cy="41148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2807208"/>
            <a:ext cx="3566160" cy="365760"/>
          </a:xfrm>
          <a:prstGeom prst="rect">
            <a:avLst/>
          </a:prstGeom>
          <a:noFill/>
          <a:ln>
            <a:noFill/>
          </a:ln>
        </p:spPr>
        <p:txBody>
          <a:bodyPr wrap="square" lIns="101600" rIns="101600" tIns="50800" bIns="50800">
            <a:spAutoFit/>
          </a:bodyPr>
          <a:lstStyle/>
          <a:p>
            <a:pPr algn="l"/>
            <a:r>
              <a:rPr sz="1300" b="0">
                <a:solidFill>
                  <a:srgbClr val="FFFFFF"/>
                </a:solidFill>
                <a:latin typeface="微软雅黑"/>
              </a:rPr>
              <a:t>广泛网络访问</a:t>
            </a:r>
          </a:p>
        </p:txBody>
      </p:sp>
      <p:sp>
        <p:nvSpPr>
          <p:cNvPr id="17" name="Rounded Rectangle 16"/>
          <p:cNvSpPr/>
          <p:nvPr/>
        </p:nvSpPr>
        <p:spPr>
          <a:xfrm>
            <a:off x="4114800" y="3291840"/>
            <a:ext cx="3931920" cy="41148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3310128"/>
            <a:ext cx="3566160" cy="365760"/>
          </a:xfrm>
          <a:prstGeom prst="rect">
            <a:avLst/>
          </a:prstGeom>
          <a:noFill/>
          <a:ln>
            <a:noFill/>
          </a:ln>
        </p:spPr>
        <p:txBody>
          <a:bodyPr wrap="square" lIns="101600" rIns="101600" tIns="50800" bIns="50800">
            <a:spAutoFit/>
          </a:bodyPr>
          <a:lstStyle/>
          <a:p>
            <a:pPr algn="l"/>
            <a:r>
              <a:rPr sz="1300" b="0">
                <a:solidFill>
                  <a:srgbClr val="FFFFFF"/>
                </a:solidFill>
                <a:latin typeface="微软雅黑"/>
              </a:rPr>
              <a:t>资源池化</a:t>
            </a:r>
          </a:p>
        </p:txBody>
      </p:sp>
      <p:sp>
        <p:nvSpPr>
          <p:cNvPr id="19" name="Rounded Rectangle 18"/>
          <p:cNvSpPr/>
          <p:nvPr/>
        </p:nvSpPr>
        <p:spPr>
          <a:xfrm>
            <a:off x="4114800" y="3794760"/>
            <a:ext cx="3931920" cy="41148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0" y="3813048"/>
            <a:ext cx="3566160" cy="365760"/>
          </a:xfrm>
          <a:prstGeom prst="rect">
            <a:avLst/>
          </a:prstGeom>
          <a:noFill/>
          <a:ln>
            <a:noFill/>
          </a:ln>
        </p:spPr>
        <p:txBody>
          <a:bodyPr wrap="square" lIns="101600" rIns="101600" tIns="50800" bIns="50800">
            <a:spAutoFit/>
          </a:bodyPr>
          <a:lstStyle/>
          <a:p>
            <a:pPr algn="l"/>
            <a:r>
              <a:rPr sz="1300" b="0">
                <a:solidFill>
                  <a:srgbClr val="FFFFFF"/>
                </a:solidFill>
                <a:latin typeface="微软雅黑"/>
              </a:rPr>
              <a:t>快速弹性</a:t>
            </a:r>
          </a:p>
        </p:txBody>
      </p:sp>
      <p:sp>
        <p:nvSpPr>
          <p:cNvPr id="21" name="Rounded Rectangle 20"/>
          <p:cNvSpPr/>
          <p:nvPr/>
        </p:nvSpPr>
        <p:spPr>
          <a:xfrm>
            <a:off x="4114800" y="4297680"/>
            <a:ext cx="3931920" cy="41148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4315968"/>
            <a:ext cx="3566160" cy="365760"/>
          </a:xfrm>
          <a:prstGeom prst="rect">
            <a:avLst/>
          </a:prstGeom>
          <a:noFill/>
          <a:ln>
            <a:noFill/>
          </a:ln>
        </p:spPr>
        <p:txBody>
          <a:bodyPr wrap="square" lIns="101600" rIns="101600" tIns="50800" bIns="50800">
            <a:spAutoFit/>
          </a:bodyPr>
          <a:lstStyle/>
          <a:p>
            <a:pPr algn="l"/>
            <a:r>
              <a:rPr sz="1300" b="0">
                <a:solidFill>
                  <a:srgbClr val="FFFFFF"/>
                </a:solidFill>
                <a:latin typeface="微软雅黑"/>
              </a:rPr>
              <a:t>可计量服务</a:t>
            </a:r>
          </a:p>
        </p:txBody>
      </p:sp>
      <p:sp>
        <p:nvSpPr>
          <p:cNvPr id="23" name="Rounded Rectangle 22"/>
          <p:cNvSpPr/>
          <p:nvPr/>
        </p:nvSpPr>
        <p:spPr>
          <a:xfrm>
            <a:off x="8412480" y="1463040"/>
            <a:ext cx="3291840" cy="640080"/>
          </a:xfrm>
          <a:prstGeom prst="roundRect">
            <a:avLst/>
          </a:prstGeom>
          <a:solidFill>
            <a:srgbClr val="F38B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a:r>
              <a:rPr sz="1800" b="1">
                <a:solidFill>
                  <a:srgbClr val="FFFFFF"/>
                </a:solidFill>
                <a:latin typeface="微软雅黑"/>
              </a:rPr>
              <a:t>4 部署模型</a:t>
            </a:r>
          </a:p>
        </p:txBody>
      </p:sp>
      <p:sp>
        <p:nvSpPr>
          <p:cNvPr id="24" name="Rounded Rectangle 23"/>
          <p:cNvSpPr/>
          <p:nvPr/>
        </p:nvSpPr>
        <p:spPr>
          <a:xfrm>
            <a:off x="8412480" y="2286000"/>
            <a:ext cx="3291840" cy="50292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2313432"/>
            <a:ext cx="2926080" cy="457200"/>
          </a:xfrm>
          <a:prstGeom prst="rect">
            <a:avLst/>
          </a:prstGeom>
          <a:noFill/>
          <a:ln>
            <a:noFill/>
          </a:ln>
        </p:spPr>
        <p:txBody>
          <a:bodyPr wrap="square" lIns="101600" rIns="101600" tIns="50800" bIns="50800">
            <a:spAutoFit/>
          </a:bodyPr>
          <a:lstStyle/>
          <a:p>
            <a:pPr algn="l"/>
            <a:r>
              <a:rPr sz="1400" b="0">
                <a:solidFill>
                  <a:srgbClr val="FFFFFF"/>
                </a:solidFill>
                <a:latin typeface="微软雅黑"/>
              </a:rPr>
              <a:t>公有云</a:t>
            </a:r>
          </a:p>
        </p:txBody>
      </p:sp>
      <p:sp>
        <p:nvSpPr>
          <p:cNvPr id="26" name="Rounded Rectangle 25"/>
          <p:cNvSpPr/>
          <p:nvPr/>
        </p:nvSpPr>
        <p:spPr>
          <a:xfrm>
            <a:off x="8412480" y="2926080"/>
            <a:ext cx="3291840" cy="50292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0" y="2953511"/>
            <a:ext cx="2926080" cy="457200"/>
          </a:xfrm>
          <a:prstGeom prst="rect">
            <a:avLst/>
          </a:prstGeom>
          <a:noFill/>
          <a:ln>
            <a:noFill/>
          </a:ln>
        </p:spPr>
        <p:txBody>
          <a:bodyPr wrap="square" lIns="101600" rIns="101600" tIns="50800" bIns="50800">
            <a:spAutoFit/>
          </a:bodyPr>
          <a:lstStyle/>
          <a:p>
            <a:pPr algn="l"/>
            <a:r>
              <a:rPr sz="1400" b="0">
                <a:solidFill>
                  <a:srgbClr val="FFFFFF"/>
                </a:solidFill>
                <a:latin typeface="微软雅黑"/>
              </a:rPr>
              <a:t>私有云</a:t>
            </a:r>
          </a:p>
        </p:txBody>
      </p:sp>
      <p:sp>
        <p:nvSpPr>
          <p:cNvPr id="28" name="Rounded Rectangle 27"/>
          <p:cNvSpPr/>
          <p:nvPr/>
        </p:nvSpPr>
        <p:spPr>
          <a:xfrm>
            <a:off x="8412480" y="3566160"/>
            <a:ext cx="3291840" cy="50292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0" y="3593591"/>
            <a:ext cx="2926080" cy="457200"/>
          </a:xfrm>
          <a:prstGeom prst="rect">
            <a:avLst/>
          </a:prstGeom>
          <a:noFill/>
          <a:ln>
            <a:noFill/>
          </a:ln>
        </p:spPr>
        <p:txBody>
          <a:bodyPr wrap="square" lIns="101600" rIns="101600" tIns="50800" bIns="50800">
            <a:spAutoFit/>
          </a:bodyPr>
          <a:lstStyle/>
          <a:p>
            <a:pPr algn="l"/>
            <a:r>
              <a:rPr sz="1400" b="0">
                <a:solidFill>
                  <a:srgbClr val="FFFFFF"/>
                </a:solidFill>
                <a:latin typeface="微软雅黑"/>
              </a:rPr>
              <a:t>社区云</a:t>
            </a:r>
          </a:p>
        </p:txBody>
      </p:sp>
      <p:sp>
        <p:nvSpPr>
          <p:cNvPr id="30" name="Rounded Rectangle 29"/>
          <p:cNvSpPr/>
          <p:nvPr/>
        </p:nvSpPr>
        <p:spPr>
          <a:xfrm>
            <a:off x="8412480" y="4206240"/>
            <a:ext cx="3291840" cy="50292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4233671"/>
            <a:ext cx="2926080" cy="457200"/>
          </a:xfrm>
          <a:prstGeom prst="rect">
            <a:avLst/>
          </a:prstGeom>
          <a:noFill/>
          <a:ln>
            <a:noFill/>
          </a:ln>
        </p:spPr>
        <p:txBody>
          <a:bodyPr wrap="square" lIns="101600" rIns="101600" tIns="50800" bIns="50800">
            <a:spAutoFit/>
          </a:bodyPr>
          <a:lstStyle/>
          <a:p>
            <a:pPr algn="l"/>
            <a:r>
              <a:rPr sz="1400" b="0">
                <a:solidFill>
                  <a:srgbClr val="FFFFFF"/>
                </a:solidFill>
                <a:latin typeface="微软雅黑"/>
              </a:rPr>
              <a:t>混合云</a:t>
            </a:r>
          </a:p>
        </p:txBody>
      </p:sp>
      <p:sp>
        <p:nvSpPr>
          <p:cNvPr id="32" name="Rounded Rectangle 31"/>
          <p:cNvSpPr/>
          <p:nvPr/>
        </p:nvSpPr>
        <p:spPr>
          <a:xfrm>
            <a:off x="457200" y="5120640"/>
            <a:ext cx="11247120" cy="137160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166360"/>
            <a:ext cx="10881360" cy="365760"/>
          </a:xfrm>
          <a:prstGeom prst="rect">
            <a:avLst/>
          </a:prstGeom>
          <a:noFill/>
          <a:ln>
            <a:noFill/>
          </a:ln>
        </p:spPr>
        <p:txBody>
          <a:bodyPr wrap="square" lIns="101600" rIns="101600" tIns="50800" bIns="50800">
            <a:spAutoFit/>
          </a:bodyPr>
          <a:lstStyle/>
          <a:p>
            <a:pPr algn="l"/>
            <a:r>
              <a:rPr sz="1400" b="1">
                <a:solidFill>
                  <a:srgbClr val="F38B00"/>
                </a:solidFill>
                <a:latin typeface="微软雅黑"/>
              </a:rPr>
              <a:t>3-5-4 对应教材章节</a:t>
            </a:r>
          </a:p>
        </p:txBody>
      </p:sp>
      <p:sp>
        <p:nvSpPr>
          <p:cNvPr id="34" name="TextBox 33"/>
          <p:cNvSpPr txBox="1"/>
          <p:nvPr/>
        </p:nvSpPr>
        <p:spPr>
          <a:xfrm>
            <a:off x="640080" y="5532120"/>
            <a:ext cx="10881360" cy="365760"/>
          </a:xfrm>
          <a:prstGeom prst="rect">
            <a:avLst/>
          </a:prstGeom>
          <a:noFill/>
          <a:ln>
            <a:noFill/>
          </a:ln>
        </p:spPr>
        <p:txBody>
          <a:bodyPr wrap="square" lIns="101600" rIns="101600" tIns="50800" bIns="50800">
            <a:spAutoFit/>
          </a:bodyPr>
          <a:lstStyle/>
          <a:p>
            <a:pPr algn="l"/>
            <a:r>
              <a:rPr sz="1300" b="0">
                <a:solidFill>
                  <a:srgbClr val="FFFFFF"/>
                </a:solidFill>
                <a:latin typeface="微软雅黑"/>
              </a:rPr>
              <a:t>第1章（云计算简介）→ 引出NIST定义    第2章（云计算的服务）→ 3个服务模型</a:t>
            </a:r>
          </a:p>
        </p:txBody>
      </p:sp>
      <p:sp>
        <p:nvSpPr>
          <p:cNvPr id="35" name="TextBox 34"/>
          <p:cNvSpPr txBox="1"/>
          <p:nvPr/>
        </p:nvSpPr>
        <p:spPr>
          <a:xfrm>
            <a:off x="640080" y="5897880"/>
            <a:ext cx="10881360" cy="365760"/>
          </a:xfrm>
          <a:prstGeom prst="rect">
            <a:avLst/>
          </a:prstGeom>
          <a:noFill/>
          <a:ln>
            <a:noFill/>
          </a:ln>
        </p:spPr>
        <p:txBody>
          <a:bodyPr wrap="square" lIns="101600" rIns="101600" tIns="50800" bIns="50800">
            <a:spAutoFit/>
          </a:bodyPr>
          <a:lstStyle/>
          <a:p>
            <a:pPr algn="l"/>
            <a:r>
              <a:rPr sz="1300" b="0">
                <a:solidFill>
                  <a:srgbClr val="FFFFFF"/>
                </a:solidFill>
                <a:latin typeface="微软雅黑"/>
              </a:rPr>
              <a:t>第3章（云计算的部署）→ 4个部署模型    第4章（云计算的特点）→ 5个基本特征</a:t>
            </a:r>
          </a:p>
        </p:txBody>
      </p:sp>
    </p:spTree>
  </p:cSld>
  <p:clrMapOvr>
    <a:masterClrMapping/>
  </p:clrMapOvr>
</p:sld>
</file>

<file path=ppt/theme/theme1.xml><?xml version="1.0" encoding="utf-8"?>
<a:theme xmlns:a="http://schemas.openxmlformats.org/drawingml/2006/main" name="平面">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70</TotalTime>
  <Words>3090</Words>
  <Application>Microsoft Office PowerPoint</Application>
  <PresentationFormat>宽屏</PresentationFormat>
  <Paragraphs>166</Paragraphs>
  <Slides>43</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3" baseType="lpstr">
      <vt:lpstr>方正姚体</vt:lpstr>
      <vt:lpstr>华文琥珀</vt:lpstr>
      <vt:lpstr>华文新魏</vt:lpstr>
      <vt:lpstr>Aharoni</vt:lpstr>
      <vt:lpstr>Arial</vt:lpstr>
      <vt:lpstr>Bahnschrift SemiBold</vt:lpstr>
      <vt:lpstr>Trebuchet MS</vt:lpstr>
      <vt:lpstr>Wingdings 3</vt:lpstr>
      <vt:lpstr>平面</vt:lpstr>
      <vt:lpstr>Visio</vt:lpstr>
      <vt:lpstr>云计算的简介</vt:lpstr>
      <vt:lpstr>目录</vt:lpstr>
      <vt:lpstr>1.云计算的概念</vt:lpstr>
      <vt:lpstr>云计算的概念</vt:lpstr>
      <vt:lpstr>云计算的概念</vt:lpstr>
      <vt:lpstr>云计算的概念</vt:lpstr>
      <vt:lpstr>2.云计算的内涵</vt:lpstr>
      <vt:lpstr>云计算的内涵</vt:lpstr>
      <vt:lpstr>云计算的内涵</vt:lpstr>
      <vt:lpstr>云计算的内涵</vt:lpstr>
      <vt:lpstr>云计算的内涵</vt:lpstr>
      <vt:lpstr>3.云计算的发展历史</vt:lpstr>
      <vt:lpstr>云计算的发展历史</vt:lpstr>
      <vt:lpstr>云计算的发展历史</vt:lpstr>
      <vt:lpstr>云计算的发展历史</vt:lpstr>
      <vt:lpstr>云计算的发展历史</vt:lpstr>
      <vt:lpstr>4.其他计算</vt:lpstr>
      <vt:lpstr>其他计算</vt:lpstr>
      <vt:lpstr>并行计算</vt:lpstr>
      <vt:lpstr>并行计算</vt:lpstr>
      <vt:lpstr>云计算与并行计算的区别</vt:lpstr>
      <vt:lpstr>云计算与并行计算的区别</vt:lpstr>
      <vt:lpstr>云计算与并行计算的区别</vt:lpstr>
      <vt:lpstr>分布式计算</vt:lpstr>
      <vt:lpstr>分布式计算</vt:lpstr>
      <vt:lpstr>分布式计算</vt:lpstr>
      <vt:lpstr>分布式计算</vt:lpstr>
      <vt:lpstr>分布式计算</vt:lpstr>
      <vt:lpstr>集群计算</vt:lpstr>
      <vt:lpstr>集群计算</vt:lpstr>
      <vt:lpstr>云计算与集群计算的异同</vt:lpstr>
      <vt:lpstr>网格计算</vt:lpstr>
      <vt:lpstr>网格计算</vt:lpstr>
      <vt:lpstr>网格计算</vt:lpstr>
      <vt:lpstr>云计算与网格计算的异同</vt:lpstr>
      <vt:lpstr>效用计算</vt:lpstr>
      <vt:lpstr>效用计算</vt:lpstr>
      <vt:lpstr>效用计算</vt:lpstr>
      <vt:lpstr>效用计算</vt:lpstr>
      <vt:lpstr>5. 实战项目</vt:lpstr>
      <vt:lpstr>实战项目</vt:lpstr>
      <vt:lpstr>实战项目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titan</dc:creator>
  <cp:lastModifiedBy>titan</cp:lastModifiedBy>
  <cp:revision>74</cp:revision>
  <dcterms:created xsi:type="dcterms:W3CDTF">2020-10-04T02:51:01Z</dcterms:created>
  <dcterms:modified xsi:type="dcterms:W3CDTF">2020-10-05T02:36:27Z</dcterms:modified>
</cp:coreProperties>
</file>